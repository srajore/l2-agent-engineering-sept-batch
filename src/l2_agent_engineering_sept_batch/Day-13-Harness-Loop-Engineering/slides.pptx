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19"/>
    <p:sldId id="269" r:id="rId20"/>
    <p:sldId id="259" r:id="rId5"/>
    <p:sldId id="260" r:id="rId6"/>
    <p:sldId id="261" r:id="rId7"/>
    <p:sldId id="262" r:id="rId8"/>
    <p:sldId id="263" r:id="rId9"/>
    <p:sldId id="267" r:id="rId18"/>
    <p:sldId id="271" r:id="rId22"/>
    <p:sldId id="270" r:id="rId21"/>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1.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13.xml"/><Relationship Id="rId22"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row to jump straight to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can point to two separate things in one file — the loop (act/verify, which repeats) and the harness (enforce_limit's attempt cap, which guarantees it stops).</a:t>
            </a:r>
            <a:endParaRPr lang="en-US" dirty="0"/>
          </a:p>
        </p:txBody>
      </p:sp>
      <p:sp>
        <p:nvSpPr>
          <p:cNvPr id="4" name="Slide Number Placeholder 3"/>
          <p:cNvSpPr>
            <a:spLocks noGrp="1"/>
          </p:cNvSpPr>
          <p:nvPr>
            <p:ph type="sldNum" sz="quarter" idx="10"/>
          </p:nvPr>
        </p:nvSpPr>
        <p:spPr/>
        <p:txBody>
          <a:bodyPr/>
          <a:lstStyle/>
          <a:p>
            <a:fld id="{F7021451-1387-4CA6-816F-3879F97B5CBD}" type="slidenum">
              <a:rPr lang="en-US"/>
              <a:t>9</a:t>
            </a:fld>
            <a:endParaRPr lang="en-US"/>
          </a:p>
        </p:txBody>
      </p:sp>
    </p:spTree>
    <p:extLst>
      <p:ext uri="{BB962C8B-B14F-4D97-AF65-F5344CB8AC3E}">
        <p14:creationId xmlns:p14="http://schemas.microsoft.com/office/powerpoint/2010/main" val="102408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Day-12-Context-Engineering/slides.pptx" TargetMode="External"/><Relationship Id="rId2" Type="http://schemas.openxmlformats.org/officeDocument/2006/relationships/slide" Target="slide2.xml"/><Relationship Id="rId3" Type="http://schemas.openxmlformats.org/officeDocument/2006/relationships/hyperlink" Target="../Day-14-Token-Taxonomy-Economics/slides.pptx" TargetMode="Externa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6.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hyperlink" Target="README.md" TargetMode="External"/><Relationship Id="rId2" Type="http://schemas.openxmlformats.org/officeDocument/2006/relationships/slide" Target="slide2.xml"/><Relationship Id="rId3" Type="http://schemas.openxmlformats.org/officeDocument/2006/relationships/hyperlink" Target="../Day-14-Token-Taxonomy-Economics/slides.pptx"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B"/>
        </a:solidFill>
      </p:bgPr>
    </p:bg>
    <p:spTree>
      <p:nvGrpSpPr>
        <p:cNvPr id="1" name=""/>
        <p:cNvGrpSpPr/>
        <p:nvPr/>
      </p:nvGrpSpPr>
      <p:grpSpPr>
        <a:xfrm>
          <a:off x="0" y="0"/>
          <a:ext cx="0" cy="0"/>
          <a:chOff x="0" y="0"/>
          <a:chExt cx="0" cy="0"/>
        </a:xfrm>
      </p:grpSpPr>
      <p:sp>
        <p:nvSpPr>
          <p:cNvPr id="2" name="Shape 0"/>
          <p:cNvSpPr/>
          <p:nvPr/>
        </p:nvSpPr>
        <p:spPr>
          <a:xfrm flipV="1">
            <a:off x="9692640" y="685800"/>
            <a:ext cx="1188720" cy="411480"/>
          </a:xfrm>
          <a:prstGeom prst="line">
            <a:avLst/>
          </a:prstGeom>
          <a:noFill/>
          <a:ln w="15875">
            <a:solidFill>
              <a:srgbClr val="8A939A"/>
            </a:solidFill>
            <a:prstDash val="solid"/>
          </a:ln>
        </p:spPr>
      </p:sp>
      <p:sp>
        <p:nvSpPr>
          <p:cNvPr id="3" name="Shape 1"/>
          <p:cNvSpPr/>
          <p:nvPr/>
        </p:nvSpPr>
        <p:spPr>
          <a:xfrm>
            <a:off x="10881360" y="685800"/>
            <a:ext cx="548640" cy="1051560"/>
          </a:xfrm>
          <a:prstGeom prst="line">
            <a:avLst/>
          </a:prstGeom>
          <a:noFill/>
          <a:ln w="15875">
            <a:solidFill>
              <a:srgbClr val="8A939A"/>
            </a:solidFill>
            <a:prstDash val="solid"/>
          </a:ln>
        </p:spPr>
      </p:sp>
      <p:sp>
        <p:nvSpPr>
          <p:cNvPr id="4" name="Shape 2"/>
          <p:cNvSpPr/>
          <p:nvPr/>
        </p:nvSpPr>
        <p:spPr>
          <a:xfrm>
            <a:off x="9692640" y="1097280"/>
            <a:ext cx="685800" cy="1234440"/>
          </a:xfrm>
          <a:prstGeom prst="line">
            <a:avLst/>
          </a:prstGeom>
          <a:noFill/>
          <a:ln w="15875">
            <a:solidFill>
              <a:srgbClr val="8A939A"/>
            </a:solidFill>
            <a:prstDash val="solid"/>
          </a:ln>
        </p:spPr>
      </p:sp>
      <p:sp>
        <p:nvSpPr>
          <p:cNvPr id="5" name="Shape 3"/>
          <p:cNvSpPr/>
          <p:nvPr/>
        </p:nvSpPr>
        <p:spPr>
          <a:xfrm flipV="1">
            <a:off x="10378440" y="1737360"/>
            <a:ext cx="1051560" cy="594360"/>
          </a:xfrm>
          <a:prstGeom prst="line">
            <a:avLst/>
          </a:prstGeom>
          <a:noFill/>
          <a:ln w="15875">
            <a:solidFill>
              <a:srgbClr val="8A939A"/>
            </a:solidFill>
            <a:prstDash val="solid"/>
          </a:ln>
        </p:spPr>
      </p:sp>
      <p:sp>
        <p:nvSpPr>
          <p:cNvPr id="6" name="Shape 4"/>
          <p:cNvSpPr/>
          <p:nvPr/>
        </p:nvSpPr>
        <p:spPr>
          <a:xfrm>
            <a:off x="10378440" y="2331720"/>
            <a:ext cx="914400" cy="548640"/>
          </a:xfrm>
          <a:prstGeom prst="line">
            <a:avLst/>
          </a:prstGeom>
          <a:noFill/>
          <a:ln w="15875">
            <a:solidFill>
              <a:srgbClr val="8A939A"/>
            </a:solidFill>
            <a:prstDash val="solid"/>
          </a:ln>
        </p:spPr>
      </p:sp>
      <p:sp>
        <p:nvSpPr>
          <p:cNvPr id="7" name="Shape 5"/>
          <p:cNvSpPr/>
          <p:nvPr/>
        </p:nvSpPr>
        <p:spPr>
          <a:xfrm flipH="1">
            <a:off x="11292840" y="1737360"/>
            <a:ext cx="137160" cy="1143000"/>
          </a:xfrm>
          <a:prstGeom prst="line">
            <a:avLst/>
          </a:prstGeom>
          <a:noFill/>
          <a:ln w="15875">
            <a:solidFill>
              <a:srgbClr val="8A939A"/>
            </a:solidFill>
            <a:prstDash val="solid"/>
          </a:ln>
        </p:spPr>
      </p:sp>
      <p:sp>
        <p:nvSpPr>
          <p:cNvPr id="8" name="Shape 6"/>
          <p:cNvSpPr/>
          <p:nvPr/>
        </p:nvSpPr>
        <p:spPr>
          <a:xfrm>
            <a:off x="9308592" y="713232"/>
            <a:ext cx="768096" cy="768096"/>
          </a:xfrm>
          <a:prstGeom prst="ellipse">
            <a:avLst/>
          </a:prstGeom>
          <a:solidFill>
            <a:srgbClr val="3E5064"/>
          </a:solidFill>
          <a:ln/>
        </p:spPr>
      </p:sp>
      <p:sp>
        <p:nvSpPr>
          <p:cNvPr id="9" name="Shape 7"/>
          <p:cNvSpPr/>
          <p:nvPr/>
        </p:nvSpPr>
        <p:spPr>
          <a:xfrm>
            <a:off x="10625328" y="429768"/>
            <a:ext cx="512064" cy="512064"/>
          </a:xfrm>
          <a:prstGeom prst="ellipse">
            <a:avLst/>
          </a:prstGeom>
          <a:solidFill>
            <a:srgbClr val="D9932B"/>
          </a:solidFill>
          <a:ln/>
        </p:spPr>
      </p:sp>
      <p:sp>
        <p:nvSpPr>
          <p:cNvPr id="10" name="Shape 8"/>
          <p:cNvSpPr/>
          <p:nvPr/>
        </p:nvSpPr>
        <p:spPr>
          <a:xfrm>
            <a:off x="11009376" y="1316736"/>
            <a:ext cx="841248" cy="841248"/>
          </a:xfrm>
          <a:prstGeom prst="ellipse">
            <a:avLst/>
          </a:prstGeom>
          <a:solidFill>
            <a:srgbClr val="3E5064"/>
          </a:solidFill>
          <a:ln/>
        </p:spPr>
      </p:sp>
      <p:sp>
        <p:nvSpPr>
          <p:cNvPr id="11" name="Shape 9"/>
          <p:cNvSpPr/>
          <p:nvPr/>
        </p:nvSpPr>
        <p:spPr>
          <a:xfrm>
            <a:off x="10076688" y="2029968"/>
            <a:ext cx="603504" cy="603504"/>
          </a:xfrm>
          <a:prstGeom prst="ellipse">
            <a:avLst/>
          </a:prstGeom>
          <a:solidFill>
            <a:srgbClr val="57646F"/>
          </a:solidFill>
          <a:ln/>
        </p:spPr>
      </p:sp>
      <p:sp>
        <p:nvSpPr>
          <p:cNvPr id="12" name="Shape 10"/>
          <p:cNvSpPr/>
          <p:nvPr/>
        </p:nvSpPr>
        <p:spPr>
          <a:xfrm>
            <a:off x="11055096" y="2642616"/>
            <a:ext cx="475488" cy="475488"/>
          </a:xfrm>
          <a:prstGeom prst="ellipse">
            <a:avLst/>
          </a:prstGeom>
          <a:solidFill>
            <a:srgbClr val="D9932B"/>
          </a:solidFill>
          <a:ln/>
        </p:spPr>
      </p:sp>
      <p:sp>
        <p:nvSpPr>
          <p:cNvPr id="13" name="Text 11"/>
          <p:cNvSpPr txBox="1"/>
          <p:nvPr/>
        </p:nvSpPr>
        <p:spPr>
          <a:xfrm>
            <a:off x="640080" y="502920"/>
            <a:ext cx="5486400" cy="457200"/>
          </a:xfrm>
          <a:prstGeom prst="rect">
            <a:avLst/>
          </a:prstGeom>
          <a:noFill/>
          <a:ln/>
        </p:spPr>
        <p:txBody>
          <a:bodyPr wrap="square" lIns="0" tIns="0" rIns="0" bIns="0" rtlCol="0" anchor="ctr"/>
          <a:lstStyle/>
          <a:p>
            <a:pPr indent="0" marL="0">
              <a:buNone/>
            </a:pPr>
            <a:r>
              <a:rPr lang="en-US" sz="1600" b="1" spc="200" kern="0" dirty="0">
                <a:solidFill>
                  <a:srgbClr val="D9932B"/>
                </a:solidFill>
                <a:latin typeface="Consolas" pitchFamily="34" charset="0"/>
                <a:ea typeface="Consolas" pitchFamily="34" charset="-122"/>
                <a:cs typeface="Consolas" pitchFamily="34" charset="-120"/>
              </a:rPr>
              <a:t>DAY 13</a:t>
            </a:r>
            <a:endParaRPr lang="en-US" sz="1600" dirty="0"/>
          </a:p>
        </p:txBody>
      </p:sp>
      <p:sp>
        <p:nvSpPr>
          <p:cNvPr id="14" name="Text 12"/>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200" spc="150" kern="0" dirty="0">
                <a:solidFill>
                  <a:srgbClr val="8A939A"/>
                </a:solidFill>
                <a:latin typeface="Consolas" pitchFamily="34" charset="0"/>
                <a:ea typeface="Consolas" pitchFamily="34" charset="-122"/>
                <a:cs typeface="Consolas" pitchFamily="34" charset="-120"/>
              </a:rPr>
              <a:t>ENGINEER IT</a:t>
            </a:r>
            <a:endParaRPr lang="en-US" sz="1200" dirty="0"/>
          </a:p>
        </p:txBody>
      </p:sp>
      <p:sp>
        <p:nvSpPr>
          <p:cNvPr id="15" name="Text 13"/>
          <p:cNvSpPr txBox="1"/>
          <p:nvPr/>
        </p:nvSpPr>
        <p:spPr>
          <a:xfrm>
            <a:off x="594360" y="2606040"/>
            <a:ext cx="8778240" cy="1737360"/>
          </a:xfrm>
          <a:prstGeom prst="rect">
            <a:avLst/>
          </a:prstGeom>
          <a:noFill/>
          <a:ln/>
        </p:spPr>
        <p:txBody>
          <a:bodyPr wrap="square" lIns="0" tIns="0" rIns="0" bIns="0" rtlCol="0" anchor="b"/>
          <a:lstStyle/>
          <a:p>
            <a:pPr indent="0" marL="0">
              <a:buNone/>
            </a:pPr>
            <a:r>
              <a:rPr lang="en-US" sz="4000" b="1" dirty="0">
                <a:solidFill>
                  <a:srgbClr val="FFFFFF"/>
                </a:solidFill>
                <a:latin typeface="Consolas" pitchFamily="34" charset="0"/>
                <a:ea typeface="Consolas" pitchFamily="34" charset="-122"/>
                <a:cs typeface="Consolas" pitchFamily="34" charset="-120"/>
              </a:rPr>
              <a:t>Harness &amp; Loop Engineering</a:t>
            </a:r>
            <a:endParaRPr lang="en-US" sz="4000" dirty="0"/>
          </a:p>
        </p:txBody>
      </p:sp>
      <p:sp>
        <p:nvSpPr>
          <p:cNvPr id="16" name="Text 14"/>
          <p:cNvSpPr txBox="1"/>
          <p:nvPr/>
        </p:nvSpPr>
        <p:spPr>
          <a:xfrm>
            <a:off x="640080" y="4434840"/>
            <a:ext cx="7863840" cy="822960"/>
          </a:xfrm>
          <a:prstGeom prst="rect">
            <a:avLst/>
          </a:prstGeom>
          <a:noFill/>
          <a:ln/>
        </p:spPr>
        <p:txBody>
          <a:bodyPr wrap="square" lIns="0" tIns="0" rIns="0" bIns="0" rtlCol="0" anchor="ctr"/>
          <a:lstStyle/>
          <a:p>
            <a:pPr indent="0" marL="0">
              <a:buNone/>
            </a:pPr>
            <a:r>
              <a:rPr lang="en-US" sz="1500" i="1" dirty="0">
                <a:solidFill>
                  <a:srgbClr val="8A939A"/>
                </a:solidFill>
                <a:latin typeface="Calibri" pitchFamily="34" charset="0"/>
                <a:ea typeface="Calibri" pitchFamily="34" charset="-122"/>
                <a:cs typeface="Calibri" pitchFamily="34" charset="-120"/>
              </a:rPr>
              <a:t>The loop repeats; the harness decides when it must stop.</a:t>
            </a:r>
            <a:endParaRPr lang="en-US" sz="1500" dirty="0"/>
          </a:p>
        </p:txBody>
      </p:sp>
      <p:sp>
        <p:nvSpPr>
          <p:cNvPr id="17" name="Text 15">
            <a:hlinkClick r:id="rId1" tooltip=""/>
          </p:cNvPr>
          <p:cNvSpPr txBox="1"/>
          <p:nvPr/>
        </p:nvSpPr>
        <p:spPr>
          <a:xfrm>
            <a:off x="640080" y="5989320"/>
            <a:ext cx="3840480" cy="36576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Day 12</a:t>
            </a:r>
            <a:endParaRPr lang="en-US" sz="1100" dirty="0"/>
          </a:p>
        </p:txBody>
      </p:sp>
      <p:sp>
        <p:nvSpPr>
          <p:cNvPr id="18" name="Text 16">
            <a:hlinkClick r:id="rId2" tooltip="" action="ppaction://hlinksldjump"/>
          </p:cNvPr>
          <p:cNvSpPr txBox="1"/>
          <p:nvPr/>
        </p:nvSpPr>
        <p:spPr>
          <a:xfrm>
            <a:off x="5029200" y="5989320"/>
            <a:ext cx="2103120" cy="365760"/>
          </a:xfrm>
          <a:prstGeom prst="rect">
            <a:avLst/>
          </a:prstGeom>
          <a:noFill/>
          <a:ln/>
        </p:spPr>
        <p:txBody>
          <a:bodyPr wrap="square" lIns="0" tIns="0" rIns="0" bIns="0" rtlCol="0" anchor="ctr"/>
          <a:lstStyle/>
          <a:p>
            <a:pPr algn="ctr" indent="0" marL="0">
              <a:buNone/>
            </a:pPr>
            <a:r>
              <a:rPr lang="en-US" sz="1100" u="sng" dirty="0">
                <a:solidFill>
                  <a:srgbClr val="D9932B"/>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19" name="Text 17">
            <a:hlinkClick r:id="rId3" tooltip=""/>
          </p:cNvPr>
          <p:cNvSpPr txBox="1"/>
          <p:nvPr/>
        </p:nvSpPr>
        <p:spPr>
          <a:xfrm>
            <a:off x="7680960" y="5989320"/>
            <a:ext cx="3840480" cy="365760"/>
          </a:xfrm>
          <a:prstGeom prst="rect">
            <a:avLst/>
          </a:prstGeom>
          <a:noFill/>
          <a:ln/>
        </p:spPr>
        <p:txBody>
          <a:bodyPr wrap="square" lIns="0" tIns="0" rIns="0" bIns="0" rtlCol="0" anchor="ctr"/>
          <a:lstStyle/>
          <a:p>
            <a:pPr algn="r" indent="0" marL="0">
              <a:buNone/>
            </a:pPr>
            <a:r>
              <a:rPr lang="en-US" sz="1100" u="sng" dirty="0">
                <a:solidFill>
                  <a:srgbClr val="8A939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Day 14  →</a:t>
            </a:r>
            <a:endParaRPr lang="en-US" sz="1100" dirty="0"/>
          </a:p>
        </p:txBody>
      </p:sp>
      <p:sp>
        <p:nvSpPr>
          <p:cNvPr id="20" name="Text 18"/>
          <p:cNvSpPr txBox="1"/>
          <p:nvPr/>
        </p:nvSpPr>
        <p:spPr>
          <a:xfrm>
            <a:off x="640080" y="6419088"/>
            <a:ext cx="7315200" cy="320040"/>
          </a:xfrm>
          <a:prstGeom prst="rect">
            <a:avLst/>
          </a:prstGeom>
          <a:noFill/>
          <a:ln/>
        </p:spPr>
        <p:txBody>
          <a:bodyPr wrap="square" lIns="0" tIns="0" rIns="0" bIns="0" rtlCol="0" anchor="ctr"/>
          <a:lstStyle/>
          <a:p>
            <a:pPr indent="0" marL="0">
              <a:buNone/>
            </a:pPr>
            <a:r>
              <a:rPr lang="en-US" sz="1050" dirty="0">
                <a:solidFill>
                  <a:srgbClr val="8A939A"/>
                </a:solidFill>
                <a:latin typeface="Consolas" pitchFamily="34" charset="0"/>
                <a:ea typeface="Consolas" pitchFamily="34" charset="-122"/>
                <a:cs typeface="Consolas" pitchFamily="34" charset="-120"/>
              </a:rPr>
              <a:t>uv run python Day-13-Harness-Loop-Engineering\example.py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2800" b="1" dirty="0">
                <a:solidFill>
                  <a:srgbClr val="1A1E22"/>
                </a:solidFill>
                <a:latin typeface="Consolas" pitchFamily="34" charset="0"/>
                <a:ea typeface="Consolas" pitchFamily="34" charset="-122"/>
                <a:cs typeface="Consolas" pitchFamily="34" charset="-120"/>
              </a:rPr>
              <a:t>What's Inside Today</a:t>
            </a:r>
            <a:endParaRPr lang="en-US" sz="28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Harness &amp; Loop Engineering</a:t>
            </a:r>
            <a:endParaRPr lang="en-US" sz="1400" dirty="0"/>
          </a:p>
        </p:txBody>
      </p:sp>
      <p:sp>
        <p:nvSpPr>
          <p:cNvPr id="4" name="Shape 2"/>
          <p:cNvSpPr/>
          <p:nvPr/>
        </p:nvSpPr>
        <p:spPr>
          <a:xfrm>
            <a:off x="640080" y="1783080"/>
            <a:ext cx="5120640" cy="685800"/>
          </a:xfrm>
          <a:prstGeom prst="roundRect">
            <a:avLst>
              <a:gd name="adj" fmla="val 8000"/>
            </a:avLst>
          </a:prstGeom>
          <a:solidFill>
            <a:srgbClr val="F5F7F3"/>
          </a:solidFill>
          <a:ln w="12700">
            <a:solidFill>
              <a:srgbClr val="D7DCD1"/>
            </a:solidFill>
            <a:prstDash val="solid"/>
          </a:ln>
        </p:spPr>
      </p:sp>
      <p:sp>
        <p:nvSpPr>
          <p:cNvPr id="5" name="Text 3"/>
          <p:cNvSpPr txBox="1"/>
          <p:nvPr/>
        </p:nvSpPr>
        <p:spPr>
          <a:xfrm>
            <a:off x="80467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01</a:t>
            </a:r>
            <a:endParaRPr lang="en-US" sz="1600" dirty="0"/>
          </a:p>
        </p:txBody>
      </p:sp>
      <p:sp>
        <p:nvSpPr>
          <p:cNvPr id="6" name="Text 4">
            <a:hlinkClick r:id="rId1" tooltip="" action="ppaction://hlinksldjump"/>
          </p:cNvPr>
          <p:cNvSpPr txBox="1"/>
          <p:nvPr/>
        </p:nvSpPr>
        <p:spPr>
          <a:xfrm>
            <a:off x="141732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Why This Matters</a:t>
            </a:r>
            <a:endParaRPr lang="en-US" sz="1350" dirty="0"/>
          </a:p>
        </p:txBody>
      </p:sp>
      <p:sp>
        <p:nvSpPr>
          <p:cNvPr id="7" name="Shape 5"/>
          <p:cNvSpPr/>
          <p:nvPr/>
        </p:nvSpPr>
        <p:spPr>
          <a:xfrm>
            <a:off x="6217920" y="1783080"/>
            <a:ext cx="5120640" cy="685800"/>
          </a:xfrm>
          <a:prstGeom prst="roundRect">
            <a:avLst>
              <a:gd name="adj" fmla="val 8000"/>
            </a:avLst>
          </a:prstGeom>
          <a:solidFill>
            <a:srgbClr val="F5F7F3"/>
          </a:solidFill>
          <a:ln w="12700">
            <a:solidFill>
              <a:srgbClr val="D7DCD1"/>
            </a:solidFill>
            <a:prstDash val="solid"/>
          </a:ln>
        </p:spPr>
      </p:sp>
      <p:sp>
        <p:nvSpPr>
          <p:cNvPr id="8" name="Text 6"/>
          <p:cNvSpPr txBox="1"/>
          <p:nvPr/>
        </p:nvSpPr>
        <p:spPr>
          <a:xfrm>
            <a:off x="638251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02</a:t>
            </a:r>
            <a:endParaRPr lang="en-US" sz="1600" dirty="0"/>
          </a:p>
        </p:txBody>
      </p:sp>
      <p:sp>
        <p:nvSpPr>
          <p:cNvPr id="9" name="Text 7">
            <a:hlinkClick r:id="rId2" tooltip="" action="ppaction://hlinksldjump"/>
          </p:cNvPr>
          <p:cNvSpPr txBox="1"/>
          <p:nvPr/>
        </p:nvSpPr>
        <p:spPr>
          <a:xfrm>
            <a:off x="699516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Key Concepts</a:t>
            </a:r>
            <a:endParaRPr lang="en-US" sz="1350" dirty="0"/>
          </a:p>
        </p:txBody>
      </p:sp>
      <p:sp>
        <p:nvSpPr>
          <p:cNvPr id="10" name="Shape 8"/>
          <p:cNvSpPr/>
          <p:nvPr/>
        </p:nvSpPr>
        <p:spPr>
          <a:xfrm>
            <a:off x="640080" y="2651760"/>
            <a:ext cx="5120640" cy="685800"/>
          </a:xfrm>
          <a:prstGeom prst="roundRect">
            <a:avLst>
              <a:gd name="adj" fmla="val 8000"/>
            </a:avLst>
          </a:prstGeom>
          <a:solidFill>
            <a:srgbClr val="F5F7F3"/>
          </a:solidFill>
          <a:ln w="12700">
            <a:solidFill>
              <a:srgbClr val="D7DCD1"/>
            </a:solidFill>
            <a:prstDash val="solid"/>
          </a:ln>
        </p:spPr>
      </p:sp>
      <p:sp>
        <p:nvSpPr>
          <p:cNvPr id="11" name="Text 9"/>
          <p:cNvSpPr txBox="1"/>
          <p:nvPr/>
        </p:nvSpPr>
        <p:spPr>
          <a:xfrm>
            <a:off x="80467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03</a:t>
            </a:r>
            <a:endParaRPr lang="en-US" sz="1600" dirty="0"/>
          </a:p>
        </p:txBody>
      </p:sp>
      <p:sp>
        <p:nvSpPr>
          <p:cNvPr id="12" name="Text 10">
            <a:hlinkClick r:id="rId3" tooltip="" action="ppaction://hlinksldjump"/>
          </p:cNvPr>
          <p:cNvSpPr txBox="1"/>
          <p:nvPr/>
        </p:nvSpPr>
        <p:spPr>
          <a:xfrm>
            <a:off x="141732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How It's Built</a:t>
            </a:r>
            <a:endParaRPr lang="en-US" sz="1350" dirty="0"/>
          </a:p>
        </p:txBody>
      </p:sp>
      <p:sp>
        <p:nvSpPr>
          <p:cNvPr id="13" name="Shape 11"/>
          <p:cNvSpPr/>
          <p:nvPr/>
        </p:nvSpPr>
        <p:spPr>
          <a:xfrm>
            <a:off x="6217920" y="2651760"/>
            <a:ext cx="5120640" cy="685800"/>
          </a:xfrm>
          <a:prstGeom prst="roundRect">
            <a:avLst>
              <a:gd name="adj" fmla="val 8000"/>
            </a:avLst>
          </a:prstGeom>
          <a:solidFill>
            <a:srgbClr val="F5F7F3"/>
          </a:solidFill>
          <a:ln w="12700">
            <a:solidFill>
              <a:srgbClr val="D7DCD1"/>
            </a:solidFill>
            <a:prstDash val="solid"/>
          </a:ln>
        </p:spPr>
      </p:sp>
      <p:sp>
        <p:nvSpPr>
          <p:cNvPr id="14" name="Text 12"/>
          <p:cNvSpPr txBox="1"/>
          <p:nvPr/>
        </p:nvSpPr>
        <p:spPr>
          <a:xfrm>
            <a:off x="638251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04</a:t>
            </a:r>
            <a:endParaRPr lang="en-US" sz="1600" dirty="0"/>
          </a:p>
        </p:txBody>
      </p:sp>
      <p:sp>
        <p:nvSpPr>
          <p:cNvPr id="15" name="Text 13">
            <a:hlinkClick r:id="rId4" tooltip="" action="ppaction://hlinksldjump"/>
          </p:cNvPr>
          <p:cNvSpPr txBox="1"/>
          <p:nvPr/>
        </p:nvSpPr>
        <p:spPr>
          <a:xfrm>
            <a:off x="699516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The Code</a:t>
            </a:r>
            <a:endParaRPr lang="en-US" sz="1350" dirty="0"/>
          </a:p>
        </p:txBody>
      </p:sp>
      <p:sp>
        <p:nvSpPr>
          <p:cNvPr id="16" name="Shape 14"/>
          <p:cNvSpPr/>
          <p:nvPr/>
        </p:nvSpPr>
        <p:spPr>
          <a:xfrm>
            <a:off x="640080" y="3520440"/>
            <a:ext cx="5120640" cy="685800"/>
          </a:xfrm>
          <a:prstGeom prst="roundRect">
            <a:avLst>
              <a:gd name="adj" fmla="val 8000"/>
            </a:avLst>
          </a:prstGeom>
          <a:solidFill>
            <a:srgbClr val="F5F7F3"/>
          </a:solidFill>
          <a:ln w="12700">
            <a:solidFill>
              <a:srgbClr val="D7DCD1"/>
            </a:solidFill>
            <a:prstDash val="solid"/>
          </a:ln>
        </p:spPr>
      </p:sp>
      <p:sp>
        <p:nvSpPr>
          <p:cNvPr id="17" name="Text 15"/>
          <p:cNvSpPr txBox="1"/>
          <p:nvPr/>
        </p:nvSpPr>
        <p:spPr>
          <a:xfrm>
            <a:off x="80467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05</a:t>
            </a:r>
            <a:endParaRPr lang="en-US" sz="1600" dirty="0"/>
          </a:p>
        </p:txBody>
      </p:sp>
      <p:sp>
        <p:nvSpPr>
          <p:cNvPr id="18" name="Text 16">
            <a:hlinkClick r:id="rId5" tooltip="" action="ppaction://hlinksldjump"/>
          </p:cNvPr>
          <p:cNvSpPr txBox="1"/>
          <p:nvPr/>
        </p:nvSpPr>
        <p:spPr>
          <a:xfrm>
            <a:off x="141732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Hands-On Lab</a:t>
            </a:r>
            <a:endParaRPr lang="en-US" sz="1350" dirty="0"/>
          </a:p>
        </p:txBody>
      </p:sp>
      <p:sp>
        <p:nvSpPr>
          <p:cNvPr id="19" name="Shape 17"/>
          <p:cNvSpPr/>
          <p:nvPr/>
        </p:nvSpPr>
        <p:spPr>
          <a:xfrm>
            <a:off x="6217920" y="3520440"/>
            <a:ext cx="5120640" cy="685800"/>
          </a:xfrm>
          <a:prstGeom prst="roundRect">
            <a:avLst>
              <a:gd name="adj" fmla="val 8000"/>
            </a:avLst>
          </a:prstGeom>
          <a:solidFill>
            <a:srgbClr val="F5F7F3"/>
          </a:solidFill>
          <a:ln w="12700">
            <a:solidFill>
              <a:srgbClr val="D7DCD1"/>
            </a:solidFill>
            <a:prstDash val="solid"/>
          </a:ln>
        </p:spPr>
      </p:sp>
      <p:sp>
        <p:nvSpPr>
          <p:cNvPr id="20" name="Text 18"/>
          <p:cNvSpPr txBox="1"/>
          <p:nvPr/>
        </p:nvSpPr>
        <p:spPr>
          <a:xfrm>
            <a:off x="638251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06</a:t>
            </a:r>
            <a:endParaRPr lang="en-US" sz="1600" dirty="0"/>
          </a:p>
        </p:txBody>
      </p:sp>
      <p:sp>
        <p:nvSpPr>
          <p:cNvPr id="21" name="Text 19">
            <a:hlinkClick r:id="rId6" tooltip="" action="ppaction://hlinksldjump"/>
          </p:cNvPr>
          <p:cNvSpPr txBox="1"/>
          <p:nvPr/>
        </p:nvSpPr>
        <p:spPr>
          <a:xfrm>
            <a:off x="699516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Assignment</a:t>
            </a:r>
            <a:endParaRPr lang="en-US" sz="1350" dirty="0"/>
          </a:p>
        </p:txBody>
      </p:sp>
      <p:sp>
        <p:nvSpPr>
          <p:cNvPr id="22" name="Shape 20"/>
          <p:cNvSpPr/>
          <p:nvPr/>
        </p:nvSpPr>
        <p:spPr>
          <a:xfrm>
            <a:off x="640080" y="4389120"/>
            <a:ext cx="5120640" cy="685800"/>
          </a:xfrm>
          <a:prstGeom prst="roundRect">
            <a:avLst>
              <a:gd name="adj" fmla="val 8000"/>
            </a:avLst>
          </a:prstGeom>
          <a:solidFill>
            <a:srgbClr val="F5F7F3"/>
          </a:solidFill>
          <a:ln w="12700">
            <a:solidFill>
              <a:srgbClr val="D7DCD1"/>
            </a:solidFill>
            <a:prstDash val="solid"/>
          </a:ln>
        </p:spPr>
      </p:sp>
      <p:sp>
        <p:nvSpPr>
          <p:cNvPr id="23" name="Text 21"/>
          <p:cNvSpPr txBox="1"/>
          <p:nvPr/>
        </p:nvSpPr>
        <p:spPr>
          <a:xfrm>
            <a:off x="804672" y="438912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07</a:t>
            </a:r>
            <a:endParaRPr lang="en-US" sz="1600" dirty="0"/>
          </a:p>
        </p:txBody>
      </p:sp>
      <p:sp>
        <p:nvSpPr>
          <p:cNvPr id="24" name="Text 22">
            <a:hlinkClick r:id="rId7" tooltip="" action="ppaction://hlinksldjump"/>
          </p:cNvPr>
          <p:cNvSpPr txBox="1"/>
          <p:nvPr/>
        </p:nvSpPr>
        <p:spPr>
          <a:xfrm>
            <a:off x="1417320" y="438912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Wrap-Up</a:t>
            </a:r>
            <a:endParaRPr lang="en-US" sz="1350" dirty="0"/>
          </a:p>
        </p:txBody>
      </p:sp>
      <p:sp>
        <p:nvSpPr>
          <p:cNvPr id="25" name="Text 2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26" name="Text 2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932B"/>
          </a:solidFill>
          <a:ln/>
        </p:spPr>
      </p:sp>
      <p:sp>
        <p:nvSpPr>
          <p:cNvPr id="3" name="Text 1"/>
          <p:cNvSpPr txBox="1"/>
          <p:nvPr/>
        </p:nvSpPr>
        <p:spPr>
          <a:xfrm>
            <a:off x="822960" y="548640"/>
            <a:ext cx="9144000" cy="54864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Why This Matters</a:t>
            </a:r>
            <a:endParaRPr lang="en-US" sz="2400" dirty="0"/>
          </a:p>
        </p:txBody>
      </p:sp>
      <p:sp>
        <p:nvSpPr>
          <p:cNvPr id="4" name="Shape 2"/>
          <p:cNvSpPr/>
          <p:nvPr/>
        </p:nvSpPr>
        <p:spPr>
          <a:xfrm>
            <a:off x="822960" y="1371600"/>
            <a:ext cx="10424160" cy="4389120"/>
          </a:xfrm>
          <a:prstGeom prst="roundRect">
            <a:avLst>
              <a:gd name="adj" fmla="val 1667"/>
            </a:avLst>
          </a:prstGeom>
          <a:solidFill>
            <a:srgbClr val="FFFFFF"/>
          </a:solidFill>
          <a:ln w="12700">
            <a:solidFill>
              <a:srgbClr val="D7DCD1"/>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1188720" y="1691640"/>
            <a:ext cx="9692640" cy="3749040"/>
          </a:xfrm>
          <a:prstGeom prst="rect">
            <a:avLst/>
          </a:prstGeom>
          <a:noFill/>
          <a:ln/>
        </p:spPr>
        <p:txBody>
          <a:bodyPr wrap="square" lIns="0" tIns="0" rIns="0" bIns="0" rtlCol="0" anchor="t"/>
          <a:lstStyle/>
          <a:p>
            <a:pPr indent="0" marL="0">
              <a:lnSpc>
                <a:spcPct val="125000"/>
              </a:lnSpc>
              <a:buNone/>
            </a:pPr>
            <a:r>
              <a:rPr lang="en-US" sz="1650" dirty="0">
                <a:solidFill>
                  <a:srgbClr val="1A1E22"/>
                </a:solidFill>
                <a:latin typeface="Calibri" pitchFamily="34" charset="0"/>
                <a:ea typeface="Calibri" pitchFamily="34" charset="-122"/>
                <a:cs typeface="Calibri" pitchFamily="34" charset="-120"/>
              </a:rPr>
              <a:t>A "harness" is everything around a repeated action that keeps it from running wild: deciding what's allowed, performing the action, checking whether it worked — and knowing when to stop, including stopping when it hasn't worked. A "loop" is the act-verify-retry cycle that runs inside that harness. They aren't the same thing: today's file lets you point at each one separately — act and verify are the loop, enforce_limit's attempt cap is the harness.</a:t>
            </a:r>
            <a:endParaRPr lang="en-US" sz="165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1 of 4</a:t>
            </a:r>
            <a:endParaRPr lang="en-US" sz="2600" dirty="0"/>
          </a:p>
        </p:txBody>
      </p:sp>
      <p:sp>
        <p:nvSpPr>
          <p:cNvPr id="3" name="Shape 1"/>
          <p:cNvSpPr/>
          <p:nvPr/>
        </p:nvSpPr>
        <p:spPr>
          <a:xfrm>
            <a:off x="640080" y="1435608"/>
            <a:ext cx="457200" cy="457200"/>
          </a:xfrm>
          <a:prstGeom prst="ellipse">
            <a:avLst/>
          </a:prstGeom>
          <a:solidFill>
            <a:srgbClr val="D9932B"/>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1</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Act, verify, retry</a:t>
            </a:r>
            <a:endParaRPr lang="en-US" sz="1550" dirty="0"/>
          </a:p>
        </p:txBody>
      </p:sp>
      <p:sp>
        <p:nvSpPr>
          <p:cNvPr id="6" name="Text 4"/>
          <p:cNvSpPr txBox="1"/>
          <p:nvPr/>
        </p:nvSpPr>
        <p:spPr>
          <a:xfrm>
            <a:off x="1325880" y="170992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The primitive behind any repeating action: do the step, check the step, decide again. On its own, this cycle only knows how to repeat — it has no opinion about when to stop.</a:t>
            </a:r>
            <a:endParaRPr lang="en-US" sz="1300" dirty="0"/>
          </a:p>
        </p:txBody>
      </p:sp>
      <p:sp>
        <p:nvSpPr>
          <p:cNvPr id="7" name="Shape 5"/>
          <p:cNvSpPr/>
          <p:nvPr/>
        </p:nvSpPr>
        <p:spPr>
          <a:xfrm>
            <a:off x="640080" y="2932176"/>
            <a:ext cx="10515600" cy="914"/>
          </a:xfrm>
          <a:prstGeom prst="line">
            <a:avLst/>
          </a:prstGeom>
          <a:noFill/>
          <a:ln w="12700">
            <a:solidFill>
              <a:srgbClr val="D7DCD1"/>
            </a:solidFill>
            <a:prstDash val="solid"/>
          </a:ln>
        </p:spPr>
      </p:sp>
      <p:sp>
        <p:nvSpPr>
          <p:cNvPr id="8" name="Shape 6"/>
          <p:cNvSpPr/>
          <p:nvPr/>
        </p:nvSpPr>
        <p:spPr>
          <a:xfrm>
            <a:off x="640080" y="3096768"/>
            <a:ext cx="457200" cy="457200"/>
          </a:xfrm>
          <a:prstGeom prst="ellipse">
            <a:avLst/>
          </a:prstGeom>
          <a:solidFill>
            <a:srgbClr val="3E5064"/>
          </a:solidFill>
          <a:ln/>
        </p:spPr>
      </p:sp>
      <p:sp>
        <p:nvSpPr>
          <p:cNvPr id="9" name="Text 7"/>
          <p:cNvSpPr txBox="1"/>
          <p:nvPr/>
        </p:nvSpPr>
        <p:spPr>
          <a:xfrm>
            <a:off x="640080" y="309676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2</a:t>
            </a:r>
            <a:endParaRPr lang="en-US" sz="1500" dirty="0"/>
          </a:p>
        </p:txBody>
      </p:sp>
      <p:sp>
        <p:nvSpPr>
          <p:cNvPr id="10" name="Text 8"/>
          <p:cNvSpPr txBox="1"/>
          <p:nvPr/>
        </p:nvSpPr>
        <p:spPr>
          <a:xfrm>
            <a:off x="1325880" y="298704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One stop signal isn't enough</a:t>
            </a:r>
            <a:endParaRPr lang="en-US" sz="1550" dirty="0"/>
          </a:p>
        </p:txBody>
      </p:sp>
      <p:sp>
        <p:nvSpPr>
          <p:cNvPr id="11" name="Text 9"/>
          <p:cNvSpPr txBox="1"/>
          <p:nvPr/>
        </p:nvSpPr>
        <p:spPr>
          <a:xfrm>
            <a:off x="1325880" y="337108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A loop that only checks “did it pass yet?” can run forever if that condition is unreachable. Every extra iteration has a real cost — time, tokens, money — so relying on a single signal is fragile.</a:t>
            </a:r>
            <a:endParaRPr lang="en-US" sz="1300" dirty="0"/>
          </a:p>
        </p:txBody>
      </p:sp>
      <p:sp>
        <p:nvSpPr>
          <p:cNvPr id="12" name="Shape 10"/>
          <p:cNvSpPr/>
          <p:nvPr/>
        </p:nvSpPr>
        <p:spPr>
          <a:xfrm>
            <a:off x="640080" y="4593336"/>
            <a:ext cx="10515600" cy="914"/>
          </a:xfrm>
          <a:prstGeom prst="line">
            <a:avLst/>
          </a:prstGeom>
          <a:noFill/>
          <a:ln w="12700">
            <a:solidFill>
              <a:srgbClr val="D7DCD1"/>
            </a:solidFill>
            <a:prstDash val="solid"/>
          </a:ln>
        </p:spPr>
      </p:sp>
      <p:sp>
        <p:nvSpPr>
          <p:cNvPr id="13" name="Shape 11"/>
          <p:cNvSpPr/>
          <p:nvPr/>
        </p:nvSpPr>
        <p:spPr>
          <a:xfrm>
            <a:off x="640080" y="4757928"/>
            <a:ext cx="457200" cy="457200"/>
          </a:xfrm>
          <a:prstGeom prst="ellipse">
            <a:avLst/>
          </a:prstGeom>
          <a:solidFill>
            <a:srgbClr val="3E5064"/>
          </a:solidFill>
          <a:ln/>
        </p:spPr>
      </p:sp>
      <p:sp>
        <p:nvSpPr>
          <p:cNvPr id="14" name="Text 12"/>
          <p:cNvSpPr txBox="1"/>
          <p:nvPr/>
        </p:nvSpPr>
        <p:spPr>
          <a:xfrm>
            <a:off x="640080" y="475792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3</a:t>
            </a:r>
            <a:endParaRPr lang="en-US" sz="1500" dirty="0"/>
          </a:p>
        </p:txBody>
      </p:sp>
      <p:sp>
        <p:nvSpPr>
          <p:cNvPr id="15" name="Text 13"/>
          <p:cNvSpPr txBox="1"/>
          <p:nvPr/>
        </p:nvSpPr>
        <p:spPr>
          <a:xfrm>
            <a:off x="1325880" y="464820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Three independent stop signals</a:t>
            </a:r>
            <a:endParaRPr lang="en-US" sz="1550" dirty="0"/>
          </a:p>
        </p:txBody>
      </p:sp>
      <p:sp>
        <p:nvSpPr>
          <p:cNvPr id="16" name="Text 14"/>
          <p:cNvSpPr txBox="1"/>
          <p:nvPr/>
        </p:nvSpPr>
        <p:spPr>
          <a:xfrm>
            <a:off x="1325880" y="503224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Watch for all three at once: verification passes, a hard cap on attempts, and a cost or resource budget that can end the run even before the attempt cap is reached. None of the three can override the others.</a:t>
            </a:r>
            <a:endParaRPr lang="en-US" sz="1300" dirty="0"/>
          </a:p>
        </p:txBody>
      </p:sp>
      <p:sp>
        <p:nvSpPr>
          <p:cNvPr id="17" name="Text 1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8" name="Text 1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2 of 4</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4</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horse and the harness</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Raw power isn't useful work by itself — a horse can't pull a cart without a harness. The model (or here, a repeated action) is the horse; everything deliberately built around it is the harness.</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5</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Five components of a harness</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System of record (written rules), tools (a small, justified allowlist), feedback loops and verification, guardrails and permissions (what's explicitly not allowed), and observability and memory (a record of what actually happened).</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3 of 4</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6</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Observe, act, verify</a:t>
            </a:r>
            <a:endParaRPr lang="en-US" sz="1550" dirty="0"/>
          </a:p>
        </p:txBody>
      </p:sp>
      <p:sp>
        <p:nvSpPr>
          <p:cNvPr id="6" name="Text 4"/>
          <p:cNvSpPr txBox="1"/>
          <p:nvPr/>
        </p:nvSpPr>
        <p:spPr>
          <a:xfrm>
            <a:off x="1325880" y="170992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act performs one step and increases an attempt counter. verify tests that result against a fixed rule and records a passed flag. Keeping "do the work" and "check the work" as two separate nodes is what makes the check trustworthy.</a:t>
            </a:r>
            <a:endParaRPr lang="en-US" sz="1300" dirty="0"/>
          </a:p>
        </p:txBody>
      </p:sp>
      <p:sp>
        <p:nvSpPr>
          <p:cNvPr id="7" name="Shape 5"/>
          <p:cNvSpPr/>
          <p:nvPr/>
        </p:nvSpPr>
        <p:spPr>
          <a:xfrm>
            <a:off x="640080" y="2932176"/>
            <a:ext cx="10515600" cy="914"/>
          </a:xfrm>
          <a:prstGeom prst="line">
            <a:avLst/>
          </a:prstGeom>
          <a:noFill/>
          <a:ln w="12700">
            <a:solidFill>
              <a:srgbClr val="D7DCD1"/>
            </a:solidFill>
            <a:prstDash val="solid"/>
          </a:ln>
        </p:spPr>
      </p:sp>
      <p:sp>
        <p:nvSpPr>
          <p:cNvPr id="8" name="Shape 6"/>
          <p:cNvSpPr/>
          <p:nvPr/>
        </p:nvSpPr>
        <p:spPr>
          <a:xfrm>
            <a:off x="640080" y="3096768"/>
            <a:ext cx="457200" cy="457200"/>
          </a:xfrm>
          <a:prstGeom prst="ellipse">
            <a:avLst/>
          </a:prstGeom>
          <a:solidFill>
            <a:srgbClr val="3E5064"/>
          </a:solidFill>
          <a:ln/>
        </p:spPr>
      </p:sp>
      <p:sp>
        <p:nvSpPr>
          <p:cNvPr id="9" name="Text 7"/>
          <p:cNvSpPr txBox="1"/>
          <p:nvPr/>
        </p:nvSpPr>
        <p:spPr>
          <a:xfrm>
            <a:off x="640080" y="309676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7</a:t>
            </a:r>
            <a:endParaRPr lang="en-US" sz="1500" dirty="0"/>
          </a:p>
        </p:txBody>
      </p:sp>
      <p:sp>
        <p:nvSpPr>
          <p:cNvPr id="10" name="Text 8"/>
          <p:cNvSpPr txBox="1"/>
          <p:nvPr/>
        </p:nvSpPr>
        <p:spPr>
          <a:xfrm>
            <a:off x="1325880" y="298704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harness: an explicit attempt limit</a:t>
            </a:r>
            <a:endParaRPr lang="en-US" sz="1550" dirty="0"/>
          </a:p>
        </p:txBody>
      </p:sp>
      <p:sp>
        <p:nvSpPr>
          <p:cNvPr id="11" name="Text 9"/>
          <p:cNvSpPr txBox="1"/>
          <p:nvPr/>
        </p:nvSpPr>
        <p:spPr>
          <a:xfrm>
            <a:off x="1325880" y="337108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enforce_limit is imposed from outside the loop's own logic. It reads passed, but also MAX_ATTEMPTS — a hard cap the loop cannot override. Passing ends the run with done; running out of attempts ends it anyway with give_up.</a:t>
            </a:r>
            <a:endParaRPr lang="en-US" sz="1300" dirty="0"/>
          </a:p>
        </p:txBody>
      </p:sp>
      <p:sp>
        <p:nvSpPr>
          <p:cNvPr id="12" name="Shape 10"/>
          <p:cNvSpPr/>
          <p:nvPr/>
        </p:nvSpPr>
        <p:spPr>
          <a:xfrm>
            <a:off x="640080" y="4593336"/>
            <a:ext cx="10515600" cy="914"/>
          </a:xfrm>
          <a:prstGeom prst="line">
            <a:avLst/>
          </a:prstGeom>
          <a:noFill/>
          <a:ln w="12700">
            <a:solidFill>
              <a:srgbClr val="D7DCD1"/>
            </a:solidFill>
            <a:prstDash val="solid"/>
          </a:ln>
        </p:spPr>
      </p:sp>
      <p:sp>
        <p:nvSpPr>
          <p:cNvPr id="13" name="Shape 11"/>
          <p:cNvSpPr/>
          <p:nvPr/>
        </p:nvSpPr>
        <p:spPr>
          <a:xfrm>
            <a:off x="640080" y="4757928"/>
            <a:ext cx="457200" cy="457200"/>
          </a:xfrm>
          <a:prstGeom prst="ellipse">
            <a:avLst/>
          </a:prstGeom>
          <a:solidFill>
            <a:srgbClr val="3E5064"/>
          </a:solidFill>
          <a:ln/>
        </p:spPr>
      </p:sp>
      <p:sp>
        <p:nvSpPr>
          <p:cNvPr id="14" name="Text 12"/>
          <p:cNvSpPr txBox="1"/>
          <p:nvPr/>
        </p:nvSpPr>
        <p:spPr>
          <a:xfrm>
            <a:off x="640080" y="475792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8</a:t>
            </a:r>
            <a:endParaRPr lang="en-US" sz="1500" dirty="0"/>
          </a:p>
        </p:txBody>
      </p:sp>
      <p:sp>
        <p:nvSpPr>
          <p:cNvPr id="15" name="Text 13"/>
          <p:cNvSpPr txBox="1"/>
          <p:nvPr/>
        </p:nvSpPr>
        <p:spPr>
          <a:xfrm>
            <a:off x="1325880" y="464820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Why this used to be invisible</a:t>
            </a:r>
            <a:endParaRPr lang="en-US" sz="1550" dirty="0"/>
          </a:p>
        </p:txBody>
      </p:sp>
      <p:sp>
        <p:nvSpPr>
          <p:cNvPr id="16" name="Text 14"/>
          <p:cNvSpPr txBox="1"/>
          <p:nvPr/>
        </p:nvSpPr>
        <p:spPr>
          <a:xfrm>
            <a:off x="1325880" y="503224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Earlier, there was no MAX_ATTEMPTS — the loop only stopped because attempt * 5 happened to reach 10. That looks bounded but isn't protected by anything; a real harness states its limit explicitly instead of relying on the numbers working out.</a:t>
            </a:r>
            <a:endParaRPr lang="en-US" sz="1300" dirty="0"/>
          </a:p>
        </p:txBody>
      </p:sp>
      <p:sp>
        <p:nvSpPr>
          <p:cNvPr id="17" name="Text 1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8" name="Text 1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4 of 4</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9</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Two ways out of the loop</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enforce_limit reads two different pieces of logic — the loop's own verdict (passed) and the harness's own limit (attempt vs MAX_ATTEMPTS) — and returns exactly one of try_again, done, or give_up. The printed output names which one happened.</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10</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Neither piece can override the other</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The loop decides whether this attempt succeeded. The harness decides whether there gets to be another attempt at all. That split is what makes the stop condition trustworthy instead of accidental.</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How It's Built</a:t>
            </a:r>
            <a:endParaRPr lang="en-US" sz="2400" dirty="0"/>
          </a:p>
        </p:txBody>
      </p:sp>
      <p:sp>
        <p:nvSpPr>
          <p:cNvPr id="3" name="Shape 1"/>
          <p:cNvSpPr/>
          <p:nvPr/>
        </p:nvSpPr>
        <p:spPr>
          <a:xfrm>
            <a:off x="5875020" y="1988820"/>
            <a:ext cx="9144" cy="1143000"/>
          </a:xfrm>
          <a:prstGeom prst="line">
            <a:avLst/>
          </a:prstGeom>
          <a:noFill/>
          <a:ln w="22225">
            <a:solidFill>
              <a:srgbClr val="5B646B"/>
            </a:solidFill>
            <a:prstDash val="solid"/>
          </a:ln>
        </p:spPr>
      </p:sp>
      <p:sp>
        <p:nvSpPr>
          <p:cNvPr id="4" name="Shape 2"/>
          <p:cNvSpPr/>
          <p:nvPr/>
        </p:nvSpPr>
        <p:spPr>
          <a:xfrm rot="10800000">
            <a:off x="5792724" y="3031236"/>
            <a:ext cx="164592" cy="164592"/>
          </a:xfrm>
          <a:prstGeom prst="triangle">
            <a:avLst/>
          </a:prstGeom>
          <a:solidFill>
            <a:srgbClr val="5B646B"/>
          </a:solidFill>
          <a:ln/>
        </p:spPr>
      </p:sp>
      <p:sp>
        <p:nvSpPr>
          <p:cNvPr id="5" name="Shape 3"/>
          <p:cNvSpPr/>
          <p:nvPr/>
        </p:nvSpPr>
        <p:spPr>
          <a:xfrm>
            <a:off x="5875020" y="3131820"/>
            <a:ext cx="9144" cy="1143000"/>
          </a:xfrm>
          <a:prstGeom prst="line">
            <a:avLst/>
          </a:prstGeom>
          <a:noFill/>
          <a:ln w="22225">
            <a:solidFill>
              <a:srgbClr val="5B646B"/>
            </a:solidFill>
            <a:prstDash val="solid"/>
          </a:ln>
        </p:spPr>
      </p:sp>
      <p:sp>
        <p:nvSpPr>
          <p:cNvPr id="6" name="Shape 4"/>
          <p:cNvSpPr/>
          <p:nvPr/>
        </p:nvSpPr>
        <p:spPr>
          <a:xfrm rot="10800000">
            <a:off x="5792724" y="4174236"/>
            <a:ext cx="164592" cy="164592"/>
          </a:xfrm>
          <a:prstGeom prst="triangle">
            <a:avLst/>
          </a:prstGeom>
          <a:solidFill>
            <a:srgbClr val="5B646B"/>
          </a:solidFill>
          <a:ln/>
        </p:spPr>
      </p:sp>
      <p:sp>
        <p:nvSpPr>
          <p:cNvPr id="7" name="Shape 5"/>
          <p:cNvSpPr/>
          <p:nvPr/>
        </p:nvSpPr>
        <p:spPr>
          <a:xfrm>
            <a:off x="5875020" y="4274820"/>
            <a:ext cx="9144" cy="1143000"/>
          </a:xfrm>
          <a:prstGeom prst="line">
            <a:avLst/>
          </a:prstGeom>
          <a:noFill/>
          <a:ln w="22225">
            <a:solidFill>
              <a:srgbClr val="5B646B"/>
            </a:solidFill>
            <a:prstDash val="solid"/>
          </a:ln>
        </p:spPr>
      </p:sp>
      <p:sp>
        <p:nvSpPr>
          <p:cNvPr id="8" name="Shape 6"/>
          <p:cNvSpPr/>
          <p:nvPr/>
        </p:nvSpPr>
        <p:spPr>
          <a:xfrm rot="10800000">
            <a:off x="5792724" y="5317236"/>
            <a:ext cx="164592" cy="164592"/>
          </a:xfrm>
          <a:prstGeom prst="triangle">
            <a:avLst/>
          </a:prstGeom>
          <a:solidFill>
            <a:srgbClr val="5B646B"/>
          </a:solidFill>
          <a:ln/>
        </p:spPr>
      </p:sp>
      <p:sp>
        <p:nvSpPr>
          <p:cNvPr id="9" name="Shape 7"/>
          <p:cNvSpPr/>
          <p:nvPr/>
        </p:nvSpPr>
        <p:spPr>
          <a:xfrm>
            <a:off x="5728716" y="1842516"/>
            <a:ext cx="292608" cy="292608"/>
          </a:xfrm>
          <a:prstGeom prst="ellipse">
            <a:avLst/>
          </a:prstGeom>
          <a:solidFill>
            <a:srgbClr val="1A1E22"/>
          </a:solidFill>
          <a:ln/>
        </p:spPr>
      </p:sp>
      <p:sp>
        <p:nvSpPr>
          <p:cNvPr id="10" name="Text 8"/>
          <p:cNvSpPr txBox="1"/>
          <p:nvPr/>
        </p:nvSpPr>
        <p:spPr>
          <a:xfrm>
            <a:off x="4869180" y="21717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START</a:t>
            </a:r>
            <a:endParaRPr lang="en-US" sz="1000" dirty="0"/>
          </a:p>
        </p:txBody>
      </p:sp>
      <p:sp>
        <p:nvSpPr>
          <p:cNvPr id="11" name="Shape 9"/>
          <p:cNvSpPr/>
          <p:nvPr/>
        </p:nvSpPr>
        <p:spPr>
          <a:xfrm>
            <a:off x="4663440" y="28483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2" name="Text 10"/>
          <p:cNvSpPr txBox="1"/>
          <p:nvPr/>
        </p:nvSpPr>
        <p:spPr>
          <a:xfrm>
            <a:off x="4736592" y="28483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act</a:t>
            </a:r>
            <a:endParaRPr lang="en-US" sz="1150" dirty="0"/>
          </a:p>
        </p:txBody>
      </p:sp>
      <p:sp>
        <p:nvSpPr>
          <p:cNvPr id="13" name="Shape 11"/>
          <p:cNvSpPr/>
          <p:nvPr/>
        </p:nvSpPr>
        <p:spPr>
          <a:xfrm>
            <a:off x="4663440" y="39913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4" name="Text 12"/>
          <p:cNvSpPr txBox="1"/>
          <p:nvPr/>
        </p:nvSpPr>
        <p:spPr>
          <a:xfrm>
            <a:off x="4736592" y="39913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verify</a:t>
            </a:r>
            <a:endParaRPr lang="en-US" sz="1150" dirty="0"/>
          </a:p>
        </p:txBody>
      </p:sp>
      <p:sp>
        <p:nvSpPr>
          <p:cNvPr id="15" name="Shape 13"/>
          <p:cNvSpPr/>
          <p:nvPr/>
        </p:nvSpPr>
        <p:spPr>
          <a:xfrm>
            <a:off x="5728716" y="5271516"/>
            <a:ext cx="292608" cy="292608"/>
          </a:xfrm>
          <a:prstGeom prst="ellipse">
            <a:avLst/>
          </a:prstGeom>
          <a:solidFill>
            <a:srgbClr val="1A1E22"/>
          </a:solidFill>
          <a:ln/>
        </p:spPr>
      </p:sp>
      <p:sp>
        <p:nvSpPr>
          <p:cNvPr id="16" name="Text 14"/>
          <p:cNvSpPr txBox="1"/>
          <p:nvPr/>
        </p:nvSpPr>
        <p:spPr>
          <a:xfrm>
            <a:off x="4869180" y="56007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END</a:t>
            </a:r>
            <a:endParaRPr lang="en-US" sz="1000" dirty="0"/>
          </a:p>
        </p:txBody>
      </p:sp>
      <p:sp>
        <p:nvSpPr>
          <p:cNvPr id="17" name="Shape 15"/>
          <p:cNvSpPr/>
          <p:nvPr/>
        </p:nvSpPr>
        <p:spPr>
          <a:xfrm>
            <a:off x="6926580" y="4274820"/>
            <a:ext cx="4137660" cy="914"/>
          </a:xfrm>
          <a:prstGeom prst="line">
            <a:avLst/>
          </a:prstGeom>
          <a:noFill/>
          <a:ln w="19050">
            <a:solidFill>
              <a:srgbClr val="5B646B"/>
            </a:solidFill>
            <a:prstDash val="solid"/>
          </a:ln>
        </p:spPr>
      </p:sp>
      <p:sp>
        <p:nvSpPr>
          <p:cNvPr id="18" name="Shape 16"/>
          <p:cNvSpPr/>
          <p:nvPr/>
        </p:nvSpPr>
        <p:spPr>
          <a:xfrm>
            <a:off x="11064240" y="3131820"/>
            <a:ext cx="914" cy="1143000"/>
          </a:xfrm>
          <a:prstGeom prst="line">
            <a:avLst/>
          </a:prstGeom>
          <a:noFill/>
          <a:ln w="19050">
            <a:solidFill>
              <a:srgbClr val="5B646B"/>
            </a:solidFill>
            <a:prstDash val="solid"/>
          </a:ln>
        </p:spPr>
      </p:sp>
      <p:sp>
        <p:nvSpPr>
          <p:cNvPr id="19" name="Shape 17"/>
          <p:cNvSpPr/>
          <p:nvPr/>
        </p:nvSpPr>
        <p:spPr>
          <a:xfrm>
            <a:off x="6926580" y="3131820"/>
            <a:ext cx="4137660" cy="914"/>
          </a:xfrm>
          <a:prstGeom prst="line">
            <a:avLst/>
          </a:prstGeom>
          <a:noFill/>
          <a:ln w="19050">
            <a:solidFill>
              <a:srgbClr val="5B646B"/>
            </a:solidFill>
            <a:prstDash val="solid"/>
          </a:ln>
        </p:spPr>
      </p:sp>
      <p:sp>
        <p:nvSpPr>
          <p:cNvPr id="20" name="Shape 18"/>
          <p:cNvSpPr/>
          <p:nvPr/>
        </p:nvSpPr>
        <p:spPr>
          <a:xfrm rot="5400000">
            <a:off x="6835140" y="3067812"/>
            <a:ext cx="128016" cy="128016"/>
          </a:xfrm>
          <a:prstGeom prst="triangle">
            <a:avLst/>
          </a:prstGeom>
          <a:solidFill>
            <a:srgbClr val="5B646B"/>
          </a:solidFill>
          <a:ln/>
        </p:spPr>
      </p:sp>
      <p:sp>
        <p:nvSpPr>
          <p:cNvPr id="21" name="Text 19"/>
          <p:cNvSpPr txBox="1"/>
          <p:nvPr/>
        </p:nvSpPr>
        <p:spPr>
          <a:xfrm>
            <a:off x="11137392" y="3557016"/>
            <a:ext cx="1005840" cy="292608"/>
          </a:xfrm>
          <a:prstGeom prst="rect">
            <a:avLst/>
          </a:prstGeom>
          <a:noFill/>
          <a:ln/>
        </p:spPr>
        <p:txBody>
          <a:bodyPr wrap="none" lIns="0" tIns="0" rIns="0" bIns="0" rtlCol="0" anchor="ctr"/>
          <a:lstStyle/>
          <a:p>
            <a:pPr algn="l" indent="0" marL="0">
              <a:buNone/>
            </a:pPr>
            <a:r>
              <a:rPr lang="en-US" sz="1000" dirty="0">
                <a:solidFill>
                  <a:srgbClr val="5B646B"/>
                </a:solidFill>
                <a:latin typeface="Consolas" pitchFamily="34" charset="0"/>
                <a:ea typeface="Consolas" pitchFamily="34" charset="-122"/>
                <a:cs typeface="Consolas" pitchFamily="34" charset="-120"/>
              </a:rPr>
              <a:t>try_again</a:t>
            </a:r>
            <a:endParaRPr lang="en-US" sz="1000" dirty="0"/>
          </a:p>
        </p:txBody>
      </p:sp>
      <p:sp>
        <p:nvSpPr>
          <p:cNvPr id="25" name="Text 23"/>
          <p:cNvSpPr txBox="1"/>
          <p:nvPr/>
        </p:nvSpPr>
        <p:spPr>
          <a:xfrm>
            <a:off x="6025020" y="4746320"/>
            <a:ext cx="1737360" cy="292608"/>
          </a:xfrm>
          <a:prstGeom prst="rect">
            <a:avLst/>
          </a:prstGeom>
          <a:noFill/>
          <a:ln/>
        </p:spPr>
        <p:txBody>
          <a:bodyPr wrap="none" lIns="0" tIns="0" rIns="0" bIns="0" rtlCol="0" anchor="ctr"/>
          <a:lstStyle/>
          <a:p>
            <a:pPr algn="l" indent="0" marL="0">
              <a:buNone/>
            </a:pPr>
            <a:r>
              <a:rPr lang="en-US" sz="1000" dirty="0">
                <a:solidFill>
                  <a:srgbClr val="5B646B"/>
                </a:solidFill>
                <a:latin typeface="Consolas" pitchFamily="34" charset="0"/>
                <a:ea typeface="Consolas" pitchFamily="34" charset="-122"/>
                <a:cs typeface="Consolas" pitchFamily="34" charset="-120"/>
              </a:rPr>
              <a:t>done · give_up</a:t>
            </a:r>
            <a:endParaRPr lang="en-US" sz="1000" dirty="0"/>
          </a:p>
        </p:txBody>
      </p:sp>
      <p:sp>
        <p:nvSpPr>
          <p:cNvPr id="22" name="Text 20"/>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5B646B"/>
                </a:solidFill>
                <a:latin typeface="Calibri" pitchFamily="34" charset="0"/>
                <a:ea typeface="Calibri" pitchFamily="34" charset="-122"/>
                <a:cs typeface="Calibri" pitchFamily="34" charset="-120"/>
              </a:rPr>
              <a:t>A conditional edge out of verify sends execution back to act (try_again), or forward to END as done (passed) or give_up (harness limit reached).</a:t>
            </a:r>
            <a:endParaRPr lang="en-US" sz="1200" dirty="0"/>
          </a:p>
        </p:txBody>
      </p:sp>
      <p:sp>
        <p:nvSpPr>
          <p:cNvPr id="23" name="Text 21"/>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24" name="Text 22"/>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1 of 5</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"""Session 13: a loop (act/verify/retry) inside a harness (explicit attempt limit)."""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from langgraph.graph import END, START, StateGraph</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MAX_ATTEMPTS = 3</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PASS_THRESHOLD = 10</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def act(state):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attempt = state["attempt"] + 1</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return {"attempt": attempt, "result": attempt * 5}</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13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def verify(state):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return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"attempt": state["attempt"],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17          "result": state["result"],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18          "passed": state["result"] &gt;= PASS_THRESHOLD,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19      }</a:t>
            </a:r>
            <a:endParaRPr lang="en-US" sz="140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2 of 5</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21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22  def enforce_limit(state):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23      if state["passed"]: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24          return "done"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25      if state["attempt"] &gt;= MAX_ATTEMPTS: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26          return "give_up"</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27      return "try_again"</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30  graph_builder = StateGraph(dict)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31  graph_builder.add_node("act", act)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32  graph_builder.add_node("verify", verify)</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33  graph_builder.add_edge(START, "act")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34  graph_builder.add_edge("act", "verify")</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35  graph_builder.add_conditional_edges(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36      "verify",</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37      enforce_limit,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38      {"try_again": "act", "done": END, "give_up": END},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40  graph = graph_builder.compile()</a:t>
            </a:r>
            <a:endParaRPr lang="en-US" sz="14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3 of 5</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41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42  result = graph.invoke({"attempt": 0})</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43  print("Attempts:", result["attempt"])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44  print("Final result:", result["result"])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45  if result["passed"]: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46      print("Stopped because: verification passed")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47  else: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48      print(f"Stopped because: harness hit its {MAX_ATTEMPTS}-attempt limit")</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Deterministic — a simple stand-in for a real verified action loop.</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4 of 5</a:t>
            </a:r>
            <a:endParaRPr lang="en-US" sz="2000" dirty="0"/>
          </a:p>
        </p:txBody>
      </p:sp>
      <p:sp>
        <p:nvSpPr>
          <p:cNvPr id="3" name="Text 1">
            <a:hlinkClick r:id="rId1" tooltip=""/>
          </p:cNvPr>
          <p:cNvSpPr txBox="1"/>
          <p:nvPr/>
        </p:nvSpPr>
        <p:spPr>
          <a:xfrm>
            <a:off x="6800000" y="365760"/>
            <a:ext cx="472144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01_loop_engineering.ipynb</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"""01_loop_engineering.ipynb — three ways to stop"""</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class State(TypedDict):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attempt: int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cost: float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budget: float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max_attempts: int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threshold: int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def route_after_verify(state: 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if state["passed"]: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return "done"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13      if state["cost"] &gt;= state["budget"]: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return "done"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if state["attempt"] &gt;= state["max_attempts"]: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return "done"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17      return "retry"</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A named State means each node returns only what it changed — three runs, three stop reasons.</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5 of 5</a:t>
            </a:r>
            <a:endParaRPr lang="en-US" sz="2000" dirty="0"/>
          </a:p>
        </p:txBody>
      </p:sp>
      <p:sp>
        <p:nvSpPr>
          <p:cNvPr id="3" name="Text 1">
            <a:hlinkClick r:id="rId1" tooltip=""/>
          </p:cNvPr>
          <p:cNvSpPr txBox="1"/>
          <p:nvPr/>
        </p:nvSpPr>
        <p:spPr>
          <a:xfrm>
            <a:off x="6800000" y="365760"/>
            <a:ext cx="472144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02_harness_engineering.ipynb</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"""02_harness_engineering.ipynb — a guardrail and a trace"""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ALLOWED_ACTIONS = {"lookup_order", "check_shipping_status"}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class State(TypedDict):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requested_action: str</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trace: list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allowed: bool</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output: str</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def check_permission(state: 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allowed = state["requested_action"] in ALLOWED_ACTIONS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13      trace = state["trace"] +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return {"trace": trace, "allowed": allowed}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def route_after_permission(state: 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17      return "execute" if state["allowed"] else "reject"</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requested_action is never re-returned — it just carries forward in its own channel.</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Hands-On Lab  ·  ~30 min</a:t>
            </a:r>
            <a:endParaRPr lang="en-US" sz="2400" dirty="0"/>
          </a:p>
        </p:txBody>
      </p:sp>
      <p:sp>
        <p:nvSpPr>
          <p:cNvPr id="3" name="Shape 1"/>
          <p:cNvSpPr/>
          <p:nvPr/>
        </p:nvSpPr>
        <p:spPr>
          <a:xfrm>
            <a:off x="640080" y="1051560"/>
            <a:ext cx="6400800" cy="5394960"/>
          </a:xfrm>
          <a:prstGeom prst="roundRect">
            <a:avLst>
              <a:gd name="adj" fmla="val 1017"/>
            </a:avLst>
          </a:prstGeom>
          <a:solidFill>
            <a:srgbClr val="F5F7F3"/>
          </a:solidFill>
          <a:ln w="12700">
            <a:solidFill>
              <a:srgbClr val="D7DCD1"/>
            </a:solidFill>
            <a:prstDash val="solid"/>
          </a:ln>
        </p:spPr>
      </p:sp>
      <p:sp>
        <p:nvSpPr>
          <p:cNvPr id="4" name="Text 2"/>
          <p:cNvSpPr txBox="1"/>
          <p:nvPr/>
        </p:nvSpPr>
        <p:spPr>
          <a:xfrm>
            <a:off x="868680" y="1188720"/>
            <a:ext cx="5943600" cy="320040"/>
          </a:xfrm>
          <a:prstGeom prst="rect">
            <a:avLst/>
          </a:prstGeom>
          <a:noFill/>
          <a:ln/>
        </p:spPr>
        <p:txBody>
          <a:bodyPr wrap="square" lIns="0" tIns="0" rIns="0" bIns="0" rtlCol="0" anchor="ctr"/>
          <a:lstStyle/>
          <a:p>
            <a:pPr indent="0" marL="0">
              <a:buNone/>
            </a:pPr>
            <a:r>
              <a:rPr lang="en-US" sz="1200" b="1" dirty="0">
                <a:solidFill>
                  <a:srgbClr val="D9932B"/>
                </a:solidFill>
                <a:latin typeface="Consolas" pitchFamily="34" charset="0"/>
                <a:ea typeface="Consolas" pitchFamily="34" charset="-122"/>
                <a:cs typeface="Consolas" pitchFamily="34" charset="-120"/>
              </a:rPr>
              <a:t>Graph to draw</a:t>
            </a:r>
            <a:endParaRPr lang="en-US" sz="1200" dirty="0"/>
          </a:p>
        </p:txBody>
      </p:sp>
      <p:sp>
        <p:nvSpPr>
          <p:cNvPr id="5" name="Text 3"/>
          <p:cNvSpPr txBox="1"/>
          <p:nvPr/>
        </p:nvSpPr>
        <p:spPr>
          <a:xfrm>
            <a:off x="868680" y="1508760"/>
            <a:ext cx="5943600" cy="502920"/>
          </a:xfrm>
          <a:prstGeom prst="rect">
            <a:avLst/>
          </a:prstGeom>
          <a:noFill/>
          <a:ln/>
        </p:spPr>
        <p:txBody>
          <a:bodyPr wrap="square" lIns="0" tIns="0" rIns="0" bIns="0" rtlCol="0" anchor="ctr"/>
          <a:lstStyle/>
          <a:p>
            <a:pPr indent="0" marL="0">
              <a:buNone/>
            </a:pPr>
            <a:r>
              <a:rPr lang="en-US" sz="1300" dirty="0">
                <a:solidFill>
                  <a:srgbClr val="1A1E22"/>
                </a:solidFill>
                <a:latin typeface="Consolas" pitchFamily="34" charset="0"/>
                <a:ea typeface="Consolas" pitchFamily="34" charset="-122"/>
                <a:cs typeface="Consolas" pitchFamily="34" charset="-120"/>
              </a:rPr>
              <a:t>START -&gt; act -&gt; verify -&gt; act or END</a:t>
            </a:r>
            <a:endParaRPr lang="en-US" sz="1300" dirty="0"/>
          </a:p>
        </p:txBody>
      </p:sp>
      <p:sp>
        <p:nvSpPr>
          <p:cNvPr id="6" name="Text 4"/>
          <p:cNvSpPr txBox="1"/>
          <p:nvPr/>
        </p:nvSpPr>
        <p:spPr>
          <a:xfrm>
            <a:off x="868680" y="2148840"/>
            <a:ext cx="5943600" cy="4023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Open example.py and find enforce_limit.</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Name which two things it reads: passed and attempt vs MAX_ATTEMPTS.</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Change PASS_THRESHOLD from 10 to 1000 and watch the harness give up.</a:t>
            </a:r>
            <a:endParaRPr lang="en-US" sz="1250" dirty="0"/>
          </a:p>
        </p:txBody>
      </p:sp>
      <p:sp>
        <p:nvSpPr>
          <p:cNvPr id="7" name="Shape 5"/>
          <p:cNvSpPr/>
          <p:nvPr/>
        </p:nvSpPr>
        <p:spPr>
          <a:xfrm>
            <a:off x="7269480" y="1051560"/>
            <a:ext cx="4251960" cy="5394960"/>
          </a:xfrm>
          <a:prstGeom prst="roundRect">
            <a:avLst>
              <a:gd name="adj" fmla="val 1290"/>
            </a:avLst>
          </a:prstGeom>
          <a:solidFill>
            <a:srgbClr val="14171B"/>
          </a:solidFill>
          <a:ln/>
        </p:spPr>
      </p:sp>
      <p:sp>
        <p:nvSpPr>
          <p:cNvPr id="8" name="Text 6"/>
          <p:cNvSpPr txBox="1"/>
          <p:nvPr/>
        </p:nvSpPr>
        <p:spPr>
          <a:xfrm>
            <a:off x="7498080" y="123444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CONTROL QUESTION</a:t>
            </a:r>
            <a:endParaRPr lang="en-US" sz="1100" dirty="0"/>
          </a:p>
        </p:txBody>
      </p:sp>
      <p:sp>
        <p:nvSpPr>
          <p:cNvPr id="9" name="Text 7"/>
          <p:cNvSpPr txBox="1"/>
          <p:nvPr/>
        </p:nvSpPr>
        <p:spPr>
          <a:xfrm>
            <a:off x="7498080" y="1600200"/>
            <a:ext cx="38404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loop decides whether this attempt succeeded; the harness decides whether there gets to be another attempt at all. Neither can override the other.</a:t>
            </a:r>
            <a:endParaRPr lang="en-US" sz="1300" dirty="0"/>
          </a:p>
        </p:txBody>
      </p:sp>
      <p:sp>
        <p:nvSpPr>
          <p:cNvPr id="10" name="Text 8"/>
          <p:cNvSpPr txBox="1"/>
          <p:nvPr/>
        </p:nvSpPr>
        <p:spPr>
          <a:xfrm>
            <a:off x="7498080" y="365760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RUN IT</a:t>
            </a:r>
            <a:endParaRPr lang="en-US" sz="1100" dirty="0"/>
          </a:p>
        </p:txBody>
      </p:sp>
      <p:sp>
        <p:nvSpPr>
          <p:cNvPr id="11" name="Text 9"/>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150" dirty="0">
                <a:solidFill>
                  <a:srgbClr val="E8ECEF"/>
                </a:solidFill>
                <a:latin typeface="Consolas" pitchFamily="34" charset="0"/>
                <a:ea typeface="Consolas" pitchFamily="34" charset="-122"/>
                <a:cs typeface="Consolas" pitchFamily="34" charset="-120"/>
              </a:rPr>
              <a:t>uv run python</a:t>
            </a:r>
            <a:endParaRPr lang="en-US" sz="1150" dirty="0"/>
          </a:p>
          <a:p>
            <a:pPr indent="0" marL="0">
              <a:buNone/>
            </a:pPr>
            <a:r>
              <a:rPr lang="en-US" sz="1150" dirty="0">
                <a:solidFill>
                  <a:srgbClr val="E8ECEF"/>
                </a:solidFill>
                <a:latin typeface="Consolas" pitchFamily="34" charset="0"/>
                <a:ea typeface="Consolas" pitchFamily="34" charset="-122"/>
                <a:cs typeface="Consolas" pitchFamily="34" charset="-120"/>
              </a:rPr>
              <a:t>Day-13-Harness-Loop-Engineering\example.py</a:t>
            </a:r>
            <a:endParaRPr lang="en-US" sz="115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Assignment</a:t>
            </a:r>
            <a:endParaRPr lang="en-US" sz="2400" dirty="0"/>
          </a:p>
        </p:txBody>
      </p:sp>
      <p:sp>
        <p:nvSpPr>
          <p:cNvPr id="3" name="Text 1"/>
          <p:cNvSpPr txBox="1"/>
          <p:nvPr/>
        </p:nvSpPr>
        <p:spPr>
          <a:xfrm>
            <a:off x="640080" y="960120"/>
            <a:ext cx="10607040" cy="50292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Make one small change to example.py and explain how the result changes.</a:t>
            </a:r>
            <a:endParaRPr lang="en-US" sz="1400" dirty="0"/>
          </a:p>
        </p:txBody>
      </p:sp>
      <p:sp>
        <p:nvSpPr>
          <p:cNvPr id="4" name="Shape 2"/>
          <p:cNvSpPr/>
          <p:nvPr/>
        </p:nvSpPr>
        <p:spPr>
          <a:xfrm>
            <a:off x="640080" y="1600200"/>
            <a:ext cx="6400800" cy="4846320"/>
          </a:xfrm>
          <a:prstGeom prst="roundRect">
            <a:avLst>
              <a:gd name="adj" fmla="val 1132"/>
            </a:avLst>
          </a:prstGeom>
          <a:solidFill>
            <a:srgbClr val="F5F7F3"/>
          </a:solidFill>
          <a:ln w="12700">
            <a:solidFill>
              <a:srgbClr val="D7DCD1"/>
            </a:solidFill>
            <a:prstDash val="solid"/>
          </a:ln>
        </p:spPr>
      </p:sp>
      <p:sp>
        <p:nvSpPr>
          <p:cNvPr id="5" name="Text 3"/>
          <p:cNvSpPr txBox="1"/>
          <p:nvPr/>
        </p:nvSpPr>
        <p:spPr>
          <a:xfrm>
            <a:off x="868680" y="1783080"/>
            <a:ext cx="5943600" cy="4480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Read the sample input near the bottom of example.py.</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current output without running the file.</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from the repository root.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Change only one value — PASS_THRESHOLD or MAX_ATTEMPTS.</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the new route or output, then run again to confirm.</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Write three sentences: what changed, what happened, why.</a:t>
            </a:r>
            <a:endParaRPr lang="en-US" sz="1250" dirty="0"/>
          </a:p>
        </p:txBody>
      </p:sp>
      <p:sp>
        <p:nvSpPr>
          <p:cNvPr id="6" name="Shape 4"/>
          <p:cNvSpPr/>
          <p:nvPr/>
        </p:nvSpPr>
        <p:spPr>
          <a:xfrm>
            <a:off x="7269480" y="1600200"/>
            <a:ext cx="4251960" cy="4846320"/>
          </a:xfrm>
          <a:prstGeom prst="roundRect">
            <a:avLst>
              <a:gd name="adj" fmla="val 1290"/>
            </a:avLst>
          </a:prstGeom>
          <a:solidFill>
            <a:srgbClr val="3E5064"/>
          </a:solidFill>
          <a:ln/>
        </p:spPr>
      </p:sp>
      <p:sp>
        <p:nvSpPr>
          <p:cNvPr id="7" name="Text 5"/>
          <p:cNvSpPr txBox="1"/>
          <p:nvPr/>
        </p:nvSpPr>
        <p:spPr>
          <a:xfrm>
            <a:off x="7498080" y="178308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RULES</a:t>
            </a:r>
            <a:endParaRPr lang="en-US" sz="1100" dirty="0"/>
          </a:p>
        </p:txBody>
      </p:sp>
      <p:sp>
        <p:nvSpPr>
          <p:cNvPr id="8" name="Text 6"/>
          <p:cNvSpPr txBox="1"/>
          <p:nvPr/>
        </p:nvSpPr>
        <p:spPr>
          <a:xfrm>
            <a:off x="7498080" y="2148840"/>
            <a:ext cx="3886200" cy="4206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the example in one Python file.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LangGraph directly.</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test folder or helper package.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the uv commands shown — no other package manager.</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Ollama call — this session is intentionally deterministic.</a:t>
            </a:r>
            <a:endParaRPr lang="en-US" sz="1150" dirty="0"/>
          </a:p>
        </p:txBody>
      </p:sp>
      <p:sp>
        <p:nvSpPr>
          <p:cNvPr id="9" name="Text 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13  ·  HARNESS &amp; LOOP ENGINEERING</a:t>
            </a:r>
            <a:endParaRPr lang="en-US" sz="900" dirty="0"/>
          </a:p>
        </p:txBody>
      </p:sp>
      <p:sp>
        <p:nvSpPr>
          <p:cNvPr id="10" name="Text 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Before You Move On</a:t>
            </a:r>
            <a:endParaRPr lang="en-US" sz="2600" dirty="0"/>
          </a:p>
        </p:txBody>
      </p:sp>
      <p:sp>
        <p:nvSpPr>
          <p:cNvPr id="3" name="Text 1"/>
          <p:cNvSpPr txBox="1"/>
          <p:nvPr/>
        </p:nvSpPr>
        <p:spPr>
          <a:xfrm>
            <a:off x="685800" y="1280160"/>
            <a:ext cx="7498080" cy="4572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The file runs without errors.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name the state, nodes, and edges.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point to the loop (act, verify) and the harness (enforce_limit) as two separate things.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made one small change, prediction first.</a:t>
            </a:r>
            <a:endParaRPr lang="en-US" sz="1350" dirty="0"/>
          </a:p>
        </p:txBody>
      </p:sp>
      <p:sp>
        <p:nvSpPr>
          <p:cNvPr id="4" name="Shape 2"/>
          <p:cNvSpPr/>
          <p:nvPr/>
        </p:nvSpPr>
        <p:spPr>
          <a:xfrm>
            <a:off x="8503920" y="1280160"/>
            <a:ext cx="3017520" cy="4572000"/>
          </a:xfrm>
          <a:prstGeom prst="roundRect">
            <a:avLst>
              <a:gd name="adj" fmla="val 1818"/>
            </a:avLst>
          </a:prstGeom>
          <a:solidFill>
            <a:srgbClr val="1E232A"/>
          </a:solidFill>
          <a:ln w="12700">
            <a:solidFill>
              <a:srgbClr val="2E353D"/>
            </a:solidFill>
            <a:prstDash val="solid"/>
          </a:ln>
        </p:spPr>
      </p:sp>
      <p:sp>
        <p:nvSpPr>
          <p:cNvPr id="5" name="Text 3"/>
          <p:cNvSpPr txBox="1"/>
          <p:nvPr/>
        </p:nvSpPr>
        <p:spPr>
          <a:xfrm>
            <a:off x="8732520" y="1463040"/>
            <a:ext cx="2560320" cy="274320"/>
          </a:xfrm>
          <a:prstGeom prst="rect">
            <a:avLst/>
          </a:prstGeom>
          <a:noFill/>
          <a:ln/>
        </p:spPr>
        <p:txBody>
          <a:bodyPr wrap="square" lIns="0" tIns="0" rIns="0" bIns="0" rtlCol="0" anchor="ctr"/>
          <a:lstStyle/>
          <a:p>
            <a:pPr indent="0" marL="0">
              <a:buNone/>
            </a:pPr>
            <a:r>
              <a:rPr lang="en-US" sz="1000" b="1" spc="100" kern="0" dirty="0">
                <a:solidFill>
                  <a:srgbClr val="D9932B"/>
                </a:solidFill>
                <a:latin typeface="Consolas" pitchFamily="34" charset="0"/>
                <a:ea typeface="Consolas" pitchFamily="34" charset="-122"/>
                <a:cs typeface="Consolas" pitchFamily="34" charset="-120"/>
              </a:rPr>
              <a:t>USEFUL LINKS</a:t>
            </a:r>
            <a:endParaRPr lang="en-US" sz="1000" dirty="0"/>
          </a:p>
        </p:txBody>
      </p:sp>
      <p:sp>
        <p:nvSpPr>
          <p:cNvPr id="6" name="Text 4">
            <a:hlinkClick r:id="rId1" tooltip=""/>
          </p:cNvPr>
          <p:cNvSpPr txBox="1"/>
          <p:nvPr/>
        </p:nvSpPr>
        <p:spPr>
          <a:xfrm>
            <a:off x="8732520" y="18288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 13 README</a:t>
            </a:r>
            <a:endParaRPr lang="en-US" sz="1150" dirty="0"/>
          </a:p>
        </p:txBody>
      </p:sp>
      <p:sp>
        <p:nvSpPr>
          <p:cNvPr id="7" name="Text 5">
            <a:hlinkClick r:id="rId2" tooltip="" action="ppaction://hlinksldjump"/>
          </p:cNvPr>
          <p:cNvSpPr txBox="1"/>
          <p:nvPr/>
        </p:nvSpPr>
        <p:spPr>
          <a:xfrm>
            <a:off x="685800" y="6126480"/>
            <a:ext cx="1828800" cy="32004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8" name="Shape 6"/>
          <p:cNvSpPr/>
          <p:nvPr/>
        </p:nvSpPr>
        <p:spPr>
          <a:xfrm>
            <a:off x="8503920" y="5989320"/>
            <a:ext cx="3017520" cy="548640"/>
          </a:xfrm>
          <a:prstGeom prst="roundRect">
            <a:avLst>
              <a:gd name="adj" fmla="val 50000"/>
            </a:avLst>
          </a:prstGeom>
          <a:solidFill>
            <a:srgbClr val="D9932B"/>
          </a:solidFill>
          <a:ln/>
        </p:spPr>
      </p:sp>
      <p:sp>
        <p:nvSpPr>
          <p:cNvPr id="9" name="Text 7">
            <a:hlinkClick r:id="rId3" tooltip=""/>
          </p:cNvPr>
          <p:cNvSpPr txBox="1"/>
          <p:nvPr/>
        </p:nvSpPr>
        <p:spPr>
          <a:xfrm>
            <a:off x="8503920" y="5989320"/>
            <a:ext cx="3017520" cy="548640"/>
          </a:xfrm>
          <a:prstGeom prst="rect">
            <a:avLst/>
          </a:prstGeom>
          <a:noFill/>
          <a:ln/>
        </p:spPr>
        <p:txBody>
          <a:bodyPr wrap="square" lIns="0" tIns="0" rIns="0" bIns="0" rtlCol="0" anchor="ctr"/>
          <a:lstStyle/>
          <a:p>
            <a:pPr algn="ctr" indent="0" marL="0">
              <a:buNone/>
            </a:pPr>
            <a:r>
              <a:rPr lang="en-US" sz="1200" b="1" u="sng" dirty="0">
                <a:solidFill>
                  <a:srgbClr val="241A0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Next: Day 14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L2 Agent Engineering</dc:creator>
  <cp:lastModifiedBy>L2 Agent Engineering</cp:lastModifiedBy>
  <cp:revision>1</cp:revision>
  <dcterms:created xsi:type="dcterms:W3CDTF">2026-09-07T10:04:29Z</dcterms:created>
  <dcterms:modified xsi:type="dcterms:W3CDTF">2026-09-07T10:04:29Z</dcterms:modified>
</cp:coreProperties>
</file>