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any row to jump straight to that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 a learner reaches the model and reads the response it sends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Day-01-AI-Agent-Foundations/slides.pptx" TargetMode="External"/><Relationship Id="rId2" Type="http://schemas.openxmlformats.org/officeDocument/2006/relationships/slide" Target="slide2.xml"/><Relationship Id="rId3" Type="http://schemas.openxmlformats.org/officeDocument/2006/relationships/hyperlink" Target="../Day-03-LangGraph-Core/slides.pptx" TargetMode="External"/><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6.xml"/><Relationship Id="rId4" Type="http://schemas.openxmlformats.org/officeDocument/2006/relationships/slide" Target="slide7.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example.py"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README.md" TargetMode="External"/><Relationship Id="rId2" Type="http://schemas.openxmlformats.org/officeDocument/2006/relationships/hyperlink" Target="https://github.com/ollama/ollama-python" TargetMode="External"/><Relationship Id="rId3" Type="http://schemas.openxmlformats.org/officeDocument/2006/relationships/slide" Target="slide2.xml"/><Relationship Id="rId4" Type="http://schemas.openxmlformats.org/officeDocument/2006/relationships/hyperlink" Target="../Day-03-LangGraph-Core/slides.pptx" TargetMode="Externa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71B"/>
        </a:solidFill>
      </p:bgPr>
    </p:bg>
    <p:spTree>
      <p:nvGrpSpPr>
        <p:cNvPr id="1" name=""/>
        <p:cNvGrpSpPr/>
        <p:nvPr/>
      </p:nvGrpSpPr>
      <p:grpSpPr>
        <a:xfrm>
          <a:off x="0" y="0"/>
          <a:ext cx="0" cy="0"/>
          <a:chOff x="0" y="0"/>
          <a:chExt cx="0" cy="0"/>
        </a:xfrm>
      </p:grpSpPr>
      <p:sp>
        <p:nvSpPr>
          <p:cNvPr id="2" name="Shape 0"/>
          <p:cNvSpPr/>
          <p:nvPr/>
        </p:nvSpPr>
        <p:spPr>
          <a:xfrm flipV="1">
            <a:off x="9692640" y="685800"/>
            <a:ext cx="1188720" cy="411480"/>
          </a:xfrm>
          <a:prstGeom prst="line">
            <a:avLst/>
          </a:prstGeom>
          <a:noFill/>
          <a:ln w="15875">
            <a:solidFill>
              <a:srgbClr val="8A939A"/>
            </a:solidFill>
            <a:prstDash val="solid"/>
          </a:ln>
        </p:spPr>
      </p:sp>
      <p:sp>
        <p:nvSpPr>
          <p:cNvPr id="3" name="Shape 1"/>
          <p:cNvSpPr/>
          <p:nvPr/>
        </p:nvSpPr>
        <p:spPr>
          <a:xfrm>
            <a:off x="10881360" y="685800"/>
            <a:ext cx="548640" cy="1051560"/>
          </a:xfrm>
          <a:prstGeom prst="line">
            <a:avLst/>
          </a:prstGeom>
          <a:noFill/>
          <a:ln w="15875">
            <a:solidFill>
              <a:srgbClr val="8A939A"/>
            </a:solidFill>
            <a:prstDash val="solid"/>
          </a:ln>
        </p:spPr>
      </p:sp>
      <p:sp>
        <p:nvSpPr>
          <p:cNvPr id="4" name="Shape 2"/>
          <p:cNvSpPr/>
          <p:nvPr/>
        </p:nvSpPr>
        <p:spPr>
          <a:xfrm>
            <a:off x="9692640" y="1097280"/>
            <a:ext cx="685800" cy="1234440"/>
          </a:xfrm>
          <a:prstGeom prst="line">
            <a:avLst/>
          </a:prstGeom>
          <a:noFill/>
          <a:ln w="15875">
            <a:solidFill>
              <a:srgbClr val="8A939A"/>
            </a:solidFill>
            <a:prstDash val="solid"/>
          </a:ln>
        </p:spPr>
      </p:sp>
      <p:sp>
        <p:nvSpPr>
          <p:cNvPr id="5" name="Shape 3"/>
          <p:cNvSpPr/>
          <p:nvPr/>
        </p:nvSpPr>
        <p:spPr>
          <a:xfrm flipV="1">
            <a:off x="10378440" y="1737360"/>
            <a:ext cx="1051560" cy="594360"/>
          </a:xfrm>
          <a:prstGeom prst="line">
            <a:avLst/>
          </a:prstGeom>
          <a:noFill/>
          <a:ln w="15875">
            <a:solidFill>
              <a:srgbClr val="8A939A"/>
            </a:solidFill>
            <a:prstDash val="solid"/>
          </a:ln>
        </p:spPr>
      </p:sp>
      <p:sp>
        <p:nvSpPr>
          <p:cNvPr id="6" name="Shape 4"/>
          <p:cNvSpPr/>
          <p:nvPr/>
        </p:nvSpPr>
        <p:spPr>
          <a:xfrm>
            <a:off x="10378440" y="2331720"/>
            <a:ext cx="914400" cy="548640"/>
          </a:xfrm>
          <a:prstGeom prst="line">
            <a:avLst/>
          </a:prstGeom>
          <a:noFill/>
          <a:ln w="15875">
            <a:solidFill>
              <a:srgbClr val="8A939A"/>
            </a:solidFill>
            <a:prstDash val="solid"/>
          </a:ln>
        </p:spPr>
      </p:sp>
      <p:sp>
        <p:nvSpPr>
          <p:cNvPr id="7" name="Shape 5"/>
          <p:cNvSpPr/>
          <p:nvPr/>
        </p:nvSpPr>
        <p:spPr>
          <a:xfrm flipH="1">
            <a:off x="11292840" y="1737360"/>
            <a:ext cx="137160" cy="1143000"/>
          </a:xfrm>
          <a:prstGeom prst="line">
            <a:avLst/>
          </a:prstGeom>
          <a:noFill/>
          <a:ln w="15875">
            <a:solidFill>
              <a:srgbClr val="8A939A"/>
            </a:solidFill>
            <a:prstDash val="solid"/>
          </a:ln>
        </p:spPr>
      </p:sp>
      <p:sp>
        <p:nvSpPr>
          <p:cNvPr id="8" name="Shape 6"/>
          <p:cNvSpPr/>
          <p:nvPr/>
        </p:nvSpPr>
        <p:spPr>
          <a:xfrm>
            <a:off x="9308592" y="713232"/>
            <a:ext cx="768096" cy="768096"/>
          </a:xfrm>
          <a:prstGeom prst="ellipse">
            <a:avLst/>
          </a:prstGeom>
          <a:solidFill>
            <a:srgbClr val="3E5064"/>
          </a:solidFill>
          <a:ln/>
        </p:spPr>
      </p:sp>
      <p:sp>
        <p:nvSpPr>
          <p:cNvPr id="9" name="Shape 7"/>
          <p:cNvSpPr/>
          <p:nvPr/>
        </p:nvSpPr>
        <p:spPr>
          <a:xfrm>
            <a:off x="10625328" y="429768"/>
            <a:ext cx="512064" cy="512064"/>
          </a:xfrm>
          <a:prstGeom prst="ellipse">
            <a:avLst/>
          </a:prstGeom>
          <a:solidFill>
            <a:srgbClr val="D9932B"/>
          </a:solidFill>
          <a:ln/>
        </p:spPr>
      </p:sp>
      <p:sp>
        <p:nvSpPr>
          <p:cNvPr id="10" name="Shape 8"/>
          <p:cNvSpPr/>
          <p:nvPr/>
        </p:nvSpPr>
        <p:spPr>
          <a:xfrm>
            <a:off x="11009376" y="1316736"/>
            <a:ext cx="841248" cy="841248"/>
          </a:xfrm>
          <a:prstGeom prst="ellipse">
            <a:avLst/>
          </a:prstGeom>
          <a:solidFill>
            <a:srgbClr val="3E5064"/>
          </a:solidFill>
          <a:ln/>
        </p:spPr>
      </p:sp>
      <p:sp>
        <p:nvSpPr>
          <p:cNvPr id="11" name="Shape 9"/>
          <p:cNvSpPr/>
          <p:nvPr/>
        </p:nvSpPr>
        <p:spPr>
          <a:xfrm>
            <a:off x="10076688" y="2029968"/>
            <a:ext cx="603504" cy="603504"/>
          </a:xfrm>
          <a:prstGeom prst="ellipse">
            <a:avLst/>
          </a:prstGeom>
          <a:solidFill>
            <a:srgbClr val="57646F"/>
          </a:solidFill>
          <a:ln/>
        </p:spPr>
      </p:sp>
      <p:sp>
        <p:nvSpPr>
          <p:cNvPr id="12" name="Shape 10"/>
          <p:cNvSpPr/>
          <p:nvPr/>
        </p:nvSpPr>
        <p:spPr>
          <a:xfrm>
            <a:off x="11055096" y="2642616"/>
            <a:ext cx="475488" cy="475488"/>
          </a:xfrm>
          <a:prstGeom prst="ellipse">
            <a:avLst/>
          </a:prstGeom>
          <a:solidFill>
            <a:srgbClr val="D9932B"/>
          </a:solidFill>
          <a:ln/>
        </p:spPr>
      </p:sp>
      <p:sp>
        <p:nvSpPr>
          <p:cNvPr id="13" name="Text 11"/>
          <p:cNvSpPr txBox="1"/>
          <p:nvPr/>
        </p:nvSpPr>
        <p:spPr>
          <a:xfrm>
            <a:off x="640080" y="502920"/>
            <a:ext cx="5486400" cy="457200"/>
          </a:xfrm>
          <a:prstGeom prst="rect">
            <a:avLst/>
          </a:prstGeom>
          <a:noFill/>
          <a:ln/>
        </p:spPr>
        <p:txBody>
          <a:bodyPr wrap="square" lIns="0" tIns="0" rIns="0" bIns="0" rtlCol="0" anchor="ctr"/>
          <a:lstStyle/>
          <a:p>
            <a:pPr indent="0" marL="0">
              <a:buNone/>
            </a:pPr>
            <a:r>
              <a:rPr lang="en-US" sz="1600" b="1" spc="200" kern="0" dirty="0">
                <a:solidFill>
                  <a:srgbClr val="D9932B"/>
                </a:solidFill>
                <a:latin typeface="Consolas" pitchFamily="34" charset="0"/>
                <a:ea typeface="Consolas" pitchFamily="34" charset="-122"/>
                <a:cs typeface="Consolas" pitchFamily="34" charset="-120"/>
              </a:rPr>
              <a:t>DAY 02</a:t>
            </a:r>
            <a:endParaRPr lang="en-US" sz="1600" dirty="0"/>
          </a:p>
        </p:txBody>
      </p:sp>
      <p:sp>
        <p:nvSpPr>
          <p:cNvPr id="14" name="Text 12"/>
          <p:cNvSpPr txBox="1"/>
          <p:nvPr/>
        </p:nvSpPr>
        <p:spPr>
          <a:xfrm>
            <a:off x="640080" y="914400"/>
            <a:ext cx="7315200" cy="365760"/>
          </a:xfrm>
          <a:prstGeom prst="rect">
            <a:avLst/>
          </a:prstGeom>
          <a:noFill/>
          <a:ln/>
        </p:spPr>
        <p:txBody>
          <a:bodyPr wrap="square" lIns="0" tIns="0" rIns="0" bIns="0" rtlCol="0" anchor="ctr"/>
          <a:lstStyle/>
          <a:p>
            <a:pPr indent="0" marL="0">
              <a:buNone/>
            </a:pPr>
            <a:r>
              <a:rPr lang="en-US" sz="1200" spc="150" kern="0" dirty="0">
                <a:solidFill>
                  <a:srgbClr val="8A939A"/>
                </a:solidFill>
                <a:latin typeface="Consolas" pitchFamily="34" charset="0"/>
                <a:ea typeface="Consolas" pitchFamily="34" charset="-122"/>
                <a:cs typeface="Consolas" pitchFamily="34" charset="-120"/>
              </a:rPr>
              <a:t>DEVELOP</a:t>
            </a:r>
            <a:endParaRPr lang="en-US" sz="1200" dirty="0"/>
          </a:p>
        </p:txBody>
      </p:sp>
      <p:sp>
        <p:nvSpPr>
          <p:cNvPr id="15" name="Text 13"/>
          <p:cNvSpPr txBox="1"/>
          <p:nvPr/>
        </p:nvSpPr>
        <p:spPr>
          <a:xfrm>
            <a:off x="594360" y="2606040"/>
            <a:ext cx="8778240" cy="1737360"/>
          </a:xfrm>
          <a:prstGeom prst="rect">
            <a:avLst/>
          </a:prstGeom>
          <a:noFill/>
          <a:ln/>
        </p:spPr>
        <p:txBody>
          <a:bodyPr wrap="square" lIns="0" tIns="0" rIns="0" bIns="0" rtlCol="0" anchor="b"/>
          <a:lstStyle/>
          <a:p>
            <a:pPr indent="0" marL="0">
              <a:buNone/>
            </a:pPr>
            <a:r>
              <a:rPr lang="en-US" sz="4000" b="1" dirty="0">
                <a:solidFill>
                  <a:srgbClr val="FFFFFF"/>
                </a:solidFill>
                <a:latin typeface="Consolas" pitchFamily="34" charset="0"/>
                <a:ea typeface="Consolas" pitchFamily="34" charset="-122"/>
                <a:cs typeface="Consolas" pitchFamily="34" charset="-120"/>
              </a:rPr>
              <a:t>Development Foundation</a:t>
            </a:r>
            <a:endParaRPr lang="en-US" sz="4000" dirty="0"/>
          </a:p>
        </p:txBody>
      </p:sp>
      <p:sp>
        <p:nvSpPr>
          <p:cNvPr id="16" name="Text 14"/>
          <p:cNvSpPr txBox="1"/>
          <p:nvPr/>
        </p:nvSpPr>
        <p:spPr>
          <a:xfrm>
            <a:off x="640080" y="4434840"/>
            <a:ext cx="7863840" cy="822960"/>
          </a:xfrm>
          <a:prstGeom prst="rect">
            <a:avLst/>
          </a:prstGeom>
          <a:noFill/>
          <a:ln/>
        </p:spPr>
        <p:txBody>
          <a:bodyPr wrap="square" lIns="0" tIns="0" rIns="0" bIns="0" rtlCol="0" anchor="ctr"/>
          <a:lstStyle/>
          <a:p>
            <a:pPr indent="0" marL="0">
              <a:buNone/>
            </a:pPr>
            <a:r>
              <a:rPr lang="en-US" sz="1500" i="1" dirty="0">
                <a:solidFill>
                  <a:srgbClr val="8A939A"/>
                </a:solidFill>
                <a:latin typeface="Calibri" pitchFamily="34" charset="0"/>
                <a:ea typeface="Calibri" pitchFamily="34" charset="-122"/>
                <a:cs typeface="Calibri" pitchFamily="34" charset="-120"/>
              </a:rPr>
              <a:t>Your first live call to the course model, wired through one node.</a:t>
            </a:r>
            <a:endParaRPr lang="en-US" sz="1500" dirty="0"/>
          </a:p>
        </p:txBody>
      </p:sp>
      <p:sp>
        <p:nvSpPr>
          <p:cNvPr id="17" name="Text 15">
            <a:hlinkClick r:id="rId1" tooltip=""/>
          </p:cNvPr>
          <p:cNvSpPr txBox="1"/>
          <p:nvPr/>
        </p:nvSpPr>
        <p:spPr>
          <a:xfrm>
            <a:off x="640080" y="5989320"/>
            <a:ext cx="3840480" cy="36576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Day 1</a:t>
            </a:r>
            <a:endParaRPr lang="en-US" sz="1100" dirty="0"/>
          </a:p>
        </p:txBody>
      </p:sp>
      <p:sp>
        <p:nvSpPr>
          <p:cNvPr id="18" name="Text 16">
            <a:hlinkClick r:id="rId2" tooltip="" action="ppaction://hlinksldjump"/>
          </p:cNvPr>
          <p:cNvSpPr txBox="1"/>
          <p:nvPr/>
        </p:nvSpPr>
        <p:spPr>
          <a:xfrm>
            <a:off x="5029200" y="5989320"/>
            <a:ext cx="2103120" cy="365760"/>
          </a:xfrm>
          <a:prstGeom prst="rect">
            <a:avLst/>
          </a:prstGeom>
          <a:noFill/>
          <a:ln/>
        </p:spPr>
        <p:txBody>
          <a:bodyPr wrap="square" lIns="0" tIns="0" rIns="0" bIns="0" rtlCol="0" anchor="ctr"/>
          <a:lstStyle/>
          <a:p>
            <a:pPr algn="ctr" indent="0" marL="0">
              <a:buNone/>
            </a:pPr>
            <a:r>
              <a:rPr lang="en-US" sz="1100" u="sng" dirty="0">
                <a:solidFill>
                  <a:srgbClr val="D9932B"/>
                </a:solidFill>
                <a:latin typeface="Consolas" pitchFamily="34" charset="0"/>
                <a:ea typeface="Consolas" pitchFamily="34" charset="-122"/>
                <a:cs typeface="Consolas" pitchFamily="34" charset="-120"/>
                <a:hlinkClick r:id="rId2"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19" name="Text 17">
            <a:hlinkClick r:id="rId3" tooltip=""/>
          </p:cNvPr>
          <p:cNvSpPr txBox="1"/>
          <p:nvPr/>
        </p:nvSpPr>
        <p:spPr>
          <a:xfrm>
            <a:off x="7680960" y="5989320"/>
            <a:ext cx="3840480" cy="365760"/>
          </a:xfrm>
          <a:prstGeom prst="rect">
            <a:avLst/>
          </a:prstGeom>
          <a:noFill/>
          <a:ln/>
        </p:spPr>
        <p:txBody>
          <a:bodyPr wrap="square" lIns="0" tIns="0" rIns="0" bIns="0" rtlCol="0" anchor="ctr"/>
          <a:lstStyle/>
          <a:p>
            <a:pPr algn="r" indent="0" marL="0">
              <a:buNone/>
            </a:pPr>
            <a:r>
              <a:rPr lang="en-US" sz="1100" u="sng" dirty="0">
                <a:solidFill>
                  <a:srgbClr val="8A939A"/>
                </a:solidFill>
                <a:latin typeface="Consolas" pitchFamily="34" charset="0"/>
                <a:ea typeface="Consolas" pitchFamily="34" charset="-122"/>
                <a:cs typeface="Consolas" pitchFamily="34" charset="-120"/>
                <a:hlinkClick r:id="rId3" invalidUrl="" action="" tgtFrame="" tooltip="" history="1" highlightClick="0" endSnd="0">
                  <a:extLst>
                    <a:ext uri="{A12FA001-AC4F-418D-AE19-62706E023703}">
                      <ahyp:hlinkClr xmlns:ahyp="http://schemas.microsoft.com/office/drawing/2018/hyperlinkcolor" val="tx"/>
                    </a:ext>
                  </a:extLst>
                </a:hlinkClick>
              </a:rPr>
              <a:t>Day 3  →</a:t>
            </a:r>
            <a:endParaRPr lang="en-US" sz="1100" dirty="0"/>
          </a:p>
        </p:txBody>
      </p:sp>
      <p:sp>
        <p:nvSpPr>
          <p:cNvPr id="20" name="Text 18"/>
          <p:cNvSpPr txBox="1"/>
          <p:nvPr/>
        </p:nvSpPr>
        <p:spPr>
          <a:xfrm>
            <a:off x="640080" y="6419088"/>
            <a:ext cx="7315200" cy="320040"/>
          </a:xfrm>
          <a:prstGeom prst="rect">
            <a:avLst/>
          </a:prstGeom>
          <a:noFill/>
          <a:ln/>
        </p:spPr>
        <p:txBody>
          <a:bodyPr wrap="square" lIns="0" tIns="0" rIns="0" bIns="0" rtlCol="0" anchor="ctr"/>
          <a:lstStyle/>
          <a:p>
            <a:pPr indent="0" marL="0">
              <a:buNone/>
            </a:pPr>
            <a:r>
              <a:rPr lang="en-US" sz="1050" dirty="0">
                <a:solidFill>
                  <a:srgbClr val="8A939A"/>
                </a:solidFill>
                <a:latin typeface="Consolas" pitchFamily="34" charset="0"/>
                <a:ea typeface="Consolas" pitchFamily="34" charset="-122"/>
                <a:cs typeface="Consolas" pitchFamily="34" charset="-120"/>
              </a:rPr>
              <a:t>uv run python Day-02-Development-Foundation\example.py</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9144000" cy="640080"/>
          </a:xfrm>
          <a:prstGeom prst="rect">
            <a:avLst/>
          </a:prstGeom>
          <a:noFill/>
          <a:ln/>
        </p:spPr>
        <p:txBody>
          <a:bodyPr wrap="square" lIns="0" tIns="0" rIns="0" bIns="0" rtlCol="0" anchor="ctr"/>
          <a:lstStyle/>
          <a:p>
            <a:pPr indent="0" marL="0">
              <a:buNone/>
            </a:pPr>
            <a:r>
              <a:rPr lang="en-US" sz="2800" b="1" dirty="0">
                <a:solidFill>
                  <a:srgbClr val="1A1E22"/>
                </a:solidFill>
                <a:latin typeface="Consolas" pitchFamily="34" charset="0"/>
                <a:ea typeface="Consolas" pitchFamily="34" charset="-122"/>
                <a:cs typeface="Consolas" pitchFamily="34" charset="-120"/>
              </a:rPr>
              <a:t>What's Inside Today</a:t>
            </a:r>
            <a:endParaRPr lang="en-US" sz="2800" dirty="0"/>
          </a:p>
        </p:txBody>
      </p:sp>
      <p:sp>
        <p:nvSpPr>
          <p:cNvPr id="3" name="Text 1"/>
          <p:cNvSpPr txBox="1"/>
          <p:nvPr/>
        </p:nvSpPr>
        <p:spPr>
          <a:xfrm>
            <a:off x="640080" y="1051560"/>
            <a:ext cx="9144000" cy="36576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Development Foundation</a:t>
            </a:r>
            <a:endParaRPr lang="en-US" sz="1400" dirty="0"/>
          </a:p>
        </p:txBody>
      </p:sp>
      <p:sp>
        <p:nvSpPr>
          <p:cNvPr id="4" name="Shape 2"/>
          <p:cNvSpPr/>
          <p:nvPr/>
        </p:nvSpPr>
        <p:spPr>
          <a:xfrm>
            <a:off x="640080" y="1783080"/>
            <a:ext cx="5120640" cy="685800"/>
          </a:xfrm>
          <a:prstGeom prst="roundRect">
            <a:avLst>
              <a:gd name="adj" fmla="val 8000"/>
            </a:avLst>
          </a:prstGeom>
          <a:solidFill>
            <a:srgbClr val="F5F7F3"/>
          </a:solidFill>
          <a:ln w="12700">
            <a:solidFill>
              <a:srgbClr val="D7DCD1"/>
            </a:solidFill>
            <a:prstDash val="solid"/>
          </a:ln>
        </p:spPr>
      </p:sp>
      <p:sp>
        <p:nvSpPr>
          <p:cNvPr id="5" name="Text 3"/>
          <p:cNvSpPr txBox="1"/>
          <p:nvPr/>
        </p:nvSpPr>
        <p:spPr>
          <a:xfrm>
            <a:off x="80467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01</a:t>
            </a:r>
            <a:endParaRPr lang="en-US" sz="1600" dirty="0"/>
          </a:p>
        </p:txBody>
      </p:sp>
      <p:sp>
        <p:nvSpPr>
          <p:cNvPr id="6" name="Text 4">
            <a:hlinkClick r:id="rId1" tooltip="" action="ppaction://hlinksldjump"/>
          </p:cNvPr>
          <p:cNvSpPr txBox="1"/>
          <p:nvPr/>
        </p:nvSpPr>
        <p:spPr>
          <a:xfrm>
            <a:off x="141732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1" action="ppaction://hlinksldjump" tooltip="">
                  <a:extLst>
                    <a:ext uri="{A12FA001-AC4F-418D-AE19-62706E023703}">
                      <ahyp:hlinkClr xmlns:ahyp="http://schemas.microsoft.com/office/drawing/2018/hyperlinkcolor" val="tx"/>
                    </a:ext>
                  </a:extLst>
                </a:hlinkClick>
              </a:rPr>
              <a:t>Why This Matters</a:t>
            </a:r>
            <a:endParaRPr lang="en-US" sz="1350" dirty="0"/>
          </a:p>
        </p:txBody>
      </p:sp>
      <p:sp>
        <p:nvSpPr>
          <p:cNvPr id="7" name="Shape 5"/>
          <p:cNvSpPr/>
          <p:nvPr/>
        </p:nvSpPr>
        <p:spPr>
          <a:xfrm>
            <a:off x="6217920" y="1783080"/>
            <a:ext cx="5120640" cy="685800"/>
          </a:xfrm>
          <a:prstGeom prst="roundRect">
            <a:avLst>
              <a:gd name="adj" fmla="val 8000"/>
            </a:avLst>
          </a:prstGeom>
          <a:solidFill>
            <a:srgbClr val="F5F7F3"/>
          </a:solidFill>
          <a:ln w="12700">
            <a:solidFill>
              <a:srgbClr val="D7DCD1"/>
            </a:solidFill>
            <a:prstDash val="solid"/>
          </a:ln>
        </p:spPr>
      </p:sp>
      <p:sp>
        <p:nvSpPr>
          <p:cNvPr id="8" name="Text 6"/>
          <p:cNvSpPr txBox="1"/>
          <p:nvPr/>
        </p:nvSpPr>
        <p:spPr>
          <a:xfrm>
            <a:off x="6382512" y="178308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02</a:t>
            </a:r>
            <a:endParaRPr lang="en-US" sz="1600" dirty="0"/>
          </a:p>
        </p:txBody>
      </p:sp>
      <p:sp>
        <p:nvSpPr>
          <p:cNvPr id="9" name="Text 7">
            <a:hlinkClick r:id="rId2" tooltip="" action="ppaction://hlinksldjump"/>
          </p:cNvPr>
          <p:cNvSpPr txBox="1"/>
          <p:nvPr/>
        </p:nvSpPr>
        <p:spPr>
          <a:xfrm>
            <a:off x="6995160" y="178308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2" action="ppaction://hlinksldjump" tooltip="">
                  <a:extLst>
                    <a:ext uri="{A12FA001-AC4F-418D-AE19-62706E023703}">
                      <ahyp:hlinkClr xmlns:ahyp="http://schemas.microsoft.com/office/drawing/2018/hyperlinkcolor" val="tx"/>
                    </a:ext>
                  </a:extLst>
                </a:hlinkClick>
              </a:rPr>
              <a:t>Key Concepts</a:t>
            </a:r>
            <a:endParaRPr lang="en-US" sz="1350" dirty="0"/>
          </a:p>
        </p:txBody>
      </p:sp>
      <p:sp>
        <p:nvSpPr>
          <p:cNvPr id="10" name="Shape 8"/>
          <p:cNvSpPr/>
          <p:nvPr/>
        </p:nvSpPr>
        <p:spPr>
          <a:xfrm>
            <a:off x="640080" y="2651760"/>
            <a:ext cx="5120640" cy="685800"/>
          </a:xfrm>
          <a:prstGeom prst="roundRect">
            <a:avLst>
              <a:gd name="adj" fmla="val 8000"/>
            </a:avLst>
          </a:prstGeom>
          <a:solidFill>
            <a:srgbClr val="F5F7F3"/>
          </a:solidFill>
          <a:ln w="12700">
            <a:solidFill>
              <a:srgbClr val="D7DCD1"/>
            </a:solidFill>
            <a:prstDash val="solid"/>
          </a:ln>
        </p:spPr>
      </p:sp>
      <p:sp>
        <p:nvSpPr>
          <p:cNvPr id="11" name="Text 9"/>
          <p:cNvSpPr txBox="1"/>
          <p:nvPr/>
        </p:nvSpPr>
        <p:spPr>
          <a:xfrm>
            <a:off x="80467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03</a:t>
            </a:r>
            <a:endParaRPr lang="en-US" sz="1600" dirty="0"/>
          </a:p>
        </p:txBody>
      </p:sp>
      <p:sp>
        <p:nvSpPr>
          <p:cNvPr id="12" name="Text 10">
            <a:hlinkClick r:id="rId3" tooltip="" action="ppaction://hlinksldjump"/>
          </p:cNvPr>
          <p:cNvSpPr txBox="1"/>
          <p:nvPr/>
        </p:nvSpPr>
        <p:spPr>
          <a:xfrm>
            <a:off x="141732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3" action="ppaction://hlinksldjump" tooltip="">
                  <a:extLst>
                    <a:ext uri="{A12FA001-AC4F-418D-AE19-62706E023703}">
                      <ahyp:hlinkClr xmlns:ahyp="http://schemas.microsoft.com/office/drawing/2018/hyperlinkcolor" val="tx"/>
                    </a:ext>
                  </a:extLst>
                </a:hlinkClick>
              </a:rPr>
              <a:t>How It's Built</a:t>
            </a:r>
            <a:endParaRPr lang="en-US" sz="1350" dirty="0"/>
          </a:p>
        </p:txBody>
      </p:sp>
      <p:sp>
        <p:nvSpPr>
          <p:cNvPr id="13" name="Shape 11"/>
          <p:cNvSpPr/>
          <p:nvPr/>
        </p:nvSpPr>
        <p:spPr>
          <a:xfrm>
            <a:off x="6217920" y="2651760"/>
            <a:ext cx="5120640" cy="685800"/>
          </a:xfrm>
          <a:prstGeom prst="roundRect">
            <a:avLst>
              <a:gd name="adj" fmla="val 8000"/>
            </a:avLst>
          </a:prstGeom>
          <a:solidFill>
            <a:srgbClr val="F5F7F3"/>
          </a:solidFill>
          <a:ln w="12700">
            <a:solidFill>
              <a:srgbClr val="D7DCD1"/>
            </a:solidFill>
            <a:prstDash val="solid"/>
          </a:ln>
        </p:spPr>
      </p:sp>
      <p:sp>
        <p:nvSpPr>
          <p:cNvPr id="14" name="Text 12"/>
          <p:cNvSpPr txBox="1"/>
          <p:nvPr/>
        </p:nvSpPr>
        <p:spPr>
          <a:xfrm>
            <a:off x="6382512" y="265176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04</a:t>
            </a:r>
            <a:endParaRPr lang="en-US" sz="1600" dirty="0"/>
          </a:p>
        </p:txBody>
      </p:sp>
      <p:sp>
        <p:nvSpPr>
          <p:cNvPr id="15" name="Text 13">
            <a:hlinkClick r:id="rId4" tooltip="" action="ppaction://hlinksldjump"/>
          </p:cNvPr>
          <p:cNvSpPr txBox="1"/>
          <p:nvPr/>
        </p:nvSpPr>
        <p:spPr>
          <a:xfrm>
            <a:off x="6995160" y="265176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4" action="ppaction://hlinksldjump" tooltip="">
                  <a:extLst>
                    <a:ext uri="{A12FA001-AC4F-418D-AE19-62706E023703}">
                      <ahyp:hlinkClr xmlns:ahyp="http://schemas.microsoft.com/office/drawing/2018/hyperlinkcolor" val="tx"/>
                    </a:ext>
                  </a:extLst>
                </a:hlinkClick>
              </a:rPr>
              <a:t>The Code</a:t>
            </a:r>
            <a:endParaRPr lang="en-US" sz="1350" dirty="0"/>
          </a:p>
        </p:txBody>
      </p:sp>
      <p:sp>
        <p:nvSpPr>
          <p:cNvPr id="16" name="Shape 14"/>
          <p:cNvSpPr/>
          <p:nvPr/>
        </p:nvSpPr>
        <p:spPr>
          <a:xfrm>
            <a:off x="640080" y="3520440"/>
            <a:ext cx="5120640" cy="685800"/>
          </a:xfrm>
          <a:prstGeom prst="roundRect">
            <a:avLst>
              <a:gd name="adj" fmla="val 8000"/>
            </a:avLst>
          </a:prstGeom>
          <a:solidFill>
            <a:srgbClr val="F5F7F3"/>
          </a:solidFill>
          <a:ln w="12700">
            <a:solidFill>
              <a:srgbClr val="D7DCD1"/>
            </a:solidFill>
            <a:prstDash val="solid"/>
          </a:ln>
        </p:spPr>
      </p:sp>
      <p:sp>
        <p:nvSpPr>
          <p:cNvPr id="17" name="Text 15"/>
          <p:cNvSpPr txBox="1"/>
          <p:nvPr/>
        </p:nvSpPr>
        <p:spPr>
          <a:xfrm>
            <a:off x="80467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05</a:t>
            </a:r>
            <a:endParaRPr lang="en-US" sz="1600" dirty="0"/>
          </a:p>
        </p:txBody>
      </p:sp>
      <p:sp>
        <p:nvSpPr>
          <p:cNvPr id="18" name="Text 16">
            <a:hlinkClick r:id="rId5" tooltip="" action="ppaction://hlinksldjump"/>
          </p:cNvPr>
          <p:cNvSpPr txBox="1"/>
          <p:nvPr/>
        </p:nvSpPr>
        <p:spPr>
          <a:xfrm>
            <a:off x="141732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5" action="ppaction://hlinksldjump" tooltip="">
                  <a:extLst>
                    <a:ext uri="{A12FA001-AC4F-418D-AE19-62706E023703}">
                      <ahyp:hlinkClr xmlns:ahyp="http://schemas.microsoft.com/office/drawing/2018/hyperlinkcolor" val="tx"/>
                    </a:ext>
                  </a:extLst>
                </a:hlinkClick>
              </a:rPr>
              <a:t>Hands-On Lab</a:t>
            </a:r>
            <a:endParaRPr lang="en-US" sz="1350" dirty="0"/>
          </a:p>
        </p:txBody>
      </p:sp>
      <p:sp>
        <p:nvSpPr>
          <p:cNvPr id="19" name="Shape 17"/>
          <p:cNvSpPr/>
          <p:nvPr/>
        </p:nvSpPr>
        <p:spPr>
          <a:xfrm>
            <a:off x="6217920" y="3520440"/>
            <a:ext cx="5120640" cy="685800"/>
          </a:xfrm>
          <a:prstGeom prst="roundRect">
            <a:avLst>
              <a:gd name="adj" fmla="val 8000"/>
            </a:avLst>
          </a:prstGeom>
          <a:solidFill>
            <a:srgbClr val="F5F7F3"/>
          </a:solidFill>
          <a:ln w="12700">
            <a:solidFill>
              <a:srgbClr val="D7DCD1"/>
            </a:solidFill>
            <a:prstDash val="solid"/>
          </a:ln>
        </p:spPr>
      </p:sp>
      <p:sp>
        <p:nvSpPr>
          <p:cNvPr id="20" name="Text 18"/>
          <p:cNvSpPr txBox="1"/>
          <p:nvPr/>
        </p:nvSpPr>
        <p:spPr>
          <a:xfrm>
            <a:off x="6382512" y="352044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06</a:t>
            </a:r>
            <a:endParaRPr lang="en-US" sz="1600" dirty="0"/>
          </a:p>
        </p:txBody>
      </p:sp>
      <p:sp>
        <p:nvSpPr>
          <p:cNvPr id="21" name="Text 19">
            <a:hlinkClick r:id="rId6" tooltip="" action="ppaction://hlinksldjump"/>
          </p:cNvPr>
          <p:cNvSpPr txBox="1"/>
          <p:nvPr/>
        </p:nvSpPr>
        <p:spPr>
          <a:xfrm>
            <a:off x="6995160" y="352044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6" action="ppaction://hlinksldjump" tooltip="">
                  <a:extLst>
                    <a:ext uri="{A12FA001-AC4F-418D-AE19-62706E023703}">
                      <ahyp:hlinkClr xmlns:ahyp="http://schemas.microsoft.com/office/drawing/2018/hyperlinkcolor" val="tx"/>
                    </a:ext>
                  </a:extLst>
                </a:hlinkClick>
              </a:rPr>
              <a:t>Assignment</a:t>
            </a:r>
            <a:endParaRPr lang="en-US" sz="1350" dirty="0"/>
          </a:p>
        </p:txBody>
      </p:sp>
      <p:sp>
        <p:nvSpPr>
          <p:cNvPr id="22" name="Shape 20"/>
          <p:cNvSpPr/>
          <p:nvPr/>
        </p:nvSpPr>
        <p:spPr>
          <a:xfrm>
            <a:off x="640080" y="4389120"/>
            <a:ext cx="5120640" cy="685800"/>
          </a:xfrm>
          <a:prstGeom prst="roundRect">
            <a:avLst>
              <a:gd name="adj" fmla="val 8000"/>
            </a:avLst>
          </a:prstGeom>
          <a:solidFill>
            <a:srgbClr val="F5F7F3"/>
          </a:solidFill>
          <a:ln w="12700">
            <a:solidFill>
              <a:srgbClr val="D7DCD1"/>
            </a:solidFill>
            <a:prstDash val="solid"/>
          </a:ln>
        </p:spPr>
      </p:sp>
      <p:sp>
        <p:nvSpPr>
          <p:cNvPr id="23" name="Text 21"/>
          <p:cNvSpPr txBox="1"/>
          <p:nvPr/>
        </p:nvSpPr>
        <p:spPr>
          <a:xfrm>
            <a:off x="804672" y="4389120"/>
            <a:ext cx="548640" cy="685800"/>
          </a:xfrm>
          <a:prstGeom prst="rect">
            <a:avLst/>
          </a:prstGeom>
          <a:noFill/>
          <a:ln/>
        </p:spPr>
        <p:txBody>
          <a:bodyPr wrap="square" lIns="0" tIns="0" rIns="0" bIns="0" rtlCol="0" anchor="ctr"/>
          <a:lstStyle/>
          <a:p>
            <a:pPr indent="0" marL="0">
              <a:buNone/>
            </a:pPr>
            <a:r>
              <a:rPr lang="en-US" sz="1600" b="1" dirty="0">
                <a:solidFill>
                  <a:srgbClr val="D9932B"/>
                </a:solidFill>
                <a:latin typeface="Consolas" pitchFamily="34" charset="0"/>
                <a:ea typeface="Consolas" pitchFamily="34" charset="-122"/>
                <a:cs typeface="Consolas" pitchFamily="34" charset="-120"/>
              </a:rPr>
              <a:t>07</a:t>
            </a:r>
            <a:endParaRPr lang="en-US" sz="1600" dirty="0"/>
          </a:p>
        </p:txBody>
      </p:sp>
      <p:sp>
        <p:nvSpPr>
          <p:cNvPr id="24" name="Text 22">
            <a:hlinkClick r:id="rId7" tooltip="" action="ppaction://hlinksldjump"/>
          </p:cNvPr>
          <p:cNvSpPr txBox="1"/>
          <p:nvPr/>
        </p:nvSpPr>
        <p:spPr>
          <a:xfrm>
            <a:off x="1417320" y="4389120"/>
            <a:ext cx="4206240" cy="685800"/>
          </a:xfrm>
          <a:prstGeom prst="rect">
            <a:avLst/>
          </a:prstGeom>
          <a:noFill/>
          <a:ln/>
        </p:spPr>
        <p:txBody>
          <a:bodyPr wrap="square" lIns="0" tIns="0" rIns="0" bIns="0" rtlCol="0" anchor="ctr"/>
          <a:lstStyle/>
          <a:p>
            <a:pPr indent="0" marL="0">
              <a:buNone/>
            </a:pPr>
            <a:r>
              <a:rPr lang="en-US" sz="1350" u="sng" dirty="0">
                <a:solidFill>
                  <a:srgbClr val="1A1E22"/>
                </a:solidFill>
                <a:latin typeface="Calibri" pitchFamily="34" charset="0"/>
                <a:ea typeface="Calibri" pitchFamily="34" charset="-122"/>
                <a:cs typeface="Calibri" pitchFamily="34" charset="-120"/>
                <a:hlinkClick r:id="rId7" action="ppaction://hlinksldjump" tooltip="">
                  <a:extLst>
                    <a:ext uri="{A12FA001-AC4F-418D-AE19-62706E023703}">
                      <ahyp:hlinkClr xmlns:ahyp="http://schemas.microsoft.com/office/drawing/2018/hyperlinkcolor" val="tx"/>
                    </a:ext>
                  </a:extLst>
                </a:hlinkClick>
              </a:rPr>
              <a:t>Wrap-Up</a:t>
            </a:r>
            <a:endParaRPr lang="en-US" sz="1350" dirty="0"/>
          </a:p>
        </p:txBody>
      </p:sp>
      <p:sp>
        <p:nvSpPr>
          <p:cNvPr id="25" name="Text 2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26" name="Text 2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3"/>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D9932B"/>
          </a:solidFill>
          <a:ln/>
        </p:spPr>
      </p:sp>
      <p:sp>
        <p:nvSpPr>
          <p:cNvPr id="3" name="Text 1"/>
          <p:cNvSpPr txBox="1"/>
          <p:nvPr/>
        </p:nvSpPr>
        <p:spPr>
          <a:xfrm>
            <a:off x="822960" y="548640"/>
            <a:ext cx="9144000" cy="54864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Why This Matters</a:t>
            </a:r>
            <a:endParaRPr lang="en-US" sz="2400" dirty="0"/>
          </a:p>
        </p:txBody>
      </p:sp>
      <p:sp>
        <p:nvSpPr>
          <p:cNvPr id="4" name="Shape 2"/>
          <p:cNvSpPr/>
          <p:nvPr/>
        </p:nvSpPr>
        <p:spPr>
          <a:xfrm>
            <a:off x="822960" y="1371600"/>
            <a:ext cx="10424160" cy="4389120"/>
          </a:xfrm>
          <a:prstGeom prst="roundRect">
            <a:avLst>
              <a:gd name="adj" fmla="val 1667"/>
            </a:avLst>
          </a:prstGeom>
          <a:solidFill>
            <a:srgbClr val="FFFFFF"/>
          </a:solidFill>
          <a:ln w="12700">
            <a:solidFill>
              <a:srgbClr val="D7DCD1"/>
            </a:solidFill>
            <a:prstDash val="solid"/>
          </a:ln>
          <a:effectLst>
            <a:outerShdw sx="100000" sy="100000" kx="0" ky="0" algn="bl" rotWithShape="0" blurRad="76200" dist="25400" dir="5400000">
              <a:srgbClr val="000000">
                <a:alpha val="18000"/>
              </a:srgbClr>
            </a:outerShdw>
          </a:effectLst>
        </p:spPr>
      </p:sp>
      <p:sp>
        <p:nvSpPr>
          <p:cNvPr id="5" name="Text 3"/>
          <p:cNvSpPr txBox="1"/>
          <p:nvPr/>
        </p:nvSpPr>
        <p:spPr>
          <a:xfrm>
            <a:off x="1188720" y="1691640"/>
            <a:ext cx="9692640" cy="3749040"/>
          </a:xfrm>
          <a:prstGeom prst="rect">
            <a:avLst/>
          </a:prstGeom>
          <a:noFill/>
          <a:ln/>
        </p:spPr>
        <p:txBody>
          <a:bodyPr wrap="square" lIns="0" tIns="0" rIns="0" bIns="0" rtlCol="0" anchor="t"/>
          <a:lstStyle/>
          <a:p>
            <a:pPr indent="0" marL="0">
              <a:lnSpc>
                <a:spcPct val="125000"/>
              </a:lnSpc>
              <a:buNone/>
            </a:pPr>
            <a:r>
              <a:rPr lang="en-US" sz="1650" dirty="0">
                <a:solidFill>
                  <a:srgbClr val="1A1E22"/>
                </a:solidFill>
                <a:latin typeface="Calibri" pitchFamily="34" charset="0"/>
                <a:ea typeface="Calibri" pitchFamily="34" charset="-122"/>
                <a:cs typeface="Calibri" pitchFamily="34" charset="-120"/>
              </a:rPr>
              <a:t>Day 1 was about deciding when to use a model at all. Today you make your first live call to one: one ticket goes in, and the app comes back with something useful — wired through one model call inside one LangGraph node. No branching, no tools, no memory, no agent loop yet. Getting comfortable with the plumbing now means later graphs only ever add one new idea at a time.</a:t>
            </a:r>
            <a:endParaRPr lang="en-US" sz="165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1 of 2</a:t>
            </a:r>
            <a:endParaRPr lang="en-US" sz="2600" dirty="0"/>
          </a:p>
        </p:txBody>
      </p:sp>
      <p:sp>
        <p:nvSpPr>
          <p:cNvPr id="3" name="Shape 1"/>
          <p:cNvSpPr/>
          <p:nvPr/>
        </p:nvSpPr>
        <p:spPr>
          <a:xfrm>
            <a:off x="640080" y="1435608"/>
            <a:ext cx="457200" cy="457200"/>
          </a:xfrm>
          <a:prstGeom prst="ellipse">
            <a:avLst/>
          </a:prstGeom>
          <a:solidFill>
            <a:srgbClr val="D9932B"/>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241A0A"/>
                </a:solidFill>
                <a:latin typeface="Consolas" pitchFamily="34" charset="0"/>
                <a:ea typeface="Consolas" pitchFamily="34" charset="-122"/>
                <a:cs typeface="Consolas" pitchFamily="34" charset="-120"/>
              </a:rPr>
              <a:t>1</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The course software stack</a:t>
            </a:r>
            <a:endParaRPr lang="en-US" sz="1550" dirty="0"/>
          </a:p>
        </p:txBody>
      </p:sp>
      <p:sp>
        <p:nvSpPr>
          <p:cNvPr id="6" name="Text 4"/>
          <p:cNvSpPr txBox="1"/>
          <p:nvPr/>
        </p:nvSpPr>
        <p:spPr>
          <a:xfrm>
            <a:off x="1325880" y="170992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VS Code edits, Python runs, uv manages the isolated environment (uv sync / uv run — never activate manually), Ollama connects to the model, Git records changes. When something breaks, ask which layer owns the failure and check that layer first.</a:t>
            </a:r>
            <a:endParaRPr lang="en-US" sz="1300" dirty="0"/>
          </a:p>
        </p:txBody>
      </p:sp>
      <p:sp>
        <p:nvSpPr>
          <p:cNvPr id="7" name="Shape 5"/>
          <p:cNvSpPr/>
          <p:nvPr/>
        </p:nvSpPr>
        <p:spPr>
          <a:xfrm>
            <a:off x="640080" y="2932176"/>
            <a:ext cx="10515600" cy="914"/>
          </a:xfrm>
          <a:prstGeom prst="line">
            <a:avLst/>
          </a:prstGeom>
          <a:noFill/>
          <a:ln w="12700">
            <a:solidFill>
              <a:srgbClr val="D7DCD1"/>
            </a:solidFill>
            <a:prstDash val="solid"/>
          </a:ln>
        </p:spPr>
      </p:sp>
      <p:sp>
        <p:nvSpPr>
          <p:cNvPr id="8" name="Shape 6"/>
          <p:cNvSpPr/>
          <p:nvPr/>
        </p:nvSpPr>
        <p:spPr>
          <a:xfrm>
            <a:off x="640080" y="3096768"/>
            <a:ext cx="457200" cy="457200"/>
          </a:xfrm>
          <a:prstGeom prst="ellipse">
            <a:avLst/>
          </a:prstGeom>
          <a:solidFill>
            <a:srgbClr val="3E5064"/>
          </a:solidFill>
          <a:ln/>
        </p:spPr>
      </p:sp>
      <p:sp>
        <p:nvSpPr>
          <p:cNvPr id="9" name="Text 7"/>
          <p:cNvSpPr txBox="1"/>
          <p:nvPr/>
        </p:nvSpPr>
        <p:spPr>
          <a:xfrm>
            <a:off x="640080" y="309676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2</a:t>
            </a:r>
            <a:endParaRPr lang="en-US" sz="1500" dirty="0"/>
          </a:p>
        </p:txBody>
      </p:sp>
      <p:sp>
        <p:nvSpPr>
          <p:cNvPr id="10" name="Text 8"/>
          <p:cNvSpPr txBox="1"/>
          <p:nvPr/>
        </p:nvSpPr>
        <p:spPr>
          <a:xfrm>
            <a:off x="1325880" y="298704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Reaching the model</a:t>
            </a:r>
            <a:endParaRPr lang="en-US" sz="1550" dirty="0"/>
          </a:p>
        </p:txBody>
      </p:sp>
      <p:sp>
        <p:nvSpPr>
          <p:cNvPr id="11" name="Text 9"/>
          <p:cNvSpPr txBox="1"/>
          <p:nvPr/>
        </p:nvSpPr>
        <p:spPr>
          <a:xfrm>
            <a:off x="1325880" y="337108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Your code talks to a local Ollama service, which reaches the cloud-hosted gpt-oss:120b-cloud. Debug in order: uv version, uv sync, Ollama sign-in, model reachability, then your own code.</a:t>
            </a:r>
            <a:endParaRPr lang="en-US" sz="1300" dirty="0"/>
          </a:p>
        </p:txBody>
      </p:sp>
      <p:sp>
        <p:nvSpPr>
          <p:cNvPr id="12" name="Shape 10"/>
          <p:cNvSpPr/>
          <p:nvPr/>
        </p:nvSpPr>
        <p:spPr>
          <a:xfrm>
            <a:off x="640080" y="4593336"/>
            <a:ext cx="10515600" cy="914"/>
          </a:xfrm>
          <a:prstGeom prst="line">
            <a:avLst/>
          </a:prstGeom>
          <a:noFill/>
          <a:ln w="12700">
            <a:solidFill>
              <a:srgbClr val="D7DCD1"/>
            </a:solidFill>
            <a:prstDash val="solid"/>
          </a:ln>
        </p:spPr>
      </p:sp>
      <p:sp>
        <p:nvSpPr>
          <p:cNvPr id="13" name="Shape 11"/>
          <p:cNvSpPr/>
          <p:nvPr/>
        </p:nvSpPr>
        <p:spPr>
          <a:xfrm>
            <a:off x="640080" y="4757928"/>
            <a:ext cx="457200" cy="457200"/>
          </a:xfrm>
          <a:prstGeom prst="ellipse">
            <a:avLst/>
          </a:prstGeom>
          <a:solidFill>
            <a:srgbClr val="3E5064"/>
          </a:solidFill>
          <a:ln/>
        </p:spPr>
      </p:sp>
      <p:sp>
        <p:nvSpPr>
          <p:cNvPr id="14" name="Text 12"/>
          <p:cNvSpPr txBox="1"/>
          <p:nvPr/>
        </p:nvSpPr>
        <p:spPr>
          <a:xfrm>
            <a:off x="640080" y="475792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3</a:t>
            </a:r>
            <a:endParaRPr lang="en-US" sz="1500" dirty="0"/>
          </a:p>
        </p:txBody>
      </p:sp>
      <p:sp>
        <p:nvSpPr>
          <p:cNvPr id="15" name="Text 13"/>
          <p:cNvSpPr txBox="1"/>
          <p:nvPr/>
        </p:nvSpPr>
        <p:spPr>
          <a:xfrm>
            <a:off x="1325880" y="464820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Model, client, and API are three different things</a:t>
            </a:r>
            <a:endParaRPr lang="en-US" sz="1550" dirty="0"/>
          </a:p>
        </p:txBody>
      </p:sp>
      <p:sp>
        <p:nvSpPr>
          <p:cNvPr id="16" name="Text 14"/>
          <p:cNvSpPr txBox="1"/>
          <p:nvPr/>
        </p:nvSpPr>
        <p:spPr>
          <a:xfrm>
            <a:off x="1325880" y="5032248"/>
            <a:ext cx="9966960" cy="115824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The model generates the response; the ollama client library builds and sends the request; the API is the agreed shape of both. Swapping the client library never retrains the model.</a:t>
            </a:r>
            <a:endParaRPr lang="en-US" sz="1300" dirty="0"/>
          </a:p>
        </p:txBody>
      </p:sp>
      <p:sp>
        <p:nvSpPr>
          <p:cNvPr id="17" name="Text 1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8" name="Text 1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058400" cy="548640"/>
          </a:xfrm>
          <a:prstGeom prst="rect">
            <a:avLst/>
          </a:prstGeom>
          <a:noFill/>
          <a:ln/>
        </p:spPr>
        <p:txBody>
          <a:bodyPr wrap="square" lIns="0" tIns="0" rIns="0" bIns="0" rtlCol="0" anchor="ctr"/>
          <a:lstStyle/>
          <a:p>
            <a:pPr indent="0" marL="0">
              <a:buNone/>
            </a:pPr>
            <a:r>
              <a:rPr lang="en-US" sz="2600" b="1" dirty="0">
                <a:solidFill>
                  <a:srgbClr val="1A1E22"/>
                </a:solidFill>
                <a:latin typeface="Consolas" pitchFamily="34" charset="0"/>
                <a:ea typeface="Consolas" pitchFamily="34" charset="-122"/>
                <a:cs typeface="Consolas" pitchFamily="34" charset="-120"/>
              </a:rPr>
              <a:t>Key Concepts  ·  Part 2 of 2</a:t>
            </a:r>
            <a:endParaRPr lang="en-US" sz="2600" dirty="0"/>
          </a:p>
        </p:txBody>
      </p:sp>
      <p:sp>
        <p:nvSpPr>
          <p:cNvPr id="3" name="Shape 1"/>
          <p:cNvSpPr/>
          <p:nvPr/>
        </p:nvSpPr>
        <p:spPr>
          <a:xfrm>
            <a:off x="640080" y="1435608"/>
            <a:ext cx="457200" cy="457200"/>
          </a:xfrm>
          <a:prstGeom prst="ellipse">
            <a:avLst/>
          </a:prstGeom>
          <a:solidFill>
            <a:srgbClr val="3E5064"/>
          </a:solidFill>
          <a:ln/>
        </p:spPr>
      </p:sp>
      <p:sp>
        <p:nvSpPr>
          <p:cNvPr id="4" name="Text 2"/>
          <p:cNvSpPr txBox="1"/>
          <p:nvPr/>
        </p:nvSpPr>
        <p:spPr>
          <a:xfrm>
            <a:off x="640080" y="143560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4</a:t>
            </a:r>
            <a:endParaRPr lang="en-US" sz="1500" dirty="0"/>
          </a:p>
        </p:txBody>
      </p:sp>
      <p:sp>
        <p:nvSpPr>
          <p:cNvPr id="5" name="Text 3"/>
          <p:cNvSpPr txBox="1"/>
          <p:nvPr/>
        </p:nvSpPr>
        <p:spPr>
          <a:xfrm>
            <a:off x="1325880" y="132588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Message roles</a:t>
            </a:r>
            <a:endParaRPr lang="en-US" sz="1550" dirty="0"/>
          </a:p>
        </p:txBody>
      </p:sp>
      <p:sp>
        <p:nvSpPr>
          <p:cNvPr id="6" name="Text 4"/>
          <p:cNvSpPr txBox="1"/>
          <p:nvPr/>
        </p:nvSpPr>
        <p:spPr>
          <a:xfrm>
            <a:off x="1325880" y="170992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A system message holds stable instructions, a user message holds the request, an assistant message holds the reply. The order and wording genuinely change the model's behavior.</a:t>
            </a:r>
            <a:endParaRPr lang="en-US" sz="1300" dirty="0"/>
          </a:p>
        </p:txBody>
      </p:sp>
      <p:sp>
        <p:nvSpPr>
          <p:cNvPr id="7" name="Shape 5"/>
          <p:cNvSpPr/>
          <p:nvPr/>
        </p:nvSpPr>
        <p:spPr>
          <a:xfrm>
            <a:off x="640080" y="3762756"/>
            <a:ext cx="10515600" cy="914"/>
          </a:xfrm>
          <a:prstGeom prst="line">
            <a:avLst/>
          </a:prstGeom>
          <a:noFill/>
          <a:ln w="12700">
            <a:solidFill>
              <a:srgbClr val="D7DCD1"/>
            </a:solidFill>
            <a:prstDash val="solid"/>
          </a:ln>
        </p:spPr>
      </p:sp>
      <p:sp>
        <p:nvSpPr>
          <p:cNvPr id="8" name="Shape 6"/>
          <p:cNvSpPr/>
          <p:nvPr/>
        </p:nvSpPr>
        <p:spPr>
          <a:xfrm>
            <a:off x="640080" y="3927348"/>
            <a:ext cx="457200" cy="457200"/>
          </a:xfrm>
          <a:prstGeom prst="ellipse">
            <a:avLst/>
          </a:prstGeom>
          <a:solidFill>
            <a:srgbClr val="3E5064"/>
          </a:solidFill>
          <a:ln/>
        </p:spPr>
      </p:sp>
      <p:sp>
        <p:nvSpPr>
          <p:cNvPr id="9" name="Text 7"/>
          <p:cNvSpPr txBox="1"/>
          <p:nvPr/>
        </p:nvSpPr>
        <p:spPr>
          <a:xfrm>
            <a:off x="640080" y="3927348"/>
            <a:ext cx="457200" cy="457200"/>
          </a:xfrm>
          <a:prstGeom prst="rect">
            <a:avLst/>
          </a:prstGeom>
          <a:noFill/>
          <a:ln/>
        </p:spPr>
        <p:txBody>
          <a:bodyPr wrap="square" lIns="0" tIns="0" rIns="0" bIns="0" rtlCol="0" anchor="ctr"/>
          <a:lstStyle/>
          <a:p>
            <a:pPr algn="ctr" indent="0" marL="0">
              <a:buNone/>
            </a:pPr>
            <a:r>
              <a:rPr lang="en-US" sz="1500" b="1" dirty="0">
                <a:solidFill>
                  <a:srgbClr val="F5F7F3"/>
                </a:solidFill>
                <a:latin typeface="Consolas" pitchFamily="34" charset="0"/>
                <a:ea typeface="Consolas" pitchFamily="34" charset="-122"/>
                <a:cs typeface="Consolas" pitchFamily="34" charset="-120"/>
              </a:rPr>
              <a:t>5</a:t>
            </a:r>
            <a:endParaRPr lang="en-US" sz="1500" dirty="0"/>
          </a:p>
        </p:txBody>
      </p:sp>
      <p:sp>
        <p:nvSpPr>
          <p:cNvPr id="10" name="Text 8"/>
          <p:cNvSpPr txBox="1"/>
          <p:nvPr/>
        </p:nvSpPr>
        <p:spPr>
          <a:xfrm>
            <a:off x="1325880" y="3817620"/>
            <a:ext cx="9875520" cy="365760"/>
          </a:xfrm>
          <a:prstGeom prst="rect">
            <a:avLst/>
          </a:prstGeom>
          <a:noFill/>
          <a:ln/>
        </p:spPr>
        <p:txBody>
          <a:bodyPr wrap="square" lIns="0" tIns="0" rIns="0" bIns="0" rtlCol="0" anchor="ctr"/>
          <a:lstStyle/>
          <a:p>
            <a:pPr indent="0" marL="0">
              <a:buNone/>
            </a:pPr>
            <a:r>
              <a:rPr lang="en-US" sz="1550" b="1" dirty="0">
                <a:solidFill>
                  <a:srgbClr val="1A1E22"/>
                </a:solidFill>
                <a:latin typeface="Consolas" pitchFamily="34" charset="0"/>
                <a:ea typeface="Consolas" pitchFamily="34" charset="-122"/>
                <a:cs typeface="Consolas" pitchFamily="34" charset="-120"/>
              </a:rPr>
              <a:t>Response objects and safe configuration</a:t>
            </a:r>
            <a:endParaRPr lang="en-US" sz="1550" dirty="0"/>
          </a:p>
        </p:txBody>
      </p:sp>
      <p:sp>
        <p:nvSpPr>
          <p:cNvPr id="11" name="Text 9"/>
          <p:cNvSpPr txBox="1"/>
          <p:nvPr/>
        </p:nvSpPr>
        <p:spPr>
          <a:xfrm>
            <a:off x="1325880" y="4201668"/>
            <a:ext cx="9966960" cy="1988820"/>
          </a:xfrm>
          <a:prstGeom prst="rect">
            <a:avLst/>
          </a:prstGeom>
          <a:noFill/>
          <a:ln/>
        </p:spPr>
        <p:txBody>
          <a:bodyPr wrap="square" lIns="0" tIns="0" rIns="0" bIns="0" rtlCol="0" anchor="t"/>
          <a:lstStyle/>
          <a:p>
            <a:pPr indent="0" marL="0">
              <a:lnSpc>
                <a:spcPct val="115000"/>
              </a:lnSpc>
              <a:buNone/>
            </a:pPr>
            <a:r>
              <a:rPr lang="en-US" sz="1300" dirty="0">
                <a:solidFill>
                  <a:srgbClr val="1A1E22"/>
                </a:solidFill>
                <a:latin typeface="Calibri" pitchFamily="34" charset="0"/>
                <a:ea typeface="Calibri" pitchFamily="34" charset="-122"/>
                <a:cs typeface="Calibri" pitchFamily="34" charset="-120"/>
              </a:rPr>
              <a:t>ollama.chat returns a structured response, not just a string — it carries metadata, timing, and usage alongside the text. Keep the model name and base URL in one visible place, and never put real secrets in source control.</a:t>
            </a:r>
            <a:endParaRPr lang="en-US" sz="1300" dirty="0"/>
          </a:p>
        </p:txBody>
      </p:sp>
      <p:sp>
        <p:nvSpPr>
          <p:cNvPr id="12" name="Text 10"/>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3" name="Text 11"/>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How It's Built</a:t>
            </a:r>
            <a:endParaRPr lang="en-US" sz="2400" dirty="0"/>
          </a:p>
        </p:txBody>
      </p:sp>
      <p:sp>
        <p:nvSpPr>
          <p:cNvPr id="3" name="Shape 1"/>
          <p:cNvSpPr/>
          <p:nvPr/>
        </p:nvSpPr>
        <p:spPr>
          <a:xfrm>
            <a:off x="5875020" y="2179320"/>
            <a:ext cx="9144" cy="1524000"/>
          </a:xfrm>
          <a:prstGeom prst="line">
            <a:avLst/>
          </a:prstGeom>
          <a:noFill/>
          <a:ln w="22225">
            <a:solidFill>
              <a:srgbClr val="5B646B"/>
            </a:solidFill>
            <a:prstDash val="solid"/>
          </a:ln>
        </p:spPr>
      </p:sp>
      <p:sp>
        <p:nvSpPr>
          <p:cNvPr id="4" name="Shape 2"/>
          <p:cNvSpPr/>
          <p:nvPr/>
        </p:nvSpPr>
        <p:spPr>
          <a:xfrm rot="10800000">
            <a:off x="5792724" y="3602736"/>
            <a:ext cx="164592" cy="164592"/>
          </a:xfrm>
          <a:prstGeom prst="triangle">
            <a:avLst/>
          </a:prstGeom>
          <a:solidFill>
            <a:srgbClr val="5B646B"/>
          </a:solidFill>
          <a:ln/>
        </p:spPr>
      </p:sp>
      <p:sp>
        <p:nvSpPr>
          <p:cNvPr id="5" name="Shape 3"/>
          <p:cNvSpPr/>
          <p:nvPr/>
        </p:nvSpPr>
        <p:spPr>
          <a:xfrm>
            <a:off x="5875020" y="3703320"/>
            <a:ext cx="9144" cy="1524000"/>
          </a:xfrm>
          <a:prstGeom prst="line">
            <a:avLst/>
          </a:prstGeom>
          <a:noFill/>
          <a:ln w="22225">
            <a:solidFill>
              <a:srgbClr val="5B646B"/>
            </a:solidFill>
            <a:prstDash val="solid"/>
          </a:ln>
        </p:spPr>
      </p:sp>
      <p:sp>
        <p:nvSpPr>
          <p:cNvPr id="6" name="Shape 4"/>
          <p:cNvSpPr/>
          <p:nvPr/>
        </p:nvSpPr>
        <p:spPr>
          <a:xfrm rot="10800000">
            <a:off x="5792724" y="5126736"/>
            <a:ext cx="164592" cy="164592"/>
          </a:xfrm>
          <a:prstGeom prst="triangle">
            <a:avLst/>
          </a:prstGeom>
          <a:solidFill>
            <a:srgbClr val="5B646B"/>
          </a:solidFill>
          <a:ln/>
        </p:spPr>
      </p:sp>
      <p:sp>
        <p:nvSpPr>
          <p:cNvPr id="7" name="Shape 5"/>
          <p:cNvSpPr/>
          <p:nvPr/>
        </p:nvSpPr>
        <p:spPr>
          <a:xfrm>
            <a:off x="5728716" y="2033016"/>
            <a:ext cx="292608" cy="292608"/>
          </a:xfrm>
          <a:prstGeom prst="ellipse">
            <a:avLst/>
          </a:prstGeom>
          <a:solidFill>
            <a:srgbClr val="1A1E22"/>
          </a:solidFill>
          <a:ln/>
        </p:spPr>
      </p:sp>
      <p:sp>
        <p:nvSpPr>
          <p:cNvPr id="8" name="Text 6"/>
          <p:cNvSpPr txBox="1"/>
          <p:nvPr/>
        </p:nvSpPr>
        <p:spPr>
          <a:xfrm>
            <a:off x="4869180" y="23622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START</a:t>
            </a:r>
            <a:endParaRPr lang="en-US" sz="1000" dirty="0"/>
          </a:p>
        </p:txBody>
      </p:sp>
      <p:sp>
        <p:nvSpPr>
          <p:cNvPr id="9" name="Shape 7"/>
          <p:cNvSpPr/>
          <p:nvPr/>
        </p:nvSpPr>
        <p:spPr>
          <a:xfrm>
            <a:off x="4663440" y="3419856"/>
            <a:ext cx="2423160" cy="566928"/>
          </a:xfrm>
          <a:prstGeom prst="roundRect">
            <a:avLst>
              <a:gd name="adj" fmla="val 8065"/>
            </a:avLst>
          </a:prstGeom>
          <a:solidFill>
            <a:srgbClr val="3E5064"/>
          </a:solidFill>
          <a:ln/>
          <a:effectLst>
            <a:outerShdw sx="100000" sy="100000" kx="0" ky="0" algn="bl" rotWithShape="0" blurRad="76200" dist="25400" dir="5400000">
              <a:srgbClr val="000000">
                <a:alpha val="18000"/>
              </a:srgbClr>
            </a:outerShdw>
          </a:effectLst>
        </p:spPr>
      </p:sp>
      <p:sp>
        <p:nvSpPr>
          <p:cNvPr id="10" name="Text 8"/>
          <p:cNvSpPr txBox="1"/>
          <p:nvPr/>
        </p:nvSpPr>
        <p:spPr>
          <a:xfrm>
            <a:off x="4736592" y="3419856"/>
            <a:ext cx="2276856" cy="566928"/>
          </a:xfrm>
          <a:prstGeom prst="rect">
            <a:avLst/>
          </a:prstGeom>
          <a:noFill/>
          <a:ln/>
        </p:spPr>
        <p:txBody>
          <a:bodyPr wrap="square" lIns="0" tIns="0" rIns="0" bIns="0" rtlCol="0" anchor="ctr"/>
          <a:lstStyle/>
          <a:p>
            <a:pPr algn="ctr" indent="0" marL="0">
              <a:buNone/>
            </a:pPr>
            <a:r>
              <a:rPr lang="en-US" sz="1150" b="1" dirty="0">
                <a:solidFill>
                  <a:srgbClr val="F5F7F3"/>
                </a:solidFill>
                <a:latin typeface="Consolas" pitchFamily="34" charset="0"/>
                <a:ea typeface="Consolas" pitchFamily="34" charset="-122"/>
                <a:cs typeface="Consolas" pitchFamily="34" charset="-120"/>
              </a:rPr>
              <a:t>ask_model</a:t>
            </a:r>
            <a:endParaRPr lang="en-US" sz="1150" dirty="0"/>
          </a:p>
        </p:txBody>
      </p:sp>
      <p:sp>
        <p:nvSpPr>
          <p:cNvPr id="11" name="Text 9"/>
          <p:cNvSpPr txBox="1"/>
          <p:nvPr/>
        </p:nvSpPr>
        <p:spPr>
          <a:xfrm>
            <a:off x="4777740" y="4023360"/>
            <a:ext cx="2194560" cy="256032"/>
          </a:xfrm>
          <a:prstGeom prst="rect">
            <a:avLst/>
          </a:prstGeom>
          <a:noFill/>
          <a:ln/>
        </p:spPr>
        <p:txBody>
          <a:bodyPr wrap="square" lIns="0" tIns="0" rIns="0" bIns="0" rtlCol="0" anchor="ctr"/>
          <a:lstStyle/>
          <a:p>
            <a:pPr algn="ctr" indent="0" marL="0">
              <a:buNone/>
            </a:pPr>
            <a:r>
              <a:rPr lang="en-US" sz="900" b="1" dirty="0">
                <a:solidFill>
                  <a:srgbClr val="D9932B"/>
                </a:solidFill>
                <a:latin typeface="Consolas" pitchFamily="34" charset="0"/>
                <a:ea typeface="Consolas" pitchFamily="34" charset="-122"/>
                <a:cs typeface="Consolas" pitchFamily="34" charset="-120"/>
              </a:rPr>
              <a:t>OLLAMA CALL</a:t>
            </a:r>
            <a:endParaRPr lang="en-US" sz="900" dirty="0"/>
          </a:p>
        </p:txBody>
      </p:sp>
      <p:sp>
        <p:nvSpPr>
          <p:cNvPr id="12" name="Shape 10"/>
          <p:cNvSpPr/>
          <p:nvPr/>
        </p:nvSpPr>
        <p:spPr>
          <a:xfrm>
            <a:off x="5728716" y="5081016"/>
            <a:ext cx="292608" cy="292608"/>
          </a:xfrm>
          <a:prstGeom prst="ellipse">
            <a:avLst/>
          </a:prstGeom>
          <a:solidFill>
            <a:srgbClr val="1A1E22"/>
          </a:solidFill>
          <a:ln/>
        </p:spPr>
      </p:sp>
      <p:sp>
        <p:nvSpPr>
          <p:cNvPr id="13" name="Text 11"/>
          <p:cNvSpPr txBox="1"/>
          <p:nvPr/>
        </p:nvSpPr>
        <p:spPr>
          <a:xfrm>
            <a:off x="4869180" y="5410200"/>
            <a:ext cx="2011680" cy="274320"/>
          </a:xfrm>
          <a:prstGeom prst="rect">
            <a:avLst/>
          </a:prstGeom>
          <a:noFill/>
          <a:ln/>
        </p:spPr>
        <p:txBody>
          <a:bodyPr wrap="square" lIns="0" tIns="0" rIns="0" bIns="0" rtlCol="0" anchor="ctr"/>
          <a:lstStyle/>
          <a:p>
            <a:pPr algn="ctr" indent="0" marL="0">
              <a:buNone/>
            </a:pPr>
            <a:r>
              <a:rPr lang="en-US" sz="1000" b="1" spc="100" kern="0" dirty="0">
                <a:solidFill>
                  <a:srgbClr val="5B646B"/>
                </a:solidFill>
                <a:latin typeface="Consolas" pitchFamily="34" charset="0"/>
                <a:ea typeface="Consolas" pitchFamily="34" charset="-122"/>
                <a:cs typeface="Consolas" pitchFamily="34" charset="-120"/>
              </a:rPr>
              <a:t>END</a:t>
            </a:r>
            <a:endParaRPr lang="en-US" sz="1000" dirty="0"/>
          </a:p>
        </p:txBody>
      </p:sp>
      <p:sp>
        <p:nvSpPr>
          <p:cNvPr id="14" name="Text 12"/>
          <p:cNvSpPr txBox="1"/>
          <p:nvPr/>
        </p:nvSpPr>
        <p:spPr>
          <a:xfrm>
            <a:off x="640080" y="6172200"/>
            <a:ext cx="10881360" cy="457200"/>
          </a:xfrm>
          <a:prstGeom prst="rect">
            <a:avLst/>
          </a:prstGeom>
          <a:noFill/>
          <a:ln/>
        </p:spPr>
        <p:txBody>
          <a:bodyPr wrap="square" lIns="0" tIns="0" rIns="0" bIns="0" rtlCol="0" anchor="ctr"/>
          <a:lstStyle/>
          <a:p>
            <a:pPr indent="0" marL="0">
              <a:buNone/>
            </a:pPr>
            <a:r>
              <a:rPr lang="en-US" sz="1200" i="1" dirty="0">
                <a:solidFill>
                  <a:srgbClr val="5B646B"/>
                </a:solidFill>
                <a:latin typeface="Calibri" pitchFamily="34" charset="0"/>
                <a:ea typeface="Calibri" pitchFamily="34" charset="-122"/>
                <a:cs typeface="Calibri" pitchFamily="34" charset="-120"/>
              </a:rPr>
              <a:t>One node, one model call, one fixed path — the developer still controls the route; the model only produces text.</a:t>
            </a:r>
            <a:endParaRPr lang="en-US" sz="1200" dirty="0"/>
          </a:p>
        </p:txBody>
      </p:sp>
      <p:sp>
        <p:nvSpPr>
          <p:cNvPr id="15" name="Text 13"/>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6" name="Text 14"/>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1 of 2</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01  """Session 2: make one Ollama call inside one LangGraph node."""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02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03  import sys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05  import ollama</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06  from langgraph.graph import END, START, StateGraph</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07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08  sys.stdout.reconfigure(encoding="utf-8")  # the model may answer with punctuation Command Prompt cannot print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09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11  MODEL = "gpt-oss:120b-cloud"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12  </a:t>
            </a:r>
            <a:endParaRPr lang="en-US" sz="1400" dirty="0"/>
          </a:p>
        </p:txBody>
      </p:sp>
      <p:sp>
        <p:nvSpPr>
          <p:cNvPr id="6" name="Text 4"/>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7" name="Text 5"/>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365760"/>
            <a:ext cx="7772400" cy="457200"/>
          </a:xfrm>
          <a:prstGeom prst="rect">
            <a:avLst/>
          </a:prstGeom>
          <a:noFill/>
          <a:ln/>
        </p:spPr>
        <p:txBody>
          <a:bodyPr wrap="square" lIns="0" tIns="0" rIns="0" bIns="0"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The Code  ·  Part 2 of 2</a:t>
            </a:r>
            <a:endParaRPr lang="en-US" sz="2000" dirty="0"/>
          </a:p>
        </p:txBody>
      </p:sp>
      <p:sp>
        <p:nvSpPr>
          <p:cNvPr id="3" name="Text 1">
            <a:hlinkClick r:id="rId1" tooltip=""/>
          </p:cNvPr>
          <p:cNvSpPr txBox="1"/>
          <p:nvPr/>
        </p:nvSpPr>
        <p:spPr>
          <a:xfrm>
            <a:off x="8595360" y="365760"/>
            <a:ext cx="2926080" cy="457200"/>
          </a:xfrm>
          <a:prstGeom prst="rect">
            <a:avLst/>
          </a:prstGeom>
          <a:noFill/>
          <a:ln/>
        </p:spPr>
        <p:txBody>
          <a:bodyPr wrap="square" lIns="0" tIns="0" rIns="0" bIns="0" rtlCol="0" anchor="ctr"/>
          <a:lstStyle/>
          <a:p>
            <a:pPr algn="r" indent="0" marL="0">
              <a:buNone/>
            </a:pPr>
            <a:r>
              <a:rPr lang="en-US" sz="1200" u="sng" dirty="0">
                <a:solidFill>
                  <a:srgbClr val="D9932B"/>
                </a:solidFill>
                <a:latin typeface="Consolas" pitchFamily="34" charset="0"/>
                <a:ea typeface="Consolas" pitchFamily="34" charset="-122"/>
                <a:cs typeface="Consolas" pitchFamily="34" charset="-120"/>
                <a:hlinkClick r:id="rId1" invalidUrl="" action="" tgtFrame="" tooltip="" history="1" highlightClick="0" endSnd="0">
                  <a:extLst>
                    <a:ext uri="{A12FA001-AC4F-418D-AE19-62706E023703}">
                      <ahyp:hlinkClr xmlns:ahyp="http://schemas.microsoft.com/office/drawing/2018/hyperlinkcolor" val="tx"/>
                    </a:ext>
                  </a:extLst>
                </a:hlinkClick>
              </a:rPr>
              <a:t>example.py</a:t>
            </a:r>
            <a:endParaRPr lang="en-US" sz="1200" dirty="0"/>
          </a:p>
        </p:txBody>
      </p:sp>
      <p:sp>
        <p:nvSpPr>
          <p:cNvPr id="4" name="Shape 2"/>
          <p:cNvSpPr/>
          <p:nvPr/>
        </p:nvSpPr>
        <p:spPr>
          <a:xfrm>
            <a:off x="640080" y="914400"/>
            <a:ext cx="10881360" cy="5166360"/>
          </a:xfrm>
          <a:prstGeom prst="roundRect">
            <a:avLst>
              <a:gd name="adj" fmla="val 1062"/>
            </a:avLst>
          </a:prstGeom>
          <a:solidFill>
            <a:srgbClr val="1E232A"/>
          </a:solidFill>
          <a:ln w="12700">
            <a:solidFill>
              <a:srgbClr val="2E353D"/>
            </a:solidFill>
            <a:prstDash val="solid"/>
          </a:ln>
        </p:spPr>
      </p:sp>
      <p:sp>
        <p:nvSpPr>
          <p:cNvPr id="5" name="Text 3"/>
          <p:cNvSpPr txBox="1"/>
          <p:nvPr/>
        </p:nvSpPr>
        <p:spPr>
          <a:xfrm>
            <a:off x="868680" y="1078992"/>
            <a:ext cx="10424160" cy="4846320"/>
          </a:xfrm>
          <a:prstGeom prst="rect">
            <a:avLst/>
          </a:prstGeom>
          <a:noFill/>
          <a:ln/>
        </p:spPr>
        <p:txBody>
          <a:bodyPr wrap="square" lIns="0" tIns="0" rIns="0" bIns="0" rtlCol="0" anchor="t"/>
          <a:lstStyle/>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14  def ask_model(state):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15      response = ollama.chat(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16          model=MODEL,</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17          messages=[</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18              {"role": "system", "content": "Classify the request in one word."},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19              {"role": "user", "content": state["request"]},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21      )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22      return {"answer": response["message"]["content"]}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23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24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25  graph_builder = StateGraph(dict)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26  graph_builder.add_node("ask_model", ask_model)</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27  graph_builder.add_edge(START, "ask_model")</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28  graph_builder.add_edge("ask_model", END)</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29  graph = graph_builder.compile()</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30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31  request = input("Enter an IT request: ")</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32  result = graph.invoke({"request": request})</a:t>
            </a:r>
            <a:endParaRPr lang="en-US" sz="1400" dirty="0"/>
          </a:p>
          <a:p>
            <a:pPr indent="0" marL="0">
              <a:lnSpc>
                <a:spcPct val="100000"/>
              </a:lnSpc>
              <a:buNone/>
            </a:pPr>
            <a:r>
              <a:rPr lang="en-US" sz="1400" dirty="0">
                <a:solidFill>
                  <a:srgbClr val="E8ECEF"/>
                </a:solidFill>
                <a:latin typeface="Consolas" pitchFamily="34" charset="0"/>
                <a:ea typeface="Consolas" pitchFamily="34" charset="-122"/>
                <a:cs typeface="Consolas" pitchFamily="34" charset="-120"/>
              </a:rPr>
              <a:t>33  print("Category:", result["answer"])</a:t>
            </a:r>
            <a:endParaRPr lang="en-US" sz="1400" dirty="0"/>
          </a:p>
        </p:txBody>
      </p:sp>
      <p:sp>
        <p:nvSpPr>
          <p:cNvPr id="6" name="Text 4"/>
          <p:cNvSpPr txBox="1"/>
          <p:nvPr/>
        </p:nvSpPr>
        <p:spPr>
          <a:xfrm>
            <a:off x="640080" y="6153912"/>
            <a:ext cx="10881360" cy="274320"/>
          </a:xfrm>
          <a:prstGeom prst="rect">
            <a:avLst/>
          </a:prstGeom>
          <a:noFill/>
          <a:ln/>
        </p:spPr>
        <p:txBody>
          <a:bodyPr wrap="square" lIns="0" tIns="0" rIns="0" bIns="0" rtlCol="0" anchor="ctr"/>
          <a:lstStyle/>
          <a:p>
            <a:pPr indent="0" marL="0">
              <a:buNone/>
            </a:pPr>
            <a:r>
              <a:rPr lang="en-US" sz="1100" i="1" dirty="0">
                <a:solidFill>
                  <a:srgbClr val="8A939A"/>
                </a:solidFill>
                <a:latin typeface="Calibri" pitchFamily="34" charset="0"/>
                <a:ea typeface="Calibri" pitchFamily="34" charset="-122"/>
                <a:cs typeface="Calibri" pitchFamily="34" charset="-120"/>
              </a:rPr>
              <a:t>Model-backed — run with Ollama signed in locally.</a:t>
            </a:r>
            <a:endParaRPr lang="en-US" sz="1100" dirty="0"/>
          </a:p>
        </p:txBody>
      </p:sp>
      <p:sp>
        <p:nvSpPr>
          <p:cNvPr id="7" name="Text 5"/>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8" name="Text 6"/>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10058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Hands-On Lab  ·  ~30 min</a:t>
            </a:r>
            <a:endParaRPr lang="en-US" sz="2400" dirty="0"/>
          </a:p>
        </p:txBody>
      </p:sp>
      <p:sp>
        <p:nvSpPr>
          <p:cNvPr id="3" name="Shape 1"/>
          <p:cNvSpPr/>
          <p:nvPr/>
        </p:nvSpPr>
        <p:spPr>
          <a:xfrm>
            <a:off x="640080" y="1051560"/>
            <a:ext cx="6400800" cy="5394960"/>
          </a:xfrm>
          <a:prstGeom prst="roundRect">
            <a:avLst>
              <a:gd name="adj" fmla="val 1017"/>
            </a:avLst>
          </a:prstGeom>
          <a:solidFill>
            <a:srgbClr val="F5F7F3"/>
          </a:solidFill>
          <a:ln w="12700">
            <a:solidFill>
              <a:srgbClr val="D7DCD1"/>
            </a:solidFill>
            <a:prstDash val="solid"/>
          </a:ln>
        </p:spPr>
      </p:sp>
      <p:sp>
        <p:nvSpPr>
          <p:cNvPr id="4" name="Text 2"/>
          <p:cNvSpPr txBox="1"/>
          <p:nvPr/>
        </p:nvSpPr>
        <p:spPr>
          <a:xfrm>
            <a:off x="868680" y="1188720"/>
            <a:ext cx="5943600" cy="320040"/>
          </a:xfrm>
          <a:prstGeom prst="rect">
            <a:avLst/>
          </a:prstGeom>
          <a:noFill/>
          <a:ln/>
        </p:spPr>
        <p:txBody>
          <a:bodyPr wrap="square" lIns="0" tIns="0" rIns="0" bIns="0" rtlCol="0" anchor="ctr"/>
          <a:lstStyle/>
          <a:p>
            <a:pPr indent="0" marL="0">
              <a:buNone/>
            </a:pPr>
            <a:r>
              <a:rPr lang="en-US" sz="1200" b="1" dirty="0">
                <a:solidFill>
                  <a:srgbClr val="D9932B"/>
                </a:solidFill>
                <a:latin typeface="Consolas" pitchFamily="34" charset="0"/>
                <a:ea typeface="Consolas" pitchFamily="34" charset="-122"/>
                <a:cs typeface="Consolas" pitchFamily="34" charset="-120"/>
              </a:rPr>
              <a:t>Graph to draw</a:t>
            </a:r>
            <a:endParaRPr lang="en-US" sz="1200" dirty="0"/>
          </a:p>
        </p:txBody>
      </p:sp>
      <p:sp>
        <p:nvSpPr>
          <p:cNvPr id="5" name="Text 3"/>
          <p:cNvSpPr txBox="1"/>
          <p:nvPr/>
        </p:nvSpPr>
        <p:spPr>
          <a:xfrm>
            <a:off x="868680" y="1508760"/>
            <a:ext cx="5943600" cy="502920"/>
          </a:xfrm>
          <a:prstGeom prst="rect">
            <a:avLst/>
          </a:prstGeom>
          <a:noFill/>
          <a:ln/>
        </p:spPr>
        <p:txBody>
          <a:bodyPr wrap="square" lIns="0" tIns="0" rIns="0" bIns="0" rtlCol="0" anchor="ctr"/>
          <a:lstStyle/>
          <a:p>
            <a:pPr indent="0" marL="0">
              <a:buNone/>
            </a:pPr>
            <a:r>
              <a:rPr lang="en-US" sz="1300" dirty="0">
                <a:solidFill>
                  <a:srgbClr val="1A1E22"/>
                </a:solidFill>
                <a:latin typeface="Consolas" pitchFamily="34" charset="0"/>
                <a:ea typeface="Consolas" pitchFamily="34" charset="-122"/>
                <a:cs typeface="Consolas" pitchFamily="34" charset="-120"/>
              </a:rPr>
              <a:t>START -&gt; ask_model -&gt; END</a:t>
            </a:r>
            <a:endParaRPr lang="en-US" sz="1300" dirty="0"/>
          </a:p>
        </p:txBody>
      </p:sp>
      <p:sp>
        <p:nvSpPr>
          <p:cNvPr id="6" name="Text 4"/>
          <p:cNvSpPr txBox="1"/>
          <p:nvPr/>
        </p:nvSpPr>
        <p:spPr>
          <a:xfrm>
            <a:off x="868680" y="2148840"/>
            <a:ext cx="5943600" cy="4023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Read the description at the top of the file.</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Find the one node, ask_model.</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Follow the edges from START to END.</a:t>
            </a:r>
            <a:endParaRPr lang="en-US" sz="1250" dirty="0"/>
          </a:p>
          <a:p>
            <a:pPr marL="342900" indent="-342900">
              <a:spcAft>
                <a:spcPts val="800"/>
              </a:spcAft>
              <a:buSzPct val="100000"/>
              <a:buChar char="●"/>
            </a:pPr>
            <a:r>
              <a:rPr lang="en-US" sz="1250" dirty="0">
                <a:solidFill>
                  <a:srgbClr val="1A1E22"/>
                </a:solidFill>
                <a:latin typeface="Calibri" pitchFamily="34" charset="0"/>
                <a:ea typeface="Calibri" pitchFamily="34" charset="-122"/>
                <a:cs typeface="Calibri" pitchFamily="34" charset="-120"/>
              </a:rPr>
              <a:t>Predict the result, then type an IT request when prompted.</a:t>
            </a:r>
            <a:endParaRPr lang="en-US" sz="1250" dirty="0"/>
          </a:p>
        </p:txBody>
      </p:sp>
      <p:sp>
        <p:nvSpPr>
          <p:cNvPr id="7" name="Shape 5"/>
          <p:cNvSpPr/>
          <p:nvPr/>
        </p:nvSpPr>
        <p:spPr>
          <a:xfrm>
            <a:off x="7269480" y="1051560"/>
            <a:ext cx="4251960" cy="5394960"/>
          </a:xfrm>
          <a:prstGeom prst="roundRect">
            <a:avLst>
              <a:gd name="adj" fmla="val 1290"/>
            </a:avLst>
          </a:prstGeom>
          <a:solidFill>
            <a:srgbClr val="14171B"/>
          </a:solidFill>
          <a:ln/>
        </p:spPr>
      </p:sp>
      <p:sp>
        <p:nvSpPr>
          <p:cNvPr id="8" name="Text 6"/>
          <p:cNvSpPr txBox="1"/>
          <p:nvPr/>
        </p:nvSpPr>
        <p:spPr>
          <a:xfrm>
            <a:off x="7498080" y="123444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CONTROL QUESTION</a:t>
            </a:r>
            <a:endParaRPr lang="en-US" sz="1100" dirty="0"/>
          </a:p>
        </p:txBody>
      </p:sp>
      <p:sp>
        <p:nvSpPr>
          <p:cNvPr id="9" name="Text 7"/>
          <p:cNvSpPr txBox="1"/>
          <p:nvPr/>
        </p:nvSpPr>
        <p:spPr>
          <a:xfrm>
            <a:off x="7498080" y="1600200"/>
            <a:ext cx="3840480" cy="18288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Who controls the path? The developer — there's exactly one route. The model only produces text.</a:t>
            </a:r>
            <a:endParaRPr lang="en-US" sz="1300" dirty="0"/>
          </a:p>
        </p:txBody>
      </p:sp>
      <p:sp>
        <p:nvSpPr>
          <p:cNvPr id="10" name="Text 8"/>
          <p:cNvSpPr txBox="1"/>
          <p:nvPr/>
        </p:nvSpPr>
        <p:spPr>
          <a:xfrm>
            <a:off x="7498080" y="365760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RUN IT</a:t>
            </a:r>
            <a:endParaRPr lang="en-US" sz="1100" dirty="0"/>
          </a:p>
        </p:txBody>
      </p:sp>
      <p:sp>
        <p:nvSpPr>
          <p:cNvPr id="11" name="Text 9"/>
          <p:cNvSpPr txBox="1"/>
          <p:nvPr/>
        </p:nvSpPr>
        <p:spPr>
          <a:xfrm>
            <a:off x="7498080" y="4023360"/>
            <a:ext cx="3840480" cy="731520"/>
          </a:xfrm>
          <a:prstGeom prst="rect">
            <a:avLst/>
          </a:prstGeom>
          <a:noFill/>
          <a:ln/>
        </p:spPr>
        <p:txBody>
          <a:bodyPr wrap="square" lIns="0" tIns="0" rIns="0" bIns="0" rtlCol="0" anchor="ctr"/>
          <a:lstStyle/>
          <a:p>
            <a:pPr indent="0" marL="0">
              <a:buNone/>
            </a:pPr>
            <a:r>
              <a:rPr lang="en-US" sz="1150" dirty="0">
                <a:solidFill>
                  <a:srgbClr val="E8ECEF"/>
                </a:solidFill>
                <a:latin typeface="Consolas" pitchFamily="34" charset="0"/>
                <a:ea typeface="Consolas" pitchFamily="34" charset="-122"/>
                <a:cs typeface="Consolas" pitchFamily="34" charset="-120"/>
              </a:rPr>
              <a:t>uv run python</a:t>
            </a:r>
            <a:endParaRPr lang="en-US" sz="1150" dirty="0"/>
          </a:p>
          <a:p>
            <a:pPr indent="0" marL="0">
              <a:buNone/>
            </a:pPr>
            <a:r>
              <a:rPr lang="en-US" sz="1150" dirty="0">
                <a:solidFill>
                  <a:srgbClr val="E8ECEF"/>
                </a:solidFill>
                <a:latin typeface="Consolas" pitchFamily="34" charset="0"/>
                <a:ea typeface="Consolas" pitchFamily="34" charset="-122"/>
                <a:cs typeface="Consolas" pitchFamily="34" charset="-120"/>
              </a:rPr>
              <a:t>Day-02-Development-Foundation\example.py</a:t>
            </a:r>
            <a:endParaRPr lang="en-US" sz="1150" dirty="0"/>
          </a:p>
        </p:txBody>
      </p:sp>
      <p:sp>
        <p:nvSpPr>
          <p:cNvPr id="12" name="Text 10"/>
          <p:cNvSpPr txBox="1"/>
          <p:nvPr/>
        </p:nvSpPr>
        <p:spPr>
          <a:xfrm>
            <a:off x="7498080" y="4892040"/>
            <a:ext cx="3840480" cy="1371600"/>
          </a:xfrm>
          <a:prstGeom prst="rect">
            <a:avLst/>
          </a:prstGeom>
          <a:noFill/>
          <a:ln/>
        </p:spPr>
        <p:txBody>
          <a:bodyPr wrap="square" lIns="0" tIns="0" rIns="0" bIns="0" rtlCol="0" anchor="t"/>
          <a:lstStyle/>
          <a:p>
            <a:pPr indent="0" marL="0">
              <a:buNone/>
            </a:pPr>
            <a:r>
              <a:rPr lang="en-US" sz="1050" i="1" dirty="0">
                <a:solidFill>
                  <a:srgbClr val="8A939A"/>
                </a:solidFill>
                <a:latin typeface="Calibri" pitchFamily="34" charset="0"/>
                <a:ea typeface="Calibri" pitchFamily="34" charset="-122"/>
                <a:cs typeface="Calibri" pitchFamily="34" charset="-120"/>
              </a:rPr>
              <a:t>Needs Ollama running locally, signed in, with gpt-oss:120b-cloud available.</a:t>
            </a:r>
            <a:endParaRPr lang="en-US" sz="1050" dirty="0"/>
          </a:p>
        </p:txBody>
      </p:sp>
      <p:sp>
        <p:nvSpPr>
          <p:cNvPr id="13" name="Text 11"/>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4" name="Text 12"/>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11480"/>
            <a:ext cx="5486400" cy="502920"/>
          </a:xfrm>
          <a:prstGeom prst="rect">
            <a:avLst/>
          </a:prstGeom>
          <a:noFill/>
          <a:ln/>
        </p:spPr>
        <p:txBody>
          <a:bodyPr wrap="square" lIns="0" tIns="0" rIns="0" bIns="0" rtlCol="0" anchor="ctr"/>
          <a:lstStyle/>
          <a:p>
            <a:pPr indent="0" marL="0">
              <a:buNone/>
            </a:pPr>
            <a:r>
              <a:rPr lang="en-US" sz="2400" b="1" dirty="0">
                <a:solidFill>
                  <a:srgbClr val="1A1E22"/>
                </a:solidFill>
                <a:latin typeface="Consolas" pitchFamily="34" charset="0"/>
                <a:ea typeface="Consolas" pitchFamily="34" charset="-122"/>
                <a:cs typeface="Consolas" pitchFamily="34" charset="-120"/>
              </a:rPr>
              <a:t>Assignment</a:t>
            </a:r>
            <a:endParaRPr lang="en-US" sz="2400" dirty="0"/>
          </a:p>
        </p:txBody>
      </p:sp>
      <p:sp>
        <p:nvSpPr>
          <p:cNvPr id="3" name="Text 1"/>
          <p:cNvSpPr txBox="1"/>
          <p:nvPr/>
        </p:nvSpPr>
        <p:spPr>
          <a:xfrm>
            <a:off x="640080" y="960120"/>
            <a:ext cx="10607040" cy="502920"/>
          </a:xfrm>
          <a:prstGeom prst="rect">
            <a:avLst/>
          </a:prstGeom>
          <a:noFill/>
          <a:ln/>
        </p:spPr>
        <p:txBody>
          <a:bodyPr wrap="square" lIns="0" tIns="0" rIns="0" bIns="0" rtlCol="0" anchor="ctr"/>
          <a:lstStyle/>
          <a:p>
            <a:pPr indent="0" marL="0">
              <a:buNone/>
            </a:pPr>
            <a:r>
              <a:rPr lang="en-US" sz="1400" i="1" dirty="0">
                <a:solidFill>
                  <a:srgbClr val="5B646B"/>
                </a:solidFill>
                <a:latin typeface="Calibri" pitchFamily="34" charset="0"/>
                <a:ea typeface="Calibri" pitchFamily="34" charset="-122"/>
                <a:cs typeface="Calibri" pitchFamily="34" charset="-120"/>
              </a:rPr>
              <a:t>Make one small change to example.py and explain how the result changes.</a:t>
            </a:r>
            <a:endParaRPr lang="en-US" sz="1400" dirty="0"/>
          </a:p>
        </p:txBody>
      </p:sp>
      <p:sp>
        <p:nvSpPr>
          <p:cNvPr id="4" name="Shape 2"/>
          <p:cNvSpPr/>
          <p:nvPr/>
        </p:nvSpPr>
        <p:spPr>
          <a:xfrm>
            <a:off x="640080" y="1600200"/>
            <a:ext cx="6400800" cy="4846320"/>
          </a:xfrm>
          <a:prstGeom prst="roundRect">
            <a:avLst>
              <a:gd name="adj" fmla="val 1132"/>
            </a:avLst>
          </a:prstGeom>
          <a:solidFill>
            <a:srgbClr val="F5F7F3"/>
          </a:solidFill>
          <a:ln w="12700">
            <a:solidFill>
              <a:srgbClr val="D7DCD1"/>
            </a:solidFill>
            <a:prstDash val="solid"/>
          </a:ln>
        </p:spPr>
      </p:sp>
      <p:sp>
        <p:nvSpPr>
          <p:cNvPr id="5" name="Text 3"/>
          <p:cNvSpPr txBox="1"/>
          <p:nvPr/>
        </p:nvSpPr>
        <p:spPr>
          <a:xfrm>
            <a:off x="868680" y="1783080"/>
            <a:ext cx="5943600" cy="4480560"/>
          </a:xfrm>
          <a:prstGeom prst="rect">
            <a:avLst/>
          </a:prstGeom>
          <a:noFill/>
          <a:ln/>
        </p:spPr>
        <p:txBody>
          <a:bodyPr wrap="square" lIns="0" tIns="0" rIns="0" bIns="0" rtlCol="0" anchor="t"/>
          <a:lstStyle/>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once and note the request you typed and the category returned.</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Predict what category a different request would get.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Run the example again with a different request.</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Compare the new category to your prediction.</a:t>
            </a:r>
            <a:endParaRPr lang="en-US" sz="1250" dirty="0"/>
          </a:p>
          <a:p>
            <a:pPr marL="342900" indent="-342900">
              <a:spcAft>
                <a:spcPts val="900"/>
              </a:spcAft>
              <a:buSzPct val="100000"/>
              <a:buChar char="→"/>
            </a:pPr>
            <a:r>
              <a:rPr lang="en-US" sz="1250" dirty="0">
                <a:solidFill>
                  <a:srgbClr val="1A1E22"/>
                </a:solidFill>
                <a:latin typeface="Calibri" pitchFamily="34" charset="0"/>
                <a:ea typeface="Calibri" pitchFamily="34" charset="-122"/>
                <a:cs typeface="Calibri" pitchFamily="34" charset="-120"/>
              </a:rPr>
              <a:t>Write three sentences: request, category, why you think it chose that.</a:t>
            </a:r>
            <a:endParaRPr lang="en-US" sz="1250" dirty="0"/>
          </a:p>
        </p:txBody>
      </p:sp>
      <p:sp>
        <p:nvSpPr>
          <p:cNvPr id="6" name="Shape 4"/>
          <p:cNvSpPr/>
          <p:nvPr/>
        </p:nvSpPr>
        <p:spPr>
          <a:xfrm>
            <a:off x="7269480" y="1600200"/>
            <a:ext cx="4251960" cy="4846320"/>
          </a:xfrm>
          <a:prstGeom prst="roundRect">
            <a:avLst>
              <a:gd name="adj" fmla="val 1290"/>
            </a:avLst>
          </a:prstGeom>
          <a:solidFill>
            <a:srgbClr val="3E5064"/>
          </a:solidFill>
          <a:ln/>
        </p:spPr>
      </p:sp>
      <p:sp>
        <p:nvSpPr>
          <p:cNvPr id="7" name="Text 5"/>
          <p:cNvSpPr txBox="1"/>
          <p:nvPr/>
        </p:nvSpPr>
        <p:spPr>
          <a:xfrm>
            <a:off x="7498080" y="1783080"/>
            <a:ext cx="3840480" cy="320040"/>
          </a:xfrm>
          <a:prstGeom prst="rect">
            <a:avLst/>
          </a:prstGeom>
          <a:noFill/>
          <a:ln/>
        </p:spPr>
        <p:txBody>
          <a:bodyPr wrap="square" lIns="0" tIns="0" rIns="0" bIns="0" rtlCol="0" anchor="ctr"/>
          <a:lstStyle/>
          <a:p>
            <a:pPr indent="0" marL="0">
              <a:buNone/>
            </a:pPr>
            <a:r>
              <a:rPr lang="en-US" sz="1100" b="1" spc="100" kern="0" dirty="0">
                <a:solidFill>
                  <a:srgbClr val="D9932B"/>
                </a:solidFill>
                <a:latin typeface="Consolas" pitchFamily="34" charset="0"/>
                <a:ea typeface="Consolas" pitchFamily="34" charset="-122"/>
                <a:cs typeface="Consolas" pitchFamily="34" charset="-120"/>
              </a:rPr>
              <a:t>RULES</a:t>
            </a:r>
            <a:endParaRPr lang="en-US" sz="1100" dirty="0"/>
          </a:p>
        </p:txBody>
      </p:sp>
      <p:sp>
        <p:nvSpPr>
          <p:cNvPr id="8" name="Text 6"/>
          <p:cNvSpPr txBox="1"/>
          <p:nvPr/>
        </p:nvSpPr>
        <p:spPr>
          <a:xfrm>
            <a:off x="7498080" y="2148840"/>
            <a:ext cx="3886200" cy="4206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the example in one Python file.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LangGraph directly.</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No test folder or helper package.</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Use the uv commands shown — no other package manager.</a:t>
            </a:r>
            <a:endParaRPr lang="en-US" sz="1150" dirty="0"/>
          </a:p>
          <a:p>
            <a:pPr marL="342900" indent="-342900">
              <a:spcAft>
                <a:spcPts val="700"/>
              </a:spcAft>
              <a:buSzPct val="100000"/>
              <a:buChar char="•"/>
            </a:pPr>
            <a:r>
              <a:rPr lang="en-US" sz="1150" dirty="0">
                <a:solidFill>
                  <a:srgbClr val="F5F7F3"/>
                </a:solidFill>
                <a:latin typeface="Calibri" pitchFamily="34" charset="0"/>
                <a:ea typeface="Calibri" pitchFamily="34" charset="-122"/>
                <a:cs typeface="Calibri" pitchFamily="34" charset="-120"/>
              </a:rPr>
              <a:t>Keep MODEL = "gpt-oss:120b-cloud" unchanged.</a:t>
            </a:r>
            <a:endParaRPr lang="en-US" sz="1150" dirty="0"/>
          </a:p>
        </p:txBody>
      </p:sp>
      <p:sp>
        <p:nvSpPr>
          <p:cNvPr id="9" name="Text 7"/>
          <p:cNvSpPr txBox="1"/>
          <p:nvPr/>
        </p:nvSpPr>
        <p:spPr>
          <a:xfrm>
            <a:off x="457200" y="6510528"/>
            <a:ext cx="8229600" cy="274320"/>
          </a:xfrm>
          <a:prstGeom prst="rect">
            <a:avLst/>
          </a:prstGeom>
          <a:noFill/>
          <a:ln/>
        </p:spPr>
        <p:txBody>
          <a:bodyPr wrap="square" lIns="0" tIns="0" rIns="0" bIns="0" rtlCol="0" anchor="ctr"/>
          <a:lstStyle/>
          <a:p>
            <a:pPr indent="0" marL="0">
              <a:buNone/>
            </a:pPr>
            <a:r>
              <a:rPr lang="en-US" sz="900" dirty="0">
                <a:solidFill>
                  <a:srgbClr val="5B646B"/>
                </a:solidFill>
                <a:latin typeface="Consolas" pitchFamily="34" charset="0"/>
                <a:ea typeface="Consolas" pitchFamily="34" charset="-122"/>
                <a:cs typeface="Consolas" pitchFamily="34" charset="-120"/>
              </a:rPr>
              <a:t>DAY 02  ·  DEVELOPMENT FOUNDATION</a:t>
            </a:r>
            <a:endParaRPr lang="en-US" sz="900" dirty="0"/>
          </a:p>
        </p:txBody>
      </p:sp>
      <p:sp>
        <p:nvSpPr>
          <p:cNvPr id="10" name="Text 8"/>
          <p:cNvSpPr txBox="1"/>
          <p:nvPr/>
        </p:nvSpPr>
        <p:spPr>
          <a:xfrm>
            <a:off x="8961120" y="6510528"/>
            <a:ext cx="2743200" cy="274320"/>
          </a:xfrm>
          <a:prstGeom prst="rect">
            <a:avLst/>
          </a:prstGeom>
          <a:noFill/>
          <a:ln/>
        </p:spPr>
        <p:txBody>
          <a:bodyPr wrap="square" lIns="0" tIns="0" rIns="0" bIns="0" rtlCol="0" anchor="ctr"/>
          <a:lstStyle/>
          <a:p>
            <a:pPr algn="r" indent="0" marL="0">
              <a:buNone/>
            </a:pPr>
            <a:r>
              <a:rPr lang="en-US" sz="900" dirty="0">
                <a:solidFill>
                  <a:srgbClr val="5B646B"/>
                </a:solidFill>
                <a:latin typeface="Consolas" pitchFamily="34" charset="0"/>
                <a:ea typeface="Consolas" pitchFamily="34" charset="-122"/>
                <a:cs typeface="Consolas" pitchFamily="34" charset="-120"/>
              </a:rPr>
              <a:t>L2 AGENT ENGINEERING</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71B"/>
        </a:solidFill>
      </p:bgPr>
    </p:bg>
    <p:spTree>
      <p:nvGrpSpPr>
        <p:cNvPr id="1" name=""/>
        <p:cNvGrpSpPr/>
        <p:nvPr/>
      </p:nvGrpSpPr>
      <p:grpSpPr>
        <a:xfrm>
          <a:off x="0" y="0"/>
          <a:ext cx="0" cy="0"/>
          <a:chOff x="0" y="0"/>
          <a:chExt cx="0" cy="0"/>
        </a:xfrm>
      </p:grpSpPr>
      <p:sp>
        <p:nvSpPr>
          <p:cNvPr id="2" name="Text 0"/>
          <p:cNvSpPr txBox="1"/>
          <p:nvPr/>
        </p:nvSpPr>
        <p:spPr>
          <a:xfrm>
            <a:off x="640080" y="502920"/>
            <a:ext cx="9144000" cy="548640"/>
          </a:xfrm>
          <a:prstGeom prst="rect">
            <a:avLst/>
          </a:prstGeom>
          <a:noFill/>
          <a:ln/>
        </p:spPr>
        <p:txBody>
          <a:bodyPr wrap="square" lIns="0" tIns="0" rIns="0" bIns="0" rtlCol="0" anchor="ctr"/>
          <a:lstStyle/>
          <a:p>
            <a:pPr indent="0" marL="0">
              <a:buNone/>
            </a:pPr>
            <a:r>
              <a:rPr lang="en-US" sz="2600" b="1" dirty="0">
                <a:solidFill>
                  <a:srgbClr val="FFFFFF"/>
                </a:solidFill>
                <a:latin typeface="Consolas" pitchFamily="34" charset="0"/>
                <a:ea typeface="Consolas" pitchFamily="34" charset="-122"/>
                <a:cs typeface="Consolas" pitchFamily="34" charset="-120"/>
              </a:rPr>
              <a:t>Before You Move On</a:t>
            </a:r>
            <a:endParaRPr lang="en-US" sz="2600" dirty="0"/>
          </a:p>
        </p:txBody>
      </p:sp>
      <p:sp>
        <p:nvSpPr>
          <p:cNvPr id="3" name="Text 1"/>
          <p:cNvSpPr txBox="1"/>
          <p:nvPr/>
        </p:nvSpPr>
        <p:spPr>
          <a:xfrm>
            <a:off x="685800" y="1280160"/>
            <a:ext cx="7498080" cy="45720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The file still runs and reaches the model.</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name the input, the one node, the route, the output.</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can explain who controls the next step vs. what the model produces.</a:t>
            </a:r>
            <a:endParaRPr lang="en-US" sz="1350" dirty="0"/>
          </a:p>
          <a:p>
            <a:pPr marL="342900" indent="-342900">
              <a:spcAft>
                <a:spcPts val="1000"/>
              </a:spcAft>
              <a:buSzPct val="100000"/>
              <a:buChar char="✓"/>
            </a:pPr>
            <a:r>
              <a:rPr lang="en-US" sz="1350" dirty="0">
                <a:solidFill>
                  <a:srgbClr val="E8ECEF"/>
                </a:solidFill>
                <a:latin typeface="Calibri" pitchFamily="34" charset="0"/>
                <a:ea typeface="Calibri" pitchFamily="34" charset="-122"/>
                <a:cs typeface="Calibri" pitchFamily="34" charset="-120"/>
              </a:rPr>
              <a:t>You tried at least two different IT requests.</a:t>
            </a:r>
            <a:endParaRPr lang="en-US" sz="1350" dirty="0"/>
          </a:p>
        </p:txBody>
      </p:sp>
      <p:sp>
        <p:nvSpPr>
          <p:cNvPr id="4" name="Shape 2"/>
          <p:cNvSpPr/>
          <p:nvPr/>
        </p:nvSpPr>
        <p:spPr>
          <a:xfrm>
            <a:off x="8503920" y="1280160"/>
            <a:ext cx="3017520" cy="4572000"/>
          </a:xfrm>
          <a:prstGeom prst="roundRect">
            <a:avLst>
              <a:gd name="adj" fmla="val 1818"/>
            </a:avLst>
          </a:prstGeom>
          <a:solidFill>
            <a:srgbClr val="1E232A"/>
          </a:solidFill>
          <a:ln w="12700">
            <a:solidFill>
              <a:srgbClr val="2E353D"/>
            </a:solidFill>
            <a:prstDash val="solid"/>
          </a:ln>
        </p:spPr>
      </p:sp>
      <p:sp>
        <p:nvSpPr>
          <p:cNvPr id="5" name="Text 3"/>
          <p:cNvSpPr txBox="1"/>
          <p:nvPr/>
        </p:nvSpPr>
        <p:spPr>
          <a:xfrm>
            <a:off x="8732520" y="1463040"/>
            <a:ext cx="2560320" cy="274320"/>
          </a:xfrm>
          <a:prstGeom prst="rect">
            <a:avLst/>
          </a:prstGeom>
          <a:noFill/>
          <a:ln/>
        </p:spPr>
        <p:txBody>
          <a:bodyPr wrap="square" lIns="0" tIns="0" rIns="0" bIns="0" rtlCol="0" anchor="ctr"/>
          <a:lstStyle/>
          <a:p>
            <a:pPr indent="0" marL="0">
              <a:buNone/>
            </a:pPr>
            <a:r>
              <a:rPr lang="en-US" sz="1000" b="1" spc="100" kern="0" dirty="0">
                <a:solidFill>
                  <a:srgbClr val="D9932B"/>
                </a:solidFill>
                <a:latin typeface="Consolas" pitchFamily="34" charset="0"/>
                <a:ea typeface="Consolas" pitchFamily="34" charset="-122"/>
                <a:cs typeface="Consolas" pitchFamily="34" charset="-120"/>
              </a:rPr>
              <a:t>USEFUL LINKS</a:t>
            </a:r>
            <a:endParaRPr lang="en-US" sz="1000" dirty="0"/>
          </a:p>
        </p:txBody>
      </p:sp>
      <p:sp>
        <p:nvSpPr>
          <p:cNvPr id="6" name="Text 4">
            <a:hlinkClick r:id="rId1" tooltip=""/>
          </p:cNvPr>
          <p:cNvSpPr txBox="1"/>
          <p:nvPr/>
        </p:nvSpPr>
        <p:spPr>
          <a:xfrm>
            <a:off x="8732520" y="18288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Day 2 README</a:t>
            </a:r>
            <a:endParaRPr lang="en-US" sz="1150" dirty="0"/>
          </a:p>
        </p:txBody>
      </p:sp>
      <p:sp>
        <p:nvSpPr>
          <p:cNvPr id="7" name="Text 5">
            <a:hlinkClick r:id="rId2" tooltip=""/>
          </p:cNvPr>
          <p:cNvSpPr txBox="1"/>
          <p:nvPr/>
        </p:nvSpPr>
        <p:spPr>
          <a:xfrm>
            <a:off x="8732520" y="2286000"/>
            <a:ext cx="2560320" cy="411480"/>
          </a:xfrm>
          <a:prstGeom prst="rect">
            <a:avLst/>
          </a:prstGeom>
          <a:noFill/>
          <a:ln/>
        </p:spPr>
        <p:txBody>
          <a:bodyPr wrap="square" lIns="0" tIns="0" rIns="0" bIns="0" rtlCol="0" anchor="ctr"/>
          <a:lstStyle/>
          <a:p>
            <a:pPr indent="0" marL="0">
              <a:buNone/>
            </a:pPr>
            <a:r>
              <a:rPr lang="en-US" sz="1150" u="sng" dirty="0">
                <a:solidFill>
                  <a:srgbClr val="CFE8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Ollama Python library</a:t>
            </a:r>
            <a:endParaRPr lang="en-US" sz="1150" dirty="0"/>
          </a:p>
        </p:txBody>
      </p:sp>
      <p:sp>
        <p:nvSpPr>
          <p:cNvPr id="8" name="Text 6">
            <a:hlinkClick r:id="rId3" tooltip="" action="ppaction://hlinksldjump"/>
          </p:cNvPr>
          <p:cNvSpPr txBox="1"/>
          <p:nvPr/>
        </p:nvSpPr>
        <p:spPr>
          <a:xfrm>
            <a:off x="685800" y="6126480"/>
            <a:ext cx="1828800" cy="320040"/>
          </a:xfrm>
          <a:prstGeom prst="rect">
            <a:avLst/>
          </a:prstGeom>
          <a:noFill/>
          <a:ln/>
        </p:spPr>
        <p:txBody>
          <a:bodyPr wrap="square" lIns="0" tIns="0" rIns="0" bIns="0" rtlCol="0" anchor="ctr"/>
          <a:lstStyle/>
          <a:p>
            <a:pPr indent="0" marL="0">
              <a:buNone/>
            </a:pPr>
            <a:r>
              <a:rPr lang="en-US" sz="1100" u="sng" dirty="0">
                <a:solidFill>
                  <a:srgbClr val="8A939A"/>
                </a:solidFill>
                <a:latin typeface="Consolas" pitchFamily="34" charset="0"/>
                <a:ea typeface="Consolas" pitchFamily="34" charset="-122"/>
                <a:cs typeface="Consolas" pitchFamily="34" charset="-120"/>
                <a:hlinkClick r:id="rId3" action="ppaction://hlinksldjump" tooltip="">
                  <a:extLst>
                    <a:ext uri="{A12FA001-AC4F-418D-AE19-62706E023703}">
                      <ahyp:hlinkClr xmlns:ahyp="http://schemas.microsoft.com/office/drawing/2018/hyperlinkcolor" val="tx"/>
                    </a:ext>
                  </a:extLst>
                </a:hlinkClick>
              </a:rPr>
              <a:t>↑ agenda</a:t>
            </a:r>
            <a:endParaRPr lang="en-US" sz="1100" dirty="0"/>
          </a:p>
        </p:txBody>
      </p:sp>
      <p:sp>
        <p:nvSpPr>
          <p:cNvPr id="9" name="Shape 7"/>
          <p:cNvSpPr/>
          <p:nvPr/>
        </p:nvSpPr>
        <p:spPr>
          <a:xfrm>
            <a:off x="8503920" y="5989320"/>
            <a:ext cx="3017520" cy="548640"/>
          </a:xfrm>
          <a:prstGeom prst="roundRect">
            <a:avLst>
              <a:gd name="adj" fmla="val 50000"/>
            </a:avLst>
          </a:prstGeom>
          <a:solidFill>
            <a:srgbClr val="D9932B"/>
          </a:solidFill>
          <a:ln/>
        </p:spPr>
      </p:sp>
      <p:sp>
        <p:nvSpPr>
          <p:cNvPr id="10" name="Text 8">
            <a:hlinkClick r:id="rId4" tooltip=""/>
          </p:cNvPr>
          <p:cNvSpPr txBox="1"/>
          <p:nvPr/>
        </p:nvSpPr>
        <p:spPr>
          <a:xfrm>
            <a:off x="8503920" y="5989320"/>
            <a:ext cx="3017520" cy="548640"/>
          </a:xfrm>
          <a:prstGeom prst="rect">
            <a:avLst/>
          </a:prstGeom>
          <a:noFill/>
          <a:ln/>
        </p:spPr>
        <p:txBody>
          <a:bodyPr wrap="square" lIns="0" tIns="0" rIns="0" bIns="0" rtlCol="0" anchor="ctr"/>
          <a:lstStyle/>
          <a:p>
            <a:pPr algn="ctr" indent="0" marL="0">
              <a:buNone/>
            </a:pPr>
            <a:r>
              <a:rPr lang="en-US" sz="1200" b="1" u="sng" dirty="0">
                <a:solidFill>
                  <a:srgbClr val="241A0A"/>
                </a:solidFill>
                <a:latin typeface="Consolas" pitchFamily="34" charset="0"/>
                <a:ea typeface="Consolas" pitchFamily="34" charset="-122"/>
                <a:cs typeface="Consolas" pitchFamily="34" charset="-120"/>
                <a:hlinkClick r:id="rId4" invalidUrl="" action="" tgtFrame="" tooltip="" history="1" highlightClick="0" endSnd="0">
                  <a:extLst>
                    <a:ext uri="{A12FA001-AC4F-418D-AE19-62706E023703}">
                      <ahyp:hlinkClr xmlns:ahyp="http://schemas.microsoft.com/office/drawing/2018/hyperlinkcolor" val="tx"/>
                    </a:ext>
                  </a:extLst>
                </a:hlinkClick>
              </a:rPr>
              <a:t>Next: Day 3  →</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L2 Agent Engineering</dc:creator>
  <cp:lastModifiedBy>L2 Agent Engineering</cp:lastModifiedBy>
  <cp:revision>1</cp:revision>
  <dcterms:created xsi:type="dcterms:W3CDTF">2026-09-07T10:04:29Z</dcterms:created>
  <dcterms:modified xsi:type="dcterms:W3CDTF">2026-09-07T10:04:29Z</dcterms:modified>
</cp:coreProperties>
</file>