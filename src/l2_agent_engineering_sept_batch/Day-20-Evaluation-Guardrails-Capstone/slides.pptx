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Outcome: a learner explains three guardrail layers, reads an evaluation report, and presents the capstone.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Outcome: a learner explains three guardrail layers, reads an evaluation report, and presents the capstone.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Outcome: a learner explains three guardrail layers, reads an evaluation report, and presents the capstone.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Outcome: a learner explains three guardrail layers, reads an evaluation report, and presents the capstone.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Outcome: a learner explains three guardrail layers, reads an evaluation report, and presents the capstone.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Outcome: a learner explains three guardrail layers, reads an evaluation report, and presents the capstone.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Outcome: a learner explains three guardrail layers, reads an evaluation report, and presents the capstone.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Outcome: a learner explains three guardrail layers, reads an evaluation report, and presents the capstone.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Outcome: a learner explains three guardrail layers, reads an evaluation report, and presents the capstone.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Outcome: a learner explains three guardrail layers, reads an evaluation report, and presents the capstone.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Outcome: a learner explains three guardrail layers, reads an evaluation report, and presents the capstone.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Outcome: a learner explains three guardrail layers, reads an evaluation report, and presents the capstone.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Outcome: a learner explains three guardrail layers, reads an evaluation report, and presents the capstone.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Outcome: a learner explains three guardrail layers, reads an evaluation report, and presents the capstone.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Outcome: a learner explains three guardrail layers, reads an evaluation report, and presents the capstone.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518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9436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spc="400" kern="0" dirty="0">
                <a:solidFill>
                  <a:srgbClr val="D993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DAY 20</a:t>
            </a:r>
            <a:endParaRPr lang="en-US" sz="20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00584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spc="300" kern="0" dirty="0">
                <a:solidFill>
                  <a:srgbClr val="8A92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GUARD  ·  EVALUATE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 flipV="1">
            <a:off x="10081260" y="754380"/>
            <a:ext cx="1143000" cy="731520"/>
          </a:xfrm>
          <a:prstGeom prst="line">
            <a:avLst/>
          </a:prstGeom>
          <a:noFill/>
          <a:ln w="19050">
            <a:solidFill>
              <a:srgbClr val="8A929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1224260" y="754380"/>
            <a:ext cx="502920" cy="1280160"/>
          </a:xfrm>
          <a:prstGeom prst="line">
            <a:avLst/>
          </a:prstGeom>
          <a:noFill/>
          <a:ln w="19050">
            <a:solidFill>
              <a:srgbClr val="8A929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081260" y="1485900"/>
            <a:ext cx="594360" cy="1143000"/>
          </a:xfrm>
          <a:prstGeom prst="line">
            <a:avLst/>
          </a:prstGeom>
          <a:noFill/>
          <a:ln w="19050">
            <a:solidFill>
              <a:srgbClr val="8A929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 flipH="1">
            <a:off x="10675620" y="2034540"/>
            <a:ext cx="1051560" cy="594360"/>
          </a:xfrm>
          <a:prstGeom prst="line">
            <a:avLst/>
          </a:prstGeom>
          <a:noFill/>
          <a:ln w="19050">
            <a:solidFill>
              <a:srgbClr val="8A929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675620" y="2628900"/>
            <a:ext cx="640080" cy="502920"/>
          </a:xfrm>
          <a:prstGeom prst="line">
            <a:avLst/>
          </a:prstGeom>
          <a:noFill/>
          <a:ln w="19050">
            <a:solidFill>
              <a:srgbClr val="8A929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 flipH="1">
            <a:off x="11315700" y="2034540"/>
            <a:ext cx="411480" cy="1097280"/>
          </a:xfrm>
          <a:prstGeom prst="line">
            <a:avLst/>
          </a:prstGeom>
          <a:noFill/>
          <a:ln w="19050">
            <a:solidFill>
              <a:srgbClr val="8A929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9692640" y="1097280"/>
            <a:ext cx="777240" cy="777240"/>
          </a:xfrm>
          <a:prstGeom prst="ellipse">
            <a:avLst/>
          </a:prstGeom>
          <a:solidFill>
            <a:srgbClr val="3E5064"/>
          </a:solidFill>
          <a:ln w="12700">
            <a:solidFill>
              <a:srgbClr val="3E5064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0972800" y="502920"/>
            <a:ext cx="502920" cy="502920"/>
          </a:xfrm>
          <a:prstGeom prst="ellipse">
            <a:avLst/>
          </a:prstGeom>
          <a:solidFill>
            <a:srgbClr val="D9932B"/>
          </a:solidFill>
          <a:ln w="12700">
            <a:solidFill>
              <a:srgbClr val="D9932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1292840" y="1600200"/>
            <a:ext cx="868680" cy="868680"/>
          </a:xfrm>
          <a:prstGeom prst="ellipse">
            <a:avLst/>
          </a:prstGeom>
          <a:solidFill>
            <a:srgbClr val="3E5064"/>
          </a:solidFill>
          <a:ln w="12700">
            <a:solidFill>
              <a:srgbClr val="3E5064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0378440" y="2331720"/>
            <a:ext cx="594360" cy="594360"/>
          </a:xfrm>
          <a:prstGeom prst="ellipse">
            <a:avLst/>
          </a:prstGeom>
          <a:solidFill>
            <a:srgbClr val="5B646B"/>
          </a:solidFill>
          <a:ln w="12700">
            <a:solidFill>
              <a:srgbClr val="5B646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1064240" y="2880360"/>
            <a:ext cx="502920" cy="502920"/>
          </a:xfrm>
          <a:prstGeom prst="ellipse">
            <a:avLst/>
          </a:prstGeom>
          <a:solidFill>
            <a:srgbClr val="D9932B"/>
          </a:solidFill>
          <a:ln w="12700">
            <a:solidFill>
              <a:srgbClr val="D9932B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40080" y="3017520"/>
            <a:ext cx="84124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Guardrails, Evaluation &amp; Capstone</a:t>
            </a:r>
            <a:endParaRPr lang="en-US" sz="4400" dirty="0"/>
          </a:p>
        </p:txBody>
      </p:sp>
      <p:sp>
        <p:nvSpPr>
          <p:cNvPr id="16" name="Text 14"/>
          <p:cNvSpPr txBox="1"/>
          <p:nvPr/>
        </p:nvSpPr>
        <p:spPr>
          <a:xfrm>
            <a:off x="640080" y="475488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rgbClr val="8A92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guardrail asks “is this allowed?”  An evaluation asks “is this good?”</a:t>
            </a:r>
            <a:endParaRPr lang="en-US" sz="2000" dirty="0"/>
          </a:p>
        </p:txBody>
      </p:sp>
      <p:sp>
        <p:nvSpPr>
          <p:cNvPr id="17" name="Text 15"/>
          <p:cNvSpPr txBox="1"/>
          <p:nvPr/>
        </p:nvSpPr>
        <p:spPr>
          <a:xfrm>
            <a:off x="640080" y="61264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A92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uv run python Day-20-Evaluation-Guardrails-Capstone\example.py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6576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E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What's Inside Today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64008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4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DAY 20  ·  GUARDRAILS, EVALUATION &amp; CAPSTONE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8046720" y="64008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L2 AGENT ENGINEERING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640080" y="1371600"/>
            <a:ext cx="475488" cy="475488"/>
          </a:xfrm>
          <a:prstGeom prst="ellipse">
            <a:avLst/>
          </a:prstGeom>
          <a:solidFill>
            <a:srgbClr val="D9932B"/>
          </a:solidFill>
          <a:ln w="12700">
            <a:solidFill>
              <a:srgbClr val="D9932B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640080" y="137160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1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1417320" y="1371600"/>
            <a:ext cx="9601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A1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guardrails and evaluation</a:t>
            </a:r>
            <a:endParaRPr lang="en-US" sz="2200" dirty="0"/>
          </a:p>
        </p:txBody>
      </p:sp>
      <p:sp>
        <p:nvSpPr>
          <p:cNvPr id="9" name="Shape 6"/>
          <p:cNvSpPr/>
          <p:nvPr/>
        </p:nvSpPr>
        <p:spPr>
          <a:xfrm>
            <a:off x="640080" y="2121408"/>
            <a:ext cx="475488" cy="475488"/>
          </a:xfrm>
          <a:prstGeom prst="ellipse">
            <a:avLst/>
          </a:prstGeom>
          <a:solidFill>
            <a:srgbClr val="3E5064"/>
          </a:solidFill>
          <a:ln w="12700">
            <a:solidFill>
              <a:srgbClr val="3E5064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640080" y="212140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1" name="Text 8"/>
          <p:cNvSpPr txBox="1"/>
          <p:nvPr/>
        </p:nvSpPr>
        <p:spPr>
          <a:xfrm>
            <a:off x="1417320" y="2121408"/>
            <a:ext cx="9601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A1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Guardrails: node + edge, deterministic vs model</a:t>
            </a:r>
            <a:endParaRPr lang="en-US" sz="2200" dirty="0"/>
          </a:p>
        </p:txBody>
      </p:sp>
      <p:sp>
        <p:nvSpPr>
          <p:cNvPr id="12" name="Shape 9"/>
          <p:cNvSpPr/>
          <p:nvPr/>
        </p:nvSpPr>
        <p:spPr>
          <a:xfrm>
            <a:off x="640080" y="2871216"/>
            <a:ext cx="475488" cy="475488"/>
          </a:xfrm>
          <a:prstGeom prst="ellipse">
            <a:avLst/>
          </a:prstGeom>
          <a:solidFill>
            <a:srgbClr val="3E5064"/>
          </a:solidFill>
          <a:ln w="12700">
            <a:solidFill>
              <a:srgbClr val="3E5064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640080" y="2871216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4" name="Text 11"/>
          <p:cNvSpPr txBox="1"/>
          <p:nvPr/>
        </p:nvSpPr>
        <p:spPr>
          <a:xfrm>
            <a:off x="1417320" y="2871216"/>
            <a:ext cx="9601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A1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three layers in example.py</a:t>
            </a:r>
            <a:endParaRPr lang="en-US" sz="2200" dirty="0"/>
          </a:p>
        </p:txBody>
      </p:sp>
      <p:sp>
        <p:nvSpPr>
          <p:cNvPr id="15" name="Shape 12"/>
          <p:cNvSpPr/>
          <p:nvPr/>
        </p:nvSpPr>
        <p:spPr>
          <a:xfrm>
            <a:off x="640080" y="3621024"/>
            <a:ext cx="475488" cy="475488"/>
          </a:xfrm>
          <a:prstGeom prst="ellipse">
            <a:avLst/>
          </a:prstGeom>
          <a:solidFill>
            <a:srgbClr val="3E5064"/>
          </a:solidFill>
          <a:ln w="12700">
            <a:solidFill>
              <a:srgbClr val="3E5064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640080" y="3621024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17" name="Text 14"/>
          <p:cNvSpPr txBox="1"/>
          <p:nvPr/>
        </p:nvSpPr>
        <p:spPr>
          <a:xfrm>
            <a:off x="1417320" y="3621024"/>
            <a:ext cx="9601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A1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Frameworks you will meet: AWS Bedrock, NeMo</a:t>
            </a:r>
            <a:endParaRPr lang="en-US" sz="2200" dirty="0"/>
          </a:p>
        </p:txBody>
      </p:sp>
      <p:sp>
        <p:nvSpPr>
          <p:cNvPr id="18" name="Shape 15"/>
          <p:cNvSpPr/>
          <p:nvPr/>
        </p:nvSpPr>
        <p:spPr>
          <a:xfrm>
            <a:off x="640080" y="4370832"/>
            <a:ext cx="475488" cy="475488"/>
          </a:xfrm>
          <a:prstGeom prst="ellipse">
            <a:avLst/>
          </a:prstGeom>
          <a:solidFill>
            <a:srgbClr val="3E5064"/>
          </a:solidFill>
          <a:ln w="12700">
            <a:solidFill>
              <a:srgbClr val="3E5064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640080" y="437083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20" name="Text 17"/>
          <p:cNvSpPr txBox="1"/>
          <p:nvPr/>
        </p:nvSpPr>
        <p:spPr>
          <a:xfrm>
            <a:off x="1417320" y="4370832"/>
            <a:ext cx="9601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A1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Evaluation: golden set, judge, false positives</a:t>
            </a:r>
            <a:endParaRPr lang="en-US" sz="2200" dirty="0"/>
          </a:p>
        </p:txBody>
      </p:sp>
      <p:sp>
        <p:nvSpPr>
          <p:cNvPr id="21" name="Shape 18"/>
          <p:cNvSpPr/>
          <p:nvPr/>
        </p:nvSpPr>
        <p:spPr>
          <a:xfrm>
            <a:off x="640080" y="5120640"/>
            <a:ext cx="475488" cy="475488"/>
          </a:xfrm>
          <a:prstGeom prst="ellipse">
            <a:avLst/>
          </a:prstGeom>
          <a:solidFill>
            <a:srgbClr val="3E5064"/>
          </a:solidFill>
          <a:ln w="12700">
            <a:solidFill>
              <a:srgbClr val="3E5064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640080" y="512064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600" dirty="0"/>
          </a:p>
        </p:txBody>
      </p:sp>
      <p:sp>
        <p:nvSpPr>
          <p:cNvPr id="23" name="Text 20"/>
          <p:cNvSpPr txBox="1"/>
          <p:nvPr/>
        </p:nvSpPr>
        <p:spPr>
          <a:xfrm>
            <a:off x="1417320" y="5120640"/>
            <a:ext cx="9601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A1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code, the lab, the assignment</a:t>
            </a:r>
            <a:endParaRPr lang="en-US" sz="2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6576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E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Why This Matters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64008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4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DAY 20  ·  GUARDRAILS, EVALUATION &amp; CAPSTONE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8046720" y="64008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L2 AGENT ENGINEERING</a:t>
            </a:r>
            <a:endParaRPr lang="en-US" sz="1000" dirty="0"/>
          </a:p>
        </p:txBody>
      </p:sp>
      <p:sp>
        <p:nvSpPr>
          <p:cNvPr id="6" name="Text 3"/>
          <p:cNvSpPr txBox="1"/>
          <p:nvPr/>
        </p:nvSpPr>
        <p:spPr>
          <a:xfrm>
            <a:off x="640080" y="118872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5B64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agent that works in a demo is not yet an agent you can release. Two questions remain.</a:t>
            </a:r>
            <a:endParaRPr lang="en-US" sz="2200" dirty="0"/>
          </a:p>
        </p:txBody>
      </p:sp>
      <p:sp>
        <p:nvSpPr>
          <p:cNvPr id="7" name="Shape 4"/>
          <p:cNvSpPr/>
          <p:nvPr/>
        </p:nvSpPr>
        <p:spPr>
          <a:xfrm>
            <a:off x="640080" y="2377440"/>
            <a:ext cx="5303520" cy="3108960"/>
          </a:xfrm>
          <a:prstGeom prst="roundRect">
            <a:avLst>
              <a:gd name="adj" fmla="val 2353"/>
            </a:avLst>
          </a:prstGeom>
          <a:solidFill>
            <a:srgbClr val="F5F7F3"/>
          </a:solidFill>
          <a:ln w="12700">
            <a:solidFill>
              <a:srgbClr val="D7DCD1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1005840" y="2697480"/>
            <a:ext cx="640080" cy="640080"/>
          </a:xfrm>
          <a:prstGeom prst="ellipse">
            <a:avLst/>
          </a:prstGeom>
          <a:solidFill>
            <a:srgbClr val="D9932B"/>
          </a:solidFill>
          <a:ln w="12700">
            <a:solidFill>
              <a:srgbClr val="D9932B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1005840" y="26974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1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10" name="Text 7"/>
          <p:cNvSpPr txBox="1"/>
          <p:nvPr/>
        </p:nvSpPr>
        <p:spPr>
          <a:xfrm>
            <a:off x="1828800" y="2697480"/>
            <a:ext cx="3840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300" kern="0" dirty="0">
                <a:solidFill>
                  <a:srgbClr val="5B64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GUARDRAILS</a:t>
            </a:r>
            <a:endParaRPr lang="en-US" sz="1600" dirty="0"/>
          </a:p>
        </p:txBody>
      </p:sp>
      <p:sp>
        <p:nvSpPr>
          <p:cNvPr id="11" name="Text 8"/>
          <p:cNvSpPr txBox="1"/>
          <p:nvPr/>
        </p:nvSpPr>
        <p:spPr>
          <a:xfrm>
            <a:off x="1005840" y="3520440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E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Is it safe?</a:t>
            </a:r>
            <a:endParaRPr lang="en-US" sz="2400" dirty="0"/>
          </a:p>
        </p:txBody>
      </p:sp>
      <p:sp>
        <p:nvSpPr>
          <p:cNvPr id="12" name="Text 9"/>
          <p:cNvSpPr txBox="1"/>
          <p:nvPr/>
        </p:nvSpPr>
        <p:spPr>
          <a:xfrm>
            <a:off x="1005840" y="4114800"/>
            <a:ext cx="45720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1A1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Stop bad input, hide private data, check the answer, and ask a human before risky actions.</a:t>
            </a:r>
            <a:endParaRPr lang="en-US" sz="1800" dirty="0"/>
          </a:p>
        </p:txBody>
      </p:sp>
      <p:sp>
        <p:nvSpPr>
          <p:cNvPr id="13" name="Shape 10"/>
          <p:cNvSpPr/>
          <p:nvPr/>
        </p:nvSpPr>
        <p:spPr>
          <a:xfrm>
            <a:off x="6217920" y="2377440"/>
            <a:ext cx="5303520" cy="3108960"/>
          </a:xfrm>
          <a:prstGeom prst="roundRect">
            <a:avLst>
              <a:gd name="adj" fmla="val 2353"/>
            </a:avLst>
          </a:prstGeom>
          <a:solidFill>
            <a:srgbClr val="F5F7F3"/>
          </a:solidFill>
          <a:ln w="12700">
            <a:solidFill>
              <a:srgbClr val="D7DCD1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6583680" y="2697480"/>
            <a:ext cx="640080" cy="640080"/>
          </a:xfrm>
          <a:prstGeom prst="ellipse">
            <a:avLst/>
          </a:prstGeom>
          <a:solidFill>
            <a:srgbClr val="3E5064"/>
          </a:solidFill>
          <a:ln w="12700">
            <a:solidFill>
              <a:srgbClr val="3E5064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6583680" y="26974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6" name="Text 13"/>
          <p:cNvSpPr txBox="1"/>
          <p:nvPr/>
        </p:nvSpPr>
        <p:spPr>
          <a:xfrm>
            <a:off x="7406640" y="2697480"/>
            <a:ext cx="3840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300" kern="0" dirty="0">
                <a:solidFill>
                  <a:srgbClr val="5B64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EVALUATION</a:t>
            </a:r>
            <a:endParaRPr lang="en-US" sz="1600" dirty="0"/>
          </a:p>
        </p:txBody>
      </p:sp>
      <p:sp>
        <p:nvSpPr>
          <p:cNvPr id="17" name="Text 14"/>
          <p:cNvSpPr txBox="1"/>
          <p:nvPr/>
        </p:nvSpPr>
        <p:spPr>
          <a:xfrm>
            <a:off x="6583680" y="3520440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E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How do we know it works?</a:t>
            </a:r>
            <a:endParaRPr lang="en-US" sz="2400" dirty="0"/>
          </a:p>
        </p:txBody>
      </p:sp>
      <p:sp>
        <p:nvSpPr>
          <p:cNvPr id="18" name="Text 15"/>
          <p:cNvSpPr txBox="1"/>
          <p:nvPr/>
        </p:nvSpPr>
        <p:spPr>
          <a:xfrm>
            <a:off x="6583680" y="4114800"/>
            <a:ext cx="45720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1A1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the agent on a test set and score every case. Numbers, not “it looked fine”.</a:t>
            </a:r>
            <a:endParaRPr lang="en-US" sz="1800" dirty="0"/>
          </a:p>
        </p:txBody>
      </p:sp>
      <p:sp>
        <p:nvSpPr>
          <p:cNvPr id="19" name="Text 16"/>
          <p:cNvSpPr txBox="1"/>
          <p:nvPr/>
        </p:nvSpPr>
        <p:spPr>
          <a:xfrm>
            <a:off x="640080" y="576072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5B64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Today's graph wraps one helpdesk agent in guardrails, then measures it.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6576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E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Key Concepts  ·  Guardrail = Node + Edge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64008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4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DAY 20  ·  GUARDRAILS, EVALUATION &amp; CAPSTONE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8046720" y="64008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L2 AGENT ENGINEERING</a:t>
            </a:r>
            <a:endParaRPr lang="en-US" sz="1000" dirty="0"/>
          </a:p>
        </p:txBody>
      </p:sp>
      <p:sp>
        <p:nvSpPr>
          <p:cNvPr id="6" name="Text 3"/>
          <p:cNvSpPr txBox="1"/>
          <p:nvPr/>
        </p:nvSpPr>
        <p:spPr>
          <a:xfrm>
            <a:off x="640080" y="1143000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5B64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hidden middleware: a guardrail is a node, and a stop is a conditional edge. Every check stays visible in the graph.</a:t>
            </a:r>
            <a:endParaRPr lang="en-US" sz="2000" dirty="0"/>
          </a:p>
        </p:txBody>
      </p:sp>
      <p:sp>
        <p:nvSpPr>
          <p:cNvPr id="7" name="Shape 4"/>
          <p:cNvSpPr/>
          <p:nvPr/>
        </p:nvSpPr>
        <p:spPr>
          <a:xfrm>
            <a:off x="640080" y="2103120"/>
            <a:ext cx="5303520" cy="3291840"/>
          </a:xfrm>
          <a:prstGeom prst="roundRect">
            <a:avLst>
              <a:gd name="adj" fmla="val 2222"/>
            </a:avLst>
          </a:prstGeom>
          <a:solidFill>
            <a:srgbClr val="F5F7F3"/>
          </a:solidFill>
          <a:ln w="12700">
            <a:solidFill>
              <a:srgbClr val="D7DCD1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960120" y="2377440"/>
            <a:ext cx="548640" cy="548640"/>
          </a:xfrm>
          <a:prstGeom prst="ellipse">
            <a:avLst/>
          </a:prstGeom>
          <a:solidFill>
            <a:srgbClr val="3E5064"/>
          </a:solidFill>
          <a:ln w="12700">
            <a:solidFill>
              <a:srgbClr val="3E5064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960120" y="23774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600" dirty="0"/>
          </a:p>
        </p:txBody>
      </p:sp>
      <p:sp>
        <p:nvSpPr>
          <p:cNvPr id="10" name="Text 7"/>
          <p:cNvSpPr txBox="1"/>
          <p:nvPr/>
        </p:nvSpPr>
        <p:spPr>
          <a:xfrm>
            <a:off x="1691640" y="233172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1E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Deterministic</a:t>
            </a:r>
            <a:endParaRPr lang="en-US" sz="2200" dirty="0"/>
          </a:p>
        </p:txBody>
      </p:sp>
      <p:sp>
        <p:nvSpPr>
          <p:cNvPr id="11" name="Text 8"/>
          <p:cNvSpPr txBox="1"/>
          <p:nvPr/>
        </p:nvSpPr>
        <p:spPr>
          <a:xfrm>
            <a:off x="1691640" y="2697480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B64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Rules: keywords, regex, length</a:t>
            </a:r>
            <a:endParaRPr lang="en-US" sz="1600" dirty="0"/>
          </a:p>
        </p:txBody>
      </p:sp>
      <p:sp>
        <p:nvSpPr>
          <p:cNvPr id="12" name="Text 9"/>
          <p:cNvSpPr txBox="1"/>
          <p:nvPr/>
        </p:nvSpPr>
        <p:spPr>
          <a:xfrm>
            <a:off x="1005840" y="3383280"/>
            <a:ext cx="45720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1A1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Fast, free, predictable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1A1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Misses paraphrases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1A1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Blocks harmless text (false positive)</a:t>
            </a:r>
            <a:endParaRPr lang="en-US" sz="1800" dirty="0"/>
          </a:p>
        </p:txBody>
      </p:sp>
      <p:sp>
        <p:nvSpPr>
          <p:cNvPr id="13" name="Shape 10"/>
          <p:cNvSpPr/>
          <p:nvPr/>
        </p:nvSpPr>
        <p:spPr>
          <a:xfrm>
            <a:off x="6217920" y="2103120"/>
            <a:ext cx="5303520" cy="3291840"/>
          </a:xfrm>
          <a:prstGeom prst="roundRect">
            <a:avLst>
              <a:gd name="adj" fmla="val 2222"/>
            </a:avLst>
          </a:prstGeom>
          <a:solidFill>
            <a:srgbClr val="F5F7F3"/>
          </a:solidFill>
          <a:ln w="12700">
            <a:solidFill>
              <a:srgbClr val="D7DCD1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6537960" y="2377440"/>
            <a:ext cx="548640" cy="548640"/>
          </a:xfrm>
          <a:prstGeom prst="ellipse">
            <a:avLst/>
          </a:prstGeom>
          <a:solidFill>
            <a:srgbClr val="D9932B"/>
          </a:solidFill>
          <a:ln w="12700">
            <a:solidFill>
              <a:srgbClr val="D9932B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6537960" y="23774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1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</a:t>
            </a:r>
            <a:endParaRPr lang="en-US" sz="1600" dirty="0"/>
          </a:p>
        </p:txBody>
      </p:sp>
      <p:sp>
        <p:nvSpPr>
          <p:cNvPr id="16" name="Text 13"/>
          <p:cNvSpPr txBox="1"/>
          <p:nvPr/>
        </p:nvSpPr>
        <p:spPr>
          <a:xfrm>
            <a:off x="7269480" y="233172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1E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Model-based</a:t>
            </a:r>
            <a:endParaRPr lang="en-US" sz="2200" dirty="0"/>
          </a:p>
        </p:txBody>
      </p:sp>
      <p:sp>
        <p:nvSpPr>
          <p:cNvPr id="17" name="Text 14"/>
          <p:cNvSpPr txBox="1"/>
          <p:nvPr/>
        </p:nvSpPr>
        <p:spPr>
          <a:xfrm>
            <a:off x="7269480" y="2697480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B64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LLM judges the text</a:t>
            </a:r>
            <a:endParaRPr lang="en-US" sz="1600" dirty="0"/>
          </a:p>
        </p:txBody>
      </p:sp>
      <p:sp>
        <p:nvSpPr>
          <p:cNvPr id="18" name="Text 15"/>
          <p:cNvSpPr txBox="1"/>
          <p:nvPr/>
        </p:nvSpPr>
        <p:spPr>
          <a:xfrm>
            <a:off x="6583680" y="3383280"/>
            <a:ext cx="45720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1A1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Understands meaning and context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1A1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Slower, costs tokens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1A1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be wrong or tricked</a:t>
            </a:r>
            <a:endParaRPr lang="en-US" sz="1800" dirty="0"/>
          </a:p>
        </p:txBody>
      </p:sp>
      <p:sp>
        <p:nvSpPr>
          <p:cNvPr id="19" name="Text 16"/>
          <p:cNvSpPr txBox="1"/>
          <p:nvPr/>
        </p:nvSpPr>
        <p:spPr>
          <a:xfrm>
            <a:off x="640080" y="566928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1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 of thumb: cheap deterministic checks first, model-based checks second, a human for high-risk actions.</a:t>
            </a:r>
            <a:endParaRPr lang="en-US" sz="1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6576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E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Key Concepts  ·  Layered Guardrails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64008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4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DAY 20  ·  GUARDRAILS, EVALUATION &amp; CAPSTONE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8046720" y="64008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L2 AGENT ENGINEERING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502920" y="2011680"/>
            <a:ext cx="1920240" cy="731520"/>
          </a:xfrm>
          <a:prstGeom prst="roundRect">
            <a:avLst>
              <a:gd name="adj" fmla="val 7500"/>
            </a:avLst>
          </a:prstGeom>
          <a:solidFill>
            <a:srgbClr val="3E5064"/>
          </a:solidFill>
          <a:ln w="12700">
            <a:solidFill>
              <a:srgbClr val="3E5064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502920" y="2011680"/>
            <a:ext cx="1920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input_filter</a:t>
            </a:r>
            <a:endParaRPr lang="en-US" sz="1500" dirty="0"/>
          </a:p>
        </p:txBody>
      </p:sp>
      <p:sp>
        <p:nvSpPr>
          <p:cNvPr id="8" name="Text 5"/>
          <p:cNvSpPr txBox="1"/>
          <p:nvPr/>
        </p:nvSpPr>
        <p:spPr>
          <a:xfrm>
            <a:off x="457200" y="2834640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5B64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refuse empty or banned input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2423160" y="2377440"/>
            <a:ext cx="365760" cy="0"/>
          </a:xfrm>
          <a:prstGeom prst="line">
            <a:avLst/>
          </a:prstGeom>
          <a:noFill/>
          <a:ln w="22225">
            <a:solidFill>
              <a:srgbClr val="5B646B"/>
            </a:solidFill>
            <a:prstDash val="solid"/>
            <a:tailEnd type="triangle"/>
          </a:ln>
        </p:spPr>
      </p:sp>
      <p:sp>
        <p:nvSpPr>
          <p:cNvPr id="10" name="Shape 7"/>
          <p:cNvSpPr/>
          <p:nvPr/>
        </p:nvSpPr>
        <p:spPr>
          <a:xfrm>
            <a:off x="2788920" y="2011680"/>
            <a:ext cx="1920240" cy="731520"/>
          </a:xfrm>
          <a:prstGeom prst="roundRect">
            <a:avLst>
              <a:gd name="adj" fmla="val 7500"/>
            </a:avLst>
          </a:prstGeom>
          <a:solidFill>
            <a:srgbClr val="3E5064"/>
          </a:solidFill>
          <a:ln w="12700">
            <a:solidFill>
              <a:srgbClr val="3E5064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2788920" y="2011680"/>
            <a:ext cx="1920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redact_pii</a:t>
            </a:r>
            <a:endParaRPr lang="en-US" sz="1500" dirty="0"/>
          </a:p>
        </p:txBody>
      </p:sp>
      <p:sp>
        <p:nvSpPr>
          <p:cNvPr id="12" name="Text 9"/>
          <p:cNvSpPr txBox="1"/>
          <p:nvPr/>
        </p:nvSpPr>
        <p:spPr>
          <a:xfrm>
            <a:off x="2743200" y="2834640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5B64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hide emails, card numbers</a:t>
            </a:r>
            <a:endParaRPr lang="en-US" sz="1400" dirty="0"/>
          </a:p>
        </p:txBody>
      </p:sp>
      <p:sp>
        <p:nvSpPr>
          <p:cNvPr id="13" name="Shape 10"/>
          <p:cNvSpPr/>
          <p:nvPr/>
        </p:nvSpPr>
        <p:spPr>
          <a:xfrm>
            <a:off x="4709160" y="2377440"/>
            <a:ext cx="365760" cy="0"/>
          </a:xfrm>
          <a:prstGeom prst="line">
            <a:avLst/>
          </a:prstGeom>
          <a:noFill/>
          <a:ln w="22225">
            <a:solidFill>
              <a:srgbClr val="5B646B"/>
            </a:solidFill>
            <a:prstDash val="solid"/>
            <a:tailEnd type="triangle"/>
          </a:ln>
        </p:spPr>
      </p:sp>
      <p:sp>
        <p:nvSpPr>
          <p:cNvPr id="14" name="Shape 11"/>
          <p:cNvSpPr/>
          <p:nvPr/>
        </p:nvSpPr>
        <p:spPr>
          <a:xfrm>
            <a:off x="5074920" y="2011680"/>
            <a:ext cx="1920240" cy="731520"/>
          </a:xfrm>
          <a:prstGeom prst="roundRect">
            <a:avLst>
              <a:gd name="adj" fmla="val 7500"/>
            </a:avLst>
          </a:prstGeom>
          <a:solidFill>
            <a:srgbClr val="D9932B"/>
          </a:solidFill>
          <a:ln w="12700">
            <a:solidFill>
              <a:srgbClr val="D9932B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5074920" y="2011680"/>
            <a:ext cx="1920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A1E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agent</a:t>
            </a:r>
            <a:endParaRPr lang="en-US" sz="1500" dirty="0"/>
          </a:p>
        </p:txBody>
      </p:sp>
      <p:sp>
        <p:nvSpPr>
          <p:cNvPr id="16" name="Text 13"/>
          <p:cNvSpPr txBox="1"/>
          <p:nvPr/>
        </p:nvSpPr>
        <p:spPr>
          <a:xfrm>
            <a:off x="5029200" y="2834640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5B64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ollama.chat call</a:t>
            </a:r>
            <a:endParaRPr lang="en-US" sz="1400" dirty="0"/>
          </a:p>
        </p:txBody>
      </p:sp>
      <p:sp>
        <p:nvSpPr>
          <p:cNvPr id="17" name="Shape 14"/>
          <p:cNvSpPr/>
          <p:nvPr/>
        </p:nvSpPr>
        <p:spPr>
          <a:xfrm>
            <a:off x="6995160" y="2377440"/>
            <a:ext cx="365760" cy="0"/>
          </a:xfrm>
          <a:prstGeom prst="line">
            <a:avLst/>
          </a:prstGeom>
          <a:noFill/>
          <a:ln w="22225">
            <a:solidFill>
              <a:srgbClr val="5B646B"/>
            </a:solidFill>
            <a:prstDash val="solid"/>
            <a:tailEnd type="triangle"/>
          </a:ln>
        </p:spPr>
      </p:sp>
      <p:sp>
        <p:nvSpPr>
          <p:cNvPr id="18" name="Shape 15"/>
          <p:cNvSpPr/>
          <p:nvPr/>
        </p:nvSpPr>
        <p:spPr>
          <a:xfrm>
            <a:off x="7360920" y="2011680"/>
            <a:ext cx="1920240" cy="731520"/>
          </a:xfrm>
          <a:prstGeom prst="roundRect">
            <a:avLst>
              <a:gd name="adj" fmla="val 7500"/>
            </a:avLst>
          </a:prstGeom>
          <a:solidFill>
            <a:srgbClr val="3E5064"/>
          </a:solidFill>
          <a:ln w="12700">
            <a:solidFill>
              <a:srgbClr val="3E5064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7360920" y="2011680"/>
            <a:ext cx="1920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output_check</a:t>
            </a:r>
            <a:endParaRPr lang="en-US" sz="1500" dirty="0"/>
          </a:p>
        </p:txBody>
      </p:sp>
      <p:sp>
        <p:nvSpPr>
          <p:cNvPr id="20" name="Text 17"/>
          <p:cNvSpPr txBox="1"/>
          <p:nvPr/>
        </p:nvSpPr>
        <p:spPr>
          <a:xfrm>
            <a:off x="7315200" y="2834640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5B64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PII leaves in the answer</a:t>
            </a:r>
            <a:endParaRPr lang="en-US" sz="1400" dirty="0"/>
          </a:p>
        </p:txBody>
      </p:sp>
      <p:sp>
        <p:nvSpPr>
          <p:cNvPr id="21" name="Shape 18"/>
          <p:cNvSpPr/>
          <p:nvPr/>
        </p:nvSpPr>
        <p:spPr>
          <a:xfrm>
            <a:off x="9281160" y="2377440"/>
            <a:ext cx="365760" cy="0"/>
          </a:xfrm>
          <a:prstGeom prst="line">
            <a:avLst/>
          </a:prstGeom>
          <a:noFill/>
          <a:ln w="22225">
            <a:solidFill>
              <a:srgbClr val="5B646B"/>
            </a:solidFill>
            <a:prstDash val="solid"/>
            <a:tailEnd type="triangle"/>
          </a:ln>
        </p:spPr>
      </p:sp>
      <p:sp>
        <p:nvSpPr>
          <p:cNvPr id="22" name="Shape 19"/>
          <p:cNvSpPr/>
          <p:nvPr/>
        </p:nvSpPr>
        <p:spPr>
          <a:xfrm>
            <a:off x="9646920" y="2011680"/>
            <a:ext cx="1920240" cy="731520"/>
          </a:xfrm>
          <a:prstGeom prst="roundRect">
            <a:avLst>
              <a:gd name="adj" fmla="val 7500"/>
            </a:avLst>
          </a:prstGeom>
          <a:solidFill>
            <a:srgbClr val="D9932B"/>
          </a:solidFill>
          <a:ln w="12700">
            <a:solidFill>
              <a:srgbClr val="D9932B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9646920" y="2011680"/>
            <a:ext cx="1920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A1E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evaluate</a:t>
            </a:r>
            <a:endParaRPr lang="en-US" sz="1500" dirty="0"/>
          </a:p>
        </p:txBody>
      </p:sp>
      <p:sp>
        <p:nvSpPr>
          <p:cNvPr id="24" name="Text 21"/>
          <p:cNvSpPr txBox="1"/>
          <p:nvPr/>
        </p:nvSpPr>
        <p:spPr>
          <a:xfrm>
            <a:off x="9601200" y="2834640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5B64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judge scores 1 to 5</a:t>
            </a:r>
            <a:endParaRPr lang="en-US" sz="1400" dirty="0"/>
          </a:p>
        </p:txBody>
      </p:sp>
      <p:sp>
        <p:nvSpPr>
          <p:cNvPr id="25" name="Shape 22"/>
          <p:cNvSpPr/>
          <p:nvPr/>
        </p:nvSpPr>
        <p:spPr>
          <a:xfrm>
            <a:off x="640080" y="3977640"/>
            <a:ext cx="274320" cy="274320"/>
          </a:xfrm>
          <a:prstGeom prst="ellipse">
            <a:avLst/>
          </a:prstGeom>
          <a:solidFill>
            <a:srgbClr val="3E5064"/>
          </a:solidFill>
          <a:ln w="12700">
            <a:solidFill>
              <a:srgbClr val="3E5064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1005840" y="393192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4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deterministic (free)</a:t>
            </a:r>
            <a:endParaRPr lang="en-US" sz="1400" dirty="0"/>
          </a:p>
        </p:txBody>
      </p:sp>
      <p:sp>
        <p:nvSpPr>
          <p:cNvPr id="27" name="Shape 24"/>
          <p:cNvSpPr/>
          <p:nvPr/>
        </p:nvSpPr>
        <p:spPr>
          <a:xfrm>
            <a:off x="3931920" y="3977640"/>
            <a:ext cx="274320" cy="274320"/>
          </a:xfrm>
          <a:prstGeom prst="ellipse">
            <a:avLst/>
          </a:prstGeom>
          <a:solidFill>
            <a:srgbClr val="D9932B"/>
          </a:solidFill>
          <a:ln w="12700">
            <a:solidFill>
              <a:srgbClr val="D9932B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4297680" y="393192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4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calls the model</a:t>
            </a:r>
            <a:endParaRPr lang="en-US" sz="1400" dirty="0"/>
          </a:p>
        </p:txBody>
      </p:sp>
      <p:sp>
        <p:nvSpPr>
          <p:cNvPr id="29" name="Shape 26"/>
          <p:cNvSpPr/>
          <p:nvPr/>
        </p:nvSpPr>
        <p:spPr>
          <a:xfrm>
            <a:off x="640080" y="4526280"/>
            <a:ext cx="3520440" cy="1645920"/>
          </a:xfrm>
          <a:prstGeom prst="roundRect">
            <a:avLst>
              <a:gd name="adj" fmla="val 4444"/>
            </a:avLst>
          </a:prstGeom>
          <a:solidFill>
            <a:srgbClr val="F5F7F3"/>
          </a:solidFill>
          <a:ln w="12700">
            <a:solidFill>
              <a:srgbClr val="D7DCD1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868680" y="466344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E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Blocked = zero model calls</a:t>
            </a:r>
            <a:endParaRPr lang="en-US" sz="1500" dirty="0"/>
          </a:p>
        </p:txBody>
      </p:sp>
      <p:sp>
        <p:nvSpPr>
          <p:cNvPr id="31" name="Text 28"/>
          <p:cNvSpPr txBox="1"/>
          <p:nvPr/>
        </p:nvSpPr>
        <p:spPr>
          <a:xfrm>
            <a:off x="868680" y="5074920"/>
            <a:ext cx="3108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B64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blocked request goes input_filter → refuse → END. No agent, no evaluate.</a:t>
            </a:r>
            <a:endParaRPr lang="en-US" sz="1400" dirty="0"/>
          </a:p>
        </p:txBody>
      </p:sp>
      <p:sp>
        <p:nvSpPr>
          <p:cNvPr id="32" name="Shape 29"/>
          <p:cNvSpPr/>
          <p:nvPr/>
        </p:nvSpPr>
        <p:spPr>
          <a:xfrm>
            <a:off x="4389120" y="4526280"/>
            <a:ext cx="3520440" cy="1645920"/>
          </a:xfrm>
          <a:prstGeom prst="roundRect">
            <a:avLst>
              <a:gd name="adj" fmla="val 4444"/>
            </a:avLst>
          </a:prstGeom>
          <a:solidFill>
            <a:srgbClr val="F5F7F3"/>
          </a:solidFill>
          <a:ln w="12700">
            <a:solidFill>
              <a:srgbClr val="D7DCD1"/>
            </a:solidFill>
            <a:prstDash val="solid"/>
          </a:ln>
        </p:spPr>
      </p:sp>
      <p:sp>
        <p:nvSpPr>
          <p:cNvPr id="33" name="Text 30"/>
          <p:cNvSpPr txBox="1"/>
          <p:nvPr/>
        </p:nvSpPr>
        <p:spPr>
          <a:xfrm>
            <a:off x="4617720" y="466344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E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 model never sees PII</a:t>
            </a:r>
            <a:endParaRPr lang="en-US" sz="1500" dirty="0"/>
          </a:p>
        </p:txBody>
      </p:sp>
      <p:sp>
        <p:nvSpPr>
          <p:cNvPr id="34" name="Text 31"/>
          <p:cNvSpPr txBox="1"/>
          <p:nvPr/>
        </p:nvSpPr>
        <p:spPr>
          <a:xfrm>
            <a:off x="4617720" y="5074920"/>
            <a:ext cx="3108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B64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Emails and card numbers become [EMAIL] and [CARD] before the agent runs.</a:t>
            </a:r>
            <a:endParaRPr lang="en-US" sz="1400" dirty="0"/>
          </a:p>
        </p:txBody>
      </p:sp>
      <p:sp>
        <p:nvSpPr>
          <p:cNvPr id="35" name="Shape 32"/>
          <p:cNvSpPr/>
          <p:nvPr/>
        </p:nvSpPr>
        <p:spPr>
          <a:xfrm>
            <a:off x="8138160" y="4526280"/>
            <a:ext cx="3520440" cy="1645920"/>
          </a:xfrm>
          <a:prstGeom prst="roundRect">
            <a:avLst>
              <a:gd name="adj" fmla="val 4444"/>
            </a:avLst>
          </a:prstGeom>
          <a:solidFill>
            <a:srgbClr val="F5F7F3"/>
          </a:solidFill>
          <a:ln w="12700">
            <a:solidFill>
              <a:srgbClr val="D7DCD1"/>
            </a:solidFill>
            <a:prstDash val="solid"/>
          </a:ln>
        </p:spPr>
      </p:sp>
      <p:sp>
        <p:nvSpPr>
          <p:cNvPr id="36" name="Text 33"/>
          <p:cNvSpPr txBox="1"/>
          <p:nvPr/>
        </p:nvSpPr>
        <p:spPr>
          <a:xfrm>
            <a:off x="8366760" y="466344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E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Human approval (Day 8)</a:t>
            </a:r>
            <a:endParaRPr lang="en-US" sz="1500" dirty="0"/>
          </a:p>
        </p:txBody>
      </p:sp>
      <p:sp>
        <p:nvSpPr>
          <p:cNvPr id="37" name="Text 34"/>
          <p:cNvSpPr txBox="1"/>
          <p:nvPr/>
        </p:nvSpPr>
        <p:spPr>
          <a:xfrm>
            <a:off x="8366760" y="5074920"/>
            <a:ext cx="3108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B64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risky actions add an interrupt node: pause, ask a person, then resume.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518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6576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Guardrail Frameworks You Will Meet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64008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3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DAY 20  ·  GUARDRAILS, EVALUATION &amp; CAPSTONE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8046720" y="64008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3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L2 AGENT ENGINEERING</a:t>
            </a:r>
            <a:endParaRPr lang="en-US" sz="1000" dirty="0"/>
          </a:p>
        </p:txBody>
      </p:sp>
      <p:sp>
        <p:nvSpPr>
          <p:cNvPr id="6" name="Text 3"/>
          <p:cNvSpPr txBox="1"/>
          <p:nvPr/>
        </p:nvSpPr>
        <p:spPr>
          <a:xfrm>
            <a:off x="640080" y="109728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8A92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Awareness only today: we do not implement these in class. Both plug into the graph as one more node.</a:t>
            </a:r>
            <a:endParaRPr lang="en-US" sz="1800" dirty="0"/>
          </a:p>
        </p:txBody>
      </p:sp>
      <p:sp>
        <p:nvSpPr>
          <p:cNvPr id="7" name="Shape 4"/>
          <p:cNvSpPr/>
          <p:nvPr/>
        </p:nvSpPr>
        <p:spPr>
          <a:xfrm>
            <a:off x="640080" y="1783080"/>
            <a:ext cx="3520440" cy="4343400"/>
          </a:xfrm>
          <a:prstGeom prst="roundRect">
            <a:avLst>
              <a:gd name="adj" fmla="val 2078"/>
            </a:avLst>
          </a:prstGeom>
          <a:solidFill>
            <a:srgbClr val="1F242B"/>
          </a:solidFill>
          <a:ln w="12700">
            <a:solidFill>
              <a:srgbClr val="2C333B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914400" y="2011680"/>
            <a:ext cx="457200" cy="457200"/>
          </a:xfrm>
          <a:prstGeom prst="ellipse">
            <a:avLst/>
          </a:prstGeom>
          <a:solidFill>
            <a:srgbClr val="3E5064"/>
          </a:solidFill>
          <a:ln w="12700">
            <a:solidFill>
              <a:srgbClr val="3E5064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914400" y="20116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10" name="Text 7"/>
          <p:cNvSpPr txBox="1"/>
          <p:nvPr/>
        </p:nvSpPr>
        <p:spPr>
          <a:xfrm>
            <a:off x="1508760" y="196596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Your own nodes</a:t>
            </a:r>
            <a:endParaRPr lang="en-US" sz="1500" dirty="0"/>
          </a:p>
        </p:txBody>
      </p:sp>
      <p:sp>
        <p:nvSpPr>
          <p:cNvPr id="11" name="Text 8"/>
          <p:cNvSpPr txBox="1"/>
          <p:nvPr/>
        </p:nvSpPr>
        <p:spPr>
          <a:xfrm>
            <a:off x="1508760" y="233172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A92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in the graph</a:t>
            </a:r>
            <a:endParaRPr lang="en-US" sz="1300" dirty="0"/>
          </a:p>
        </p:txBody>
      </p:sp>
      <p:sp>
        <p:nvSpPr>
          <p:cNvPr id="12" name="Text 9"/>
          <p:cNvSpPr txBox="1"/>
          <p:nvPr/>
        </p:nvSpPr>
        <p:spPr>
          <a:xfrm>
            <a:off x="914400" y="2880360"/>
            <a:ext cx="3017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D993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WHERE</a:t>
            </a:r>
            <a:endParaRPr lang="en-US" sz="1100" dirty="0"/>
          </a:p>
        </p:txBody>
      </p:sp>
      <p:sp>
        <p:nvSpPr>
          <p:cNvPr id="13" name="Text 10"/>
          <p:cNvSpPr txBox="1"/>
          <p:nvPr/>
        </p:nvSpPr>
        <p:spPr>
          <a:xfrm>
            <a:off x="914400" y="3108960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5F7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process</a:t>
            </a:r>
            <a:endParaRPr lang="en-US" sz="1400" dirty="0"/>
          </a:p>
        </p:txBody>
      </p:sp>
      <p:sp>
        <p:nvSpPr>
          <p:cNvPr id="14" name="Text 11"/>
          <p:cNvSpPr txBox="1"/>
          <p:nvPr/>
        </p:nvSpPr>
        <p:spPr>
          <a:xfrm>
            <a:off x="914400" y="3685032"/>
            <a:ext cx="3017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D993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DEFINED IN</a:t>
            </a:r>
            <a:endParaRPr lang="en-US" sz="1100" dirty="0"/>
          </a:p>
        </p:txBody>
      </p:sp>
      <p:sp>
        <p:nvSpPr>
          <p:cNvPr id="15" name="Text 12"/>
          <p:cNvSpPr txBox="1"/>
          <p:nvPr/>
        </p:nvSpPr>
        <p:spPr>
          <a:xfrm>
            <a:off x="914400" y="3913632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5F7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</a:t>
            </a:r>
            <a:endParaRPr lang="en-US" sz="1400" dirty="0"/>
          </a:p>
        </p:txBody>
      </p:sp>
      <p:sp>
        <p:nvSpPr>
          <p:cNvPr id="16" name="Text 13"/>
          <p:cNvSpPr txBox="1"/>
          <p:nvPr/>
        </p:nvSpPr>
        <p:spPr>
          <a:xfrm>
            <a:off x="914400" y="4489704"/>
            <a:ext cx="3017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D993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GOOD FOR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914400" y="4718304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5F7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Simple, transparent rules</a:t>
            </a:r>
            <a:endParaRPr lang="en-US" sz="1400" dirty="0"/>
          </a:p>
        </p:txBody>
      </p:sp>
      <p:sp>
        <p:nvSpPr>
          <p:cNvPr id="18" name="Text 15"/>
          <p:cNvSpPr txBox="1"/>
          <p:nvPr/>
        </p:nvSpPr>
        <p:spPr>
          <a:xfrm>
            <a:off x="914400" y="5294376"/>
            <a:ext cx="3017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D993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TRADE-OFF</a:t>
            </a:r>
            <a:endParaRPr lang="en-US" sz="1100" dirty="0"/>
          </a:p>
        </p:txBody>
      </p:sp>
      <p:sp>
        <p:nvSpPr>
          <p:cNvPr id="19" name="Text 16"/>
          <p:cNvSpPr txBox="1"/>
          <p:nvPr/>
        </p:nvSpPr>
        <p:spPr>
          <a:xfrm>
            <a:off x="914400" y="5522976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5F7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maintain every rule</a:t>
            </a:r>
            <a:endParaRPr lang="en-US" sz="1400" dirty="0"/>
          </a:p>
        </p:txBody>
      </p:sp>
      <p:sp>
        <p:nvSpPr>
          <p:cNvPr id="20" name="Shape 17"/>
          <p:cNvSpPr/>
          <p:nvPr/>
        </p:nvSpPr>
        <p:spPr>
          <a:xfrm>
            <a:off x="4389120" y="1783080"/>
            <a:ext cx="3520440" cy="4343400"/>
          </a:xfrm>
          <a:prstGeom prst="roundRect">
            <a:avLst>
              <a:gd name="adj" fmla="val 2078"/>
            </a:avLst>
          </a:prstGeom>
          <a:solidFill>
            <a:srgbClr val="1F242B"/>
          </a:solidFill>
          <a:ln w="12700">
            <a:solidFill>
              <a:srgbClr val="2C333B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4663440" y="2011680"/>
            <a:ext cx="457200" cy="457200"/>
          </a:xfrm>
          <a:prstGeom prst="ellipse">
            <a:avLst/>
          </a:prstGeom>
          <a:solidFill>
            <a:srgbClr val="D9932B"/>
          </a:solidFill>
          <a:ln w="12700">
            <a:solidFill>
              <a:srgbClr val="D9932B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4663440" y="20116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1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23" name="Text 20"/>
          <p:cNvSpPr txBox="1"/>
          <p:nvPr/>
        </p:nvSpPr>
        <p:spPr>
          <a:xfrm>
            <a:off x="5257800" y="196596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AWS Bedrock Guardrails</a:t>
            </a:r>
            <a:endParaRPr lang="en-US" sz="1500" dirty="0"/>
          </a:p>
        </p:txBody>
      </p:sp>
      <p:sp>
        <p:nvSpPr>
          <p:cNvPr id="24" name="Text 21"/>
          <p:cNvSpPr txBox="1"/>
          <p:nvPr/>
        </p:nvSpPr>
        <p:spPr>
          <a:xfrm>
            <a:off x="5257800" y="233172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A92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Managed policy service</a:t>
            </a:r>
            <a:endParaRPr lang="en-US" sz="1300" dirty="0"/>
          </a:p>
        </p:txBody>
      </p:sp>
      <p:sp>
        <p:nvSpPr>
          <p:cNvPr id="25" name="Text 22"/>
          <p:cNvSpPr txBox="1"/>
          <p:nvPr/>
        </p:nvSpPr>
        <p:spPr>
          <a:xfrm>
            <a:off x="4663440" y="2880360"/>
            <a:ext cx="3017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D993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WHERE</a:t>
            </a:r>
            <a:endParaRPr lang="en-US" sz="1100" dirty="0"/>
          </a:p>
        </p:txBody>
      </p:sp>
      <p:sp>
        <p:nvSpPr>
          <p:cNvPr id="26" name="Text 23"/>
          <p:cNvSpPr txBox="1"/>
          <p:nvPr/>
        </p:nvSpPr>
        <p:spPr>
          <a:xfrm>
            <a:off x="4663440" y="3108960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5F7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(ApplyGuardrail API)</a:t>
            </a:r>
            <a:endParaRPr lang="en-US" sz="1400" dirty="0"/>
          </a:p>
        </p:txBody>
      </p:sp>
      <p:sp>
        <p:nvSpPr>
          <p:cNvPr id="27" name="Text 24"/>
          <p:cNvSpPr txBox="1"/>
          <p:nvPr/>
        </p:nvSpPr>
        <p:spPr>
          <a:xfrm>
            <a:off x="4663440" y="3685032"/>
            <a:ext cx="3017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D993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DEFINED IN</a:t>
            </a:r>
            <a:endParaRPr lang="en-US" sz="1100" dirty="0"/>
          </a:p>
        </p:txBody>
      </p:sp>
      <p:sp>
        <p:nvSpPr>
          <p:cNvPr id="28" name="Text 25"/>
          <p:cNvSpPr txBox="1"/>
          <p:nvPr/>
        </p:nvSpPr>
        <p:spPr>
          <a:xfrm>
            <a:off x="4663440" y="3913632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5F7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console / API</a:t>
            </a:r>
            <a:endParaRPr lang="en-US" sz="1400" dirty="0"/>
          </a:p>
        </p:txBody>
      </p:sp>
      <p:sp>
        <p:nvSpPr>
          <p:cNvPr id="29" name="Text 26"/>
          <p:cNvSpPr txBox="1"/>
          <p:nvPr/>
        </p:nvSpPr>
        <p:spPr>
          <a:xfrm>
            <a:off x="4663440" y="4489704"/>
            <a:ext cx="3017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D993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GOOD FOR</a:t>
            </a:r>
            <a:endParaRPr lang="en-US" sz="1100" dirty="0"/>
          </a:p>
        </p:txBody>
      </p:sp>
      <p:sp>
        <p:nvSpPr>
          <p:cNvPr id="30" name="Text 27"/>
          <p:cNvSpPr txBox="1"/>
          <p:nvPr/>
        </p:nvSpPr>
        <p:spPr>
          <a:xfrm>
            <a:off x="4663440" y="4718304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5F7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policy: filters, denied topics, PII, grounding</a:t>
            </a:r>
            <a:endParaRPr lang="en-US" sz="1400" dirty="0"/>
          </a:p>
        </p:txBody>
      </p:sp>
      <p:sp>
        <p:nvSpPr>
          <p:cNvPr id="31" name="Text 28"/>
          <p:cNvSpPr txBox="1"/>
          <p:nvPr/>
        </p:nvSpPr>
        <p:spPr>
          <a:xfrm>
            <a:off x="4663440" y="5294376"/>
            <a:ext cx="3017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D993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TRADE-OFF</a:t>
            </a:r>
            <a:endParaRPr lang="en-US" sz="1100" dirty="0"/>
          </a:p>
        </p:txBody>
      </p:sp>
      <p:sp>
        <p:nvSpPr>
          <p:cNvPr id="32" name="Text 29"/>
          <p:cNvSpPr txBox="1"/>
          <p:nvPr/>
        </p:nvSpPr>
        <p:spPr>
          <a:xfrm>
            <a:off x="4663440" y="5522976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5F7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account, per-call cost</a:t>
            </a:r>
            <a:endParaRPr lang="en-US" sz="1400" dirty="0"/>
          </a:p>
        </p:txBody>
      </p:sp>
      <p:sp>
        <p:nvSpPr>
          <p:cNvPr id="33" name="Shape 30"/>
          <p:cNvSpPr/>
          <p:nvPr/>
        </p:nvSpPr>
        <p:spPr>
          <a:xfrm>
            <a:off x="8138160" y="1783080"/>
            <a:ext cx="3520440" cy="4343400"/>
          </a:xfrm>
          <a:prstGeom prst="roundRect">
            <a:avLst>
              <a:gd name="adj" fmla="val 2078"/>
            </a:avLst>
          </a:prstGeom>
          <a:solidFill>
            <a:srgbClr val="1F242B"/>
          </a:solidFill>
          <a:ln w="12700">
            <a:solidFill>
              <a:srgbClr val="2C333B"/>
            </a:solidFill>
            <a:prstDash val="solid"/>
          </a:ln>
        </p:spPr>
      </p:sp>
      <p:sp>
        <p:nvSpPr>
          <p:cNvPr id="34" name="Shape 31"/>
          <p:cNvSpPr/>
          <p:nvPr/>
        </p:nvSpPr>
        <p:spPr>
          <a:xfrm>
            <a:off x="8412480" y="2011680"/>
            <a:ext cx="457200" cy="457200"/>
          </a:xfrm>
          <a:prstGeom prst="ellipse">
            <a:avLst/>
          </a:prstGeom>
          <a:solidFill>
            <a:srgbClr val="5B646B"/>
          </a:solidFill>
          <a:ln w="12700">
            <a:solidFill>
              <a:srgbClr val="5B646B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8412480" y="20116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36" name="Text 33"/>
          <p:cNvSpPr txBox="1"/>
          <p:nvPr/>
        </p:nvSpPr>
        <p:spPr>
          <a:xfrm>
            <a:off x="9006840" y="196596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NVIDIA NeMo Guardrails</a:t>
            </a:r>
            <a:endParaRPr lang="en-US" sz="1500" dirty="0"/>
          </a:p>
        </p:txBody>
      </p:sp>
      <p:sp>
        <p:nvSpPr>
          <p:cNvPr id="37" name="Text 34"/>
          <p:cNvSpPr txBox="1"/>
          <p:nvPr/>
        </p:nvSpPr>
        <p:spPr>
          <a:xfrm>
            <a:off x="9006840" y="233172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A92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Open-source toolkit</a:t>
            </a:r>
            <a:endParaRPr lang="en-US" sz="1300" dirty="0"/>
          </a:p>
        </p:txBody>
      </p:sp>
      <p:sp>
        <p:nvSpPr>
          <p:cNvPr id="38" name="Text 35"/>
          <p:cNvSpPr txBox="1"/>
          <p:nvPr/>
        </p:nvSpPr>
        <p:spPr>
          <a:xfrm>
            <a:off x="8412480" y="2880360"/>
            <a:ext cx="3017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D993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WHERE</a:t>
            </a:r>
            <a:endParaRPr lang="en-US" sz="1100" dirty="0"/>
          </a:p>
        </p:txBody>
      </p:sp>
      <p:sp>
        <p:nvSpPr>
          <p:cNvPr id="39" name="Text 36"/>
          <p:cNvSpPr txBox="1"/>
          <p:nvPr/>
        </p:nvSpPr>
        <p:spPr>
          <a:xfrm>
            <a:off x="8412480" y="3108960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5F7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process (library)</a:t>
            </a:r>
            <a:endParaRPr lang="en-US" sz="1400" dirty="0"/>
          </a:p>
        </p:txBody>
      </p:sp>
      <p:sp>
        <p:nvSpPr>
          <p:cNvPr id="40" name="Text 37"/>
          <p:cNvSpPr txBox="1"/>
          <p:nvPr/>
        </p:nvSpPr>
        <p:spPr>
          <a:xfrm>
            <a:off x="8412480" y="3685032"/>
            <a:ext cx="3017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D993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DEFINED IN</a:t>
            </a:r>
            <a:endParaRPr lang="en-US" sz="1100" dirty="0"/>
          </a:p>
        </p:txBody>
      </p:sp>
      <p:sp>
        <p:nvSpPr>
          <p:cNvPr id="41" name="Text 38"/>
          <p:cNvSpPr txBox="1"/>
          <p:nvPr/>
        </p:nvSpPr>
        <p:spPr>
          <a:xfrm>
            <a:off x="8412480" y="3913632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5F7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YAML + Colang config</a:t>
            </a:r>
            <a:endParaRPr lang="en-US" sz="1400" dirty="0"/>
          </a:p>
        </p:txBody>
      </p:sp>
      <p:sp>
        <p:nvSpPr>
          <p:cNvPr id="42" name="Text 39"/>
          <p:cNvSpPr txBox="1"/>
          <p:nvPr/>
        </p:nvSpPr>
        <p:spPr>
          <a:xfrm>
            <a:off x="8412480" y="4489704"/>
            <a:ext cx="3017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D993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GOOD FOR</a:t>
            </a:r>
            <a:endParaRPr lang="en-US" sz="1100" dirty="0"/>
          </a:p>
        </p:txBody>
      </p:sp>
      <p:sp>
        <p:nvSpPr>
          <p:cNvPr id="43" name="Text 40"/>
          <p:cNvSpPr txBox="1"/>
          <p:nvPr/>
        </p:nvSpPr>
        <p:spPr>
          <a:xfrm>
            <a:off x="8412480" y="4718304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5F7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Dialog control, jailbreak and topic rails</a:t>
            </a:r>
            <a:endParaRPr lang="en-US" sz="1400" dirty="0"/>
          </a:p>
        </p:txBody>
      </p:sp>
      <p:sp>
        <p:nvSpPr>
          <p:cNvPr id="44" name="Text 41"/>
          <p:cNvSpPr txBox="1"/>
          <p:nvPr/>
        </p:nvSpPr>
        <p:spPr>
          <a:xfrm>
            <a:off x="8412480" y="5294376"/>
            <a:ext cx="3017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D993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TRADE-OFF</a:t>
            </a:r>
            <a:endParaRPr lang="en-US" sz="1100" dirty="0"/>
          </a:p>
        </p:txBody>
      </p:sp>
      <p:sp>
        <p:nvSpPr>
          <p:cNvPr id="45" name="Text 42"/>
          <p:cNvSpPr txBox="1"/>
          <p:nvPr/>
        </p:nvSpPr>
        <p:spPr>
          <a:xfrm>
            <a:off x="8412480" y="5522976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5F7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Heavier install, extra LLM calls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6576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E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Key Concepts  ·  Evaluating Output Quality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64008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4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DAY 20  ·  GUARDRAILS, EVALUATION &amp; CAPSTONE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8046720" y="64008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L2 AGENT ENGINEERING</a:t>
            </a:r>
            <a:endParaRPr lang="en-US" sz="1000" dirty="0"/>
          </a:p>
        </p:txBody>
      </p:sp>
      <p:sp>
        <p:nvSpPr>
          <p:cNvPr id="6" name="Text 3"/>
          <p:cNvSpPr txBox="1"/>
          <p:nvPr/>
        </p:nvSpPr>
        <p:spPr>
          <a:xfrm>
            <a:off x="640080" y="114300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5B64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the agent on a golden set (inputs with expected outcomes), then score each case three ways.</a:t>
            </a:r>
            <a:endParaRPr lang="en-US" sz="2000" dirty="0"/>
          </a:p>
        </p:txBody>
      </p:sp>
      <p:sp>
        <p:nvSpPr>
          <p:cNvPr id="7" name="Shape 4"/>
          <p:cNvSpPr/>
          <p:nvPr/>
        </p:nvSpPr>
        <p:spPr>
          <a:xfrm>
            <a:off x="640080" y="1828800"/>
            <a:ext cx="3520440" cy="3657600"/>
          </a:xfrm>
          <a:prstGeom prst="roundRect">
            <a:avLst>
              <a:gd name="adj" fmla="val 2078"/>
            </a:avLst>
          </a:prstGeom>
          <a:solidFill>
            <a:srgbClr val="F5F7F3"/>
          </a:solidFill>
          <a:ln w="12700">
            <a:solidFill>
              <a:srgbClr val="D7DCD1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914400" y="2057400"/>
            <a:ext cx="502920" cy="502920"/>
          </a:xfrm>
          <a:prstGeom prst="ellipse">
            <a:avLst/>
          </a:prstGeom>
          <a:solidFill>
            <a:srgbClr val="3E5064"/>
          </a:solidFill>
          <a:ln w="12700">
            <a:solidFill>
              <a:srgbClr val="3E5064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914400" y="20574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10" name="Text 7"/>
          <p:cNvSpPr txBox="1"/>
          <p:nvPr/>
        </p:nvSpPr>
        <p:spPr>
          <a:xfrm>
            <a:off x="1554480" y="205740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E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Deterministic checks</a:t>
            </a:r>
            <a:endParaRPr lang="en-US" sz="1600" dirty="0"/>
          </a:p>
        </p:txBody>
      </p:sp>
      <p:sp>
        <p:nvSpPr>
          <p:cNvPr id="11" name="Text 8"/>
          <p:cNvSpPr txBox="1"/>
          <p:nvPr/>
        </p:nvSpPr>
        <p:spPr>
          <a:xfrm>
            <a:off x="914400" y="2743200"/>
            <a:ext cx="3017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A1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Guardrail correct? Facts present? No PII leaked?</a:t>
            </a:r>
            <a:endParaRPr lang="en-US" sz="1600" dirty="0"/>
          </a:p>
        </p:txBody>
      </p:sp>
      <p:sp>
        <p:nvSpPr>
          <p:cNvPr id="12" name="Text 9"/>
          <p:cNvSpPr txBox="1"/>
          <p:nvPr/>
        </p:nvSpPr>
        <p:spPr>
          <a:xfrm>
            <a:off x="914400" y="3931920"/>
            <a:ext cx="30175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500" dirty="0">
                <a:solidFill>
                  <a:srgbClr val="2E6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 Fast and repeatable</a:t>
            </a:r>
            <a:endParaRPr lang="en-US" sz="15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500" dirty="0">
                <a:solidFill>
                  <a:srgbClr val="9A3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  Cannot judge open-ended text</a:t>
            </a:r>
            <a:endParaRPr lang="en-US" sz="1500" dirty="0"/>
          </a:p>
        </p:txBody>
      </p:sp>
      <p:sp>
        <p:nvSpPr>
          <p:cNvPr id="13" name="Shape 10"/>
          <p:cNvSpPr/>
          <p:nvPr/>
        </p:nvSpPr>
        <p:spPr>
          <a:xfrm>
            <a:off x="4389120" y="1828800"/>
            <a:ext cx="3520440" cy="3657600"/>
          </a:xfrm>
          <a:prstGeom prst="roundRect">
            <a:avLst>
              <a:gd name="adj" fmla="val 2078"/>
            </a:avLst>
          </a:prstGeom>
          <a:solidFill>
            <a:srgbClr val="F5F7F3"/>
          </a:solidFill>
          <a:ln w="12700">
            <a:solidFill>
              <a:srgbClr val="D7DCD1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4663440" y="2057400"/>
            <a:ext cx="502920" cy="502920"/>
          </a:xfrm>
          <a:prstGeom prst="ellipse">
            <a:avLst/>
          </a:prstGeom>
          <a:solidFill>
            <a:srgbClr val="D9932B"/>
          </a:solidFill>
          <a:ln w="12700">
            <a:solidFill>
              <a:srgbClr val="D9932B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4663440" y="20574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1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6" name="Text 13"/>
          <p:cNvSpPr txBox="1"/>
          <p:nvPr/>
        </p:nvSpPr>
        <p:spPr>
          <a:xfrm>
            <a:off x="5303520" y="205740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E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LLM as judge</a:t>
            </a:r>
            <a:endParaRPr lang="en-US" sz="1600" dirty="0"/>
          </a:p>
        </p:txBody>
      </p:sp>
      <p:sp>
        <p:nvSpPr>
          <p:cNvPr id="17" name="Text 14"/>
          <p:cNvSpPr txBox="1"/>
          <p:nvPr/>
        </p:nvSpPr>
        <p:spPr>
          <a:xfrm>
            <a:off x="4663440" y="2743200"/>
            <a:ext cx="3017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A1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model scores the answer 1 to 5 against a rubric</a:t>
            </a:r>
            <a:endParaRPr lang="en-US" sz="1600" dirty="0"/>
          </a:p>
        </p:txBody>
      </p:sp>
      <p:sp>
        <p:nvSpPr>
          <p:cNvPr id="18" name="Text 15"/>
          <p:cNvSpPr txBox="1"/>
          <p:nvPr/>
        </p:nvSpPr>
        <p:spPr>
          <a:xfrm>
            <a:off x="4663440" y="3931920"/>
            <a:ext cx="30175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500" dirty="0">
                <a:solidFill>
                  <a:srgbClr val="2E6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 Handles open-ended text</a:t>
            </a:r>
            <a:endParaRPr lang="en-US" sz="15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500" dirty="0">
                <a:solidFill>
                  <a:srgbClr val="9A3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  Noisy and biased: use a clear rubric</a:t>
            </a:r>
            <a:endParaRPr lang="en-US" sz="1500" dirty="0"/>
          </a:p>
        </p:txBody>
      </p:sp>
      <p:sp>
        <p:nvSpPr>
          <p:cNvPr id="19" name="Shape 16"/>
          <p:cNvSpPr/>
          <p:nvPr/>
        </p:nvSpPr>
        <p:spPr>
          <a:xfrm>
            <a:off x="8138160" y="1828800"/>
            <a:ext cx="3520440" cy="3657600"/>
          </a:xfrm>
          <a:prstGeom prst="roundRect">
            <a:avLst>
              <a:gd name="adj" fmla="val 2078"/>
            </a:avLst>
          </a:prstGeom>
          <a:solidFill>
            <a:srgbClr val="F5F7F3"/>
          </a:solidFill>
          <a:ln w="12700">
            <a:solidFill>
              <a:srgbClr val="D7DCD1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8412480" y="2057400"/>
            <a:ext cx="502920" cy="502920"/>
          </a:xfrm>
          <a:prstGeom prst="ellipse">
            <a:avLst/>
          </a:prstGeom>
          <a:solidFill>
            <a:srgbClr val="5B646B"/>
          </a:solidFill>
          <a:ln w="12700">
            <a:solidFill>
              <a:srgbClr val="5B646B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8412480" y="20574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22" name="Text 19"/>
          <p:cNvSpPr txBox="1"/>
          <p:nvPr/>
        </p:nvSpPr>
        <p:spPr>
          <a:xfrm>
            <a:off x="9052560" y="205740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E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Human review</a:t>
            </a:r>
            <a:endParaRPr lang="en-US" sz="1600" dirty="0"/>
          </a:p>
        </p:txBody>
      </p:sp>
      <p:sp>
        <p:nvSpPr>
          <p:cNvPr id="23" name="Text 20"/>
          <p:cNvSpPr txBox="1"/>
          <p:nvPr/>
        </p:nvSpPr>
        <p:spPr>
          <a:xfrm>
            <a:off x="8412480" y="2743200"/>
            <a:ext cx="3017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A1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person grades a sample of cases</a:t>
            </a:r>
            <a:endParaRPr lang="en-US" sz="1600" dirty="0"/>
          </a:p>
        </p:txBody>
      </p:sp>
      <p:sp>
        <p:nvSpPr>
          <p:cNvPr id="24" name="Text 21"/>
          <p:cNvSpPr txBox="1"/>
          <p:nvPr/>
        </p:nvSpPr>
        <p:spPr>
          <a:xfrm>
            <a:off x="8412480" y="3931920"/>
            <a:ext cx="30175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500" dirty="0">
                <a:solidFill>
                  <a:srgbClr val="2E6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 Most trustworthy</a:t>
            </a:r>
            <a:endParaRPr lang="en-US" sz="15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500" dirty="0">
                <a:solidFill>
                  <a:srgbClr val="9A3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  Slow: use it to check the other two</a:t>
            </a:r>
            <a:endParaRPr lang="en-US" sz="1500" dirty="0"/>
          </a:p>
        </p:txBody>
      </p:sp>
      <p:sp>
        <p:nvSpPr>
          <p:cNvPr id="25" name="Text 22"/>
          <p:cNvSpPr txBox="1"/>
          <p:nvPr/>
        </p:nvSpPr>
        <p:spPr>
          <a:xfrm>
            <a:off x="640080" y="5760720"/>
            <a:ext cx="10881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1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Guardrail = is this allowed?   Evaluation = is this good, across many cases?</a:t>
            </a:r>
            <a:endParaRPr lang="en-US" sz="1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6576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E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Key Concepts  ·  The Evaluation Loop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64008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4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DAY 20  ·  GUARDRAILS, EVALUATION &amp; CAPSTONE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8046720" y="64008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L2 AGENT ENGINEERING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640080" y="1417320"/>
            <a:ext cx="548640" cy="548640"/>
          </a:xfrm>
          <a:prstGeom prst="ellipse">
            <a:avLst/>
          </a:prstGeom>
          <a:solidFill>
            <a:srgbClr val="3E5064"/>
          </a:solidFill>
          <a:ln w="12700">
            <a:solidFill>
              <a:srgbClr val="3E5064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640080" y="14173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1325880" y="1417320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E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Golden set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2880360" y="1417320"/>
            <a:ext cx="548640" cy="548640"/>
          </a:xfrm>
          <a:prstGeom prst="ellipse">
            <a:avLst/>
          </a:prstGeom>
          <a:solidFill>
            <a:srgbClr val="3E5064"/>
          </a:solidFill>
          <a:ln w="12700">
            <a:solidFill>
              <a:srgbClr val="3E5064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2880360" y="14173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1" name="Text 8"/>
          <p:cNvSpPr txBox="1"/>
          <p:nvPr/>
        </p:nvSpPr>
        <p:spPr>
          <a:xfrm>
            <a:off x="3566160" y="1417320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E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Run agent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5120640" y="1417320"/>
            <a:ext cx="548640" cy="548640"/>
          </a:xfrm>
          <a:prstGeom prst="ellipse">
            <a:avLst/>
          </a:prstGeom>
          <a:solidFill>
            <a:srgbClr val="3E5064"/>
          </a:solidFill>
          <a:ln w="12700">
            <a:solidFill>
              <a:srgbClr val="3E5064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5120640" y="14173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4" name="Text 11"/>
          <p:cNvSpPr txBox="1"/>
          <p:nvPr/>
        </p:nvSpPr>
        <p:spPr>
          <a:xfrm>
            <a:off x="5806440" y="1417320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E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Score each case</a:t>
            </a:r>
            <a:endParaRPr lang="en-US" sz="1400" dirty="0"/>
          </a:p>
        </p:txBody>
      </p:sp>
      <p:sp>
        <p:nvSpPr>
          <p:cNvPr id="15" name="Shape 12"/>
          <p:cNvSpPr/>
          <p:nvPr/>
        </p:nvSpPr>
        <p:spPr>
          <a:xfrm>
            <a:off x="7360920" y="1417320"/>
            <a:ext cx="548640" cy="548640"/>
          </a:xfrm>
          <a:prstGeom prst="ellipse">
            <a:avLst/>
          </a:prstGeom>
          <a:solidFill>
            <a:srgbClr val="3E5064"/>
          </a:solidFill>
          <a:ln w="12700">
            <a:solidFill>
              <a:srgbClr val="3E5064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7360920" y="14173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17" name="Text 14"/>
          <p:cNvSpPr txBox="1"/>
          <p:nvPr/>
        </p:nvSpPr>
        <p:spPr>
          <a:xfrm>
            <a:off x="8046720" y="1417320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E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Aggregate</a:t>
            </a:r>
            <a:endParaRPr lang="en-US" sz="1400" dirty="0"/>
          </a:p>
        </p:txBody>
      </p:sp>
      <p:sp>
        <p:nvSpPr>
          <p:cNvPr id="18" name="Shape 15"/>
          <p:cNvSpPr/>
          <p:nvPr/>
        </p:nvSpPr>
        <p:spPr>
          <a:xfrm>
            <a:off x="9601200" y="1417320"/>
            <a:ext cx="548640" cy="548640"/>
          </a:xfrm>
          <a:prstGeom prst="ellipse">
            <a:avLst/>
          </a:prstGeom>
          <a:solidFill>
            <a:srgbClr val="D9932B"/>
          </a:solidFill>
          <a:ln w="12700">
            <a:solidFill>
              <a:srgbClr val="D9932B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9601200" y="14173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1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20" name="Text 17"/>
          <p:cNvSpPr txBox="1"/>
          <p:nvPr/>
        </p:nvSpPr>
        <p:spPr>
          <a:xfrm>
            <a:off x="10287000" y="1417320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E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Fix and re-run</a:t>
            </a:r>
            <a:endParaRPr lang="en-US" sz="1400" dirty="0"/>
          </a:p>
        </p:txBody>
      </p:sp>
      <p:sp>
        <p:nvSpPr>
          <p:cNvPr id="21" name="Shape 18"/>
          <p:cNvSpPr/>
          <p:nvPr/>
        </p:nvSpPr>
        <p:spPr>
          <a:xfrm>
            <a:off x="640080" y="2560320"/>
            <a:ext cx="5303520" cy="2468880"/>
          </a:xfrm>
          <a:prstGeom prst="roundRect">
            <a:avLst>
              <a:gd name="adj" fmla="val 2963"/>
            </a:avLst>
          </a:prstGeom>
          <a:solidFill>
            <a:srgbClr val="F5F7F3"/>
          </a:solidFill>
          <a:ln w="12700">
            <a:solidFill>
              <a:srgbClr val="D7DCD1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960120" y="2788920"/>
            <a:ext cx="457200" cy="457200"/>
          </a:xfrm>
          <a:prstGeom prst="ellipse">
            <a:avLst/>
          </a:prstGeom>
          <a:solidFill>
            <a:srgbClr val="D9932B"/>
          </a:solidFill>
          <a:ln w="12700">
            <a:solidFill>
              <a:srgbClr val="D9932B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960120" y="27889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1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FP</a:t>
            </a:r>
            <a:endParaRPr lang="en-US" sz="1600" dirty="0"/>
          </a:p>
        </p:txBody>
      </p:sp>
      <p:sp>
        <p:nvSpPr>
          <p:cNvPr id="24" name="Text 21"/>
          <p:cNvSpPr txBox="1"/>
          <p:nvPr/>
        </p:nvSpPr>
        <p:spPr>
          <a:xfrm>
            <a:off x="1600200" y="278892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A1E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False positive</a:t>
            </a:r>
            <a:endParaRPr lang="en-US" sz="2000" dirty="0"/>
          </a:p>
        </p:txBody>
      </p:sp>
      <p:sp>
        <p:nvSpPr>
          <p:cNvPr id="25" name="Text 22"/>
          <p:cNvSpPr txBox="1"/>
          <p:nvPr/>
        </p:nvSpPr>
        <p:spPr>
          <a:xfrm>
            <a:off x="960120" y="3429000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1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good request was blocked.</a:t>
            </a:r>
            <a:endParaRPr lang="en-US" sz="1800" dirty="0"/>
          </a:p>
        </p:txBody>
      </p:sp>
      <p:sp>
        <p:nvSpPr>
          <p:cNvPr id="26" name="Text 23"/>
          <p:cNvSpPr txBox="1"/>
          <p:nvPr/>
        </p:nvSpPr>
        <p:spPr>
          <a:xfrm>
            <a:off x="960120" y="3840480"/>
            <a:ext cx="46634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5B64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“Explain what malware is for a training class” hits the banned word list. The user is annoyed.</a:t>
            </a:r>
            <a:endParaRPr lang="en-US" sz="1600" dirty="0"/>
          </a:p>
        </p:txBody>
      </p:sp>
      <p:sp>
        <p:nvSpPr>
          <p:cNvPr id="27" name="Shape 24"/>
          <p:cNvSpPr/>
          <p:nvPr/>
        </p:nvSpPr>
        <p:spPr>
          <a:xfrm>
            <a:off x="6217920" y="2560320"/>
            <a:ext cx="5303520" cy="2468880"/>
          </a:xfrm>
          <a:prstGeom prst="roundRect">
            <a:avLst>
              <a:gd name="adj" fmla="val 2963"/>
            </a:avLst>
          </a:prstGeom>
          <a:solidFill>
            <a:srgbClr val="F5F7F3"/>
          </a:solidFill>
          <a:ln w="12700">
            <a:solidFill>
              <a:srgbClr val="D7DCD1"/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6537960" y="2788920"/>
            <a:ext cx="457200" cy="457200"/>
          </a:xfrm>
          <a:prstGeom prst="ellipse">
            <a:avLst/>
          </a:prstGeom>
          <a:solidFill>
            <a:srgbClr val="3E5064"/>
          </a:solidFill>
          <a:ln w="12700">
            <a:solidFill>
              <a:srgbClr val="3E5064"/>
            </a:solidFill>
            <a:prstDash val="solid"/>
          </a:ln>
        </p:spPr>
      </p:sp>
      <p:sp>
        <p:nvSpPr>
          <p:cNvPr id="29" name="Text 26"/>
          <p:cNvSpPr txBox="1"/>
          <p:nvPr/>
        </p:nvSpPr>
        <p:spPr>
          <a:xfrm>
            <a:off x="6537960" y="27889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FN</a:t>
            </a:r>
            <a:endParaRPr lang="en-US" sz="1600" dirty="0"/>
          </a:p>
        </p:txBody>
      </p:sp>
      <p:sp>
        <p:nvSpPr>
          <p:cNvPr id="30" name="Text 27"/>
          <p:cNvSpPr txBox="1"/>
          <p:nvPr/>
        </p:nvSpPr>
        <p:spPr>
          <a:xfrm>
            <a:off x="7178040" y="278892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A1E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False negative</a:t>
            </a:r>
            <a:endParaRPr lang="en-US" sz="2000" dirty="0"/>
          </a:p>
        </p:txBody>
      </p:sp>
      <p:sp>
        <p:nvSpPr>
          <p:cNvPr id="31" name="Text 28"/>
          <p:cNvSpPr txBox="1"/>
          <p:nvPr/>
        </p:nvSpPr>
        <p:spPr>
          <a:xfrm>
            <a:off x="6537960" y="3429000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1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bad request got through.</a:t>
            </a:r>
            <a:endParaRPr lang="en-US" sz="1800" dirty="0"/>
          </a:p>
        </p:txBody>
      </p:sp>
      <p:sp>
        <p:nvSpPr>
          <p:cNvPr id="32" name="Text 29"/>
          <p:cNvSpPr txBox="1"/>
          <p:nvPr/>
        </p:nvSpPr>
        <p:spPr>
          <a:xfrm>
            <a:off x="6537960" y="3840480"/>
            <a:ext cx="46634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5B64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harmful request that avoids every keyword. This is a safety incident, usually the worse error.</a:t>
            </a:r>
            <a:endParaRPr lang="en-US" sz="1600" dirty="0"/>
          </a:p>
        </p:txBody>
      </p:sp>
      <p:sp>
        <p:nvSpPr>
          <p:cNvPr id="33" name="Text 30"/>
          <p:cNvSpPr txBox="1"/>
          <p:nvPr/>
        </p:nvSpPr>
        <p:spPr>
          <a:xfrm>
            <a:off x="640080" y="5349240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i="1" dirty="0">
                <a:solidFill>
                  <a:srgbClr val="5B64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Habits: keep the set small but real, add every failure as a new case, treat the judge as a noisy instrument, re-run after every change.</a:t>
            </a:r>
            <a:endParaRPr lang="en-US" sz="1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6576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E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How It's Built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64008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4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DAY 20  ·  GUARDRAILS, EVALUATION &amp; CAPSTONE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8046720" y="64008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L2 AGENT ENGINEERING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5943600" y="1143000"/>
            <a:ext cx="320040" cy="320040"/>
          </a:xfrm>
          <a:prstGeom prst="ellipse">
            <a:avLst/>
          </a:prstGeom>
          <a:solidFill>
            <a:srgbClr val="1A1E22"/>
          </a:solidFill>
          <a:ln w="12700">
            <a:solidFill>
              <a:srgbClr val="1A1E22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6355080" y="114300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5B64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START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4910328" y="1783080"/>
            <a:ext cx="2377440" cy="548640"/>
          </a:xfrm>
          <a:prstGeom prst="roundRect">
            <a:avLst>
              <a:gd name="adj" fmla="val 10000"/>
            </a:avLst>
          </a:prstGeom>
          <a:solidFill>
            <a:srgbClr val="3E5064"/>
          </a:solidFill>
          <a:ln w="12700">
            <a:solidFill>
              <a:srgbClr val="3E5064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4910328" y="178308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input_filter</a:t>
            </a:r>
            <a:endParaRPr lang="en-US" sz="1500" dirty="0"/>
          </a:p>
        </p:txBody>
      </p:sp>
      <p:sp>
        <p:nvSpPr>
          <p:cNvPr id="10" name="Shape 7"/>
          <p:cNvSpPr/>
          <p:nvPr/>
        </p:nvSpPr>
        <p:spPr>
          <a:xfrm>
            <a:off x="6099048" y="1463040"/>
            <a:ext cx="0" cy="320040"/>
          </a:xfrm>
          <a:prstGeom prst="line">
            <a:avLst/>
          </a:prstGeom>
          <a:noFill/>
          <a:ln w="22225">
            <a:solidFill>
              <a:srgbClr val="5B646B"/>
            </a:solidFill>
            <a:prstDash val="solid"/>
            <a:tailEnd type="triangle"/>
          </a:ln>
        </p:spPr>
      </p:sp>
      <p:sp>
        <p:nvSpPr>
          <p:cNvPr id="11" name="Shape 8"/>
          <p:cNvSpPr/>
          <p:nvPr/>
        </p:nvSpPr>
        <p:spPr>
          <a:xfrm>
            <a:off x="1737360" y="3108960"/>
            <a:ext cx="2377440" cy="548640"/>
          </a:xfrm>
          <a:prstGeom prst="roundRect">
            <a:avLst>
              <a:gd name="adj" fmla="val 10000"/>
            </a:avLst>
          </a:prstGeom>
          <a:solidFill>
            <a:srgbClr val="3E5064"/>
          </a:solidFill>
          <a:ln w="12700">
            <a:solidFill>
              <a:srgbClr val="3E5064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1737360" y="310896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refuse</a:t>
            </a:r>
            <a:endParaRPr lang="en-US" sz="1500" dirty="0"/>
          </a:p>
        </p:txBody>
      </p:sp>
      <p:sp>
        <p:nvSpPr>
          <p:cNvPr id="13" name="Shape 10"/>
          <p:cNvSpPr/>
          <p:nvPr/>
        </p:nvSpPr>
        <p:spPr>
          <a:xfrm flipH="1">
            <a:off x="2926080" y="2194560"/>
            <a:ext cx="1984248" cy="914400"/>
          </a:xfrm>
          <a:prstGeom prst="line">
            <a:avLst/>
          </a:prstGeom>
          <a:noFill/>
          <a:ln w="22225">
            <a:solidFill>
              <a:srgbClr val="5B646B"/>
            </a:solidFill>
            <a:prstDash val="solid"/>
            <a:tailEnd type="triangle"/>
          </a:ln>
        </p:spPr>
      </p:sp>
      <p:sp>
        <p:nvSpPr>
          <p:cNvPr id="14" name="Text 11"/>
          <p:cNvSpPr txBox="1"/>
          <p:nvPr/>
        </p:nvSpPr>
        <p:spPr>
          <a:xfrm>
            <a:off x="3108960" y="23317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B64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blocked</a:t>
            </a:r>
            <a:endParaRPr lang="en-US" sz="1400" dirty="0"/>
          </a:p>
        </p:txBody>
      </p:sp>
      <p:sp>
        <p:nvSpPr>
          <p:cNvPr id="15" name="Shape 12"/>
          <p:cNvSpPr/>
          <p:nvPr/>
        </p:nvSpPr>
        <p:spPr>
          <a:xfrm>
            <a:off x="2788920" y="4251960"/>
            <a:ext cx="274320" cy="274320"/>
          </a:xfrm>
          <a:prstGeom prst="ellipse">
            <a:avLst/>
          </a:prstGeom>
          <a:solidFill>
            <a:srgbClr val="1A1E22"/>
          </a:solidFill>
          <a:ln w="12700">
            <a:solidFill>
              <a:srgbClr val="1A1E22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3154680" y="425196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4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END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2926080" y="3657600"/>
            <a:ext cx="0" cy="594360"/>
          </a:xfrm>
          <a:prstGeom prst="line">
            <a:avLst/>
          </a:prstGeom>
          <a:noFill/>
          <a:ln w="22225">
            <a:solidFill>
              <a:srgbClr val="5B646B"/>
            </a:solidFill>
            <a:prstDash val="solid"/>
            <a:tailEnd type="triangle"/>
          </a:ln>
        </p:spPr>
      </p:sp>
      <p:sp>
        <p:nvSpPr>
          <p:cNvPr id="18" name="Shape 15"/>
          <p:cNvSpPr/>
          <p:nvPr/>
        </p:nvSpPr>
        <p:spPr>
          <a:xfrm>
            <a:off x="7589520" y="2743200"/>
            <a:ext cx="2377440" cy="548640"/>
          </a:xfrm>
          <a:prstGeom prst="roundRect">
            <a:avLst>
              <a:gd name="adj" fmla="val 10000"/>
            </a:avLst>
          </a:prstGeom>
          <a:solidFill>
            <a:srgbClr val="3E5064"/>
          </a:solidFill>
          <a:ln w="12700">
            <a:solidFill>
              <a:srgbClr val="3E5064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7589520" y="274320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redact_pii</a:t>
            </a:r>
            <a:endParaRPr lang="en-US" sz="1500" dirty="0"/>
          </a:p>
        </p:txBody>
      </p:sp>
      <p:sp>
        <p:nvSpPr>
          <p:cNvPr id="20" name="Shape 17"/>
          <p:cNvSpPr/>
          <p:nvPr/>
        </p:nvSpPr>
        <p:spPr>
          <a:xfrm>
            <a:off x="7589520" y="3474720"/>
            <a:ext cx="2377440" cy="548640"/>
          </a:xfrm>
          <a:prstGeom prst="roundRect">
            <a:avLst>
              <a:gd name="adj" fmla="val 10000"/>
            </a:avLst>
          </a:prstGeom>
          <a:solidFill>
            <a:srgbClr val="D9932B"/>
          </a:solidFill>
          <a:ln w="12700">
            <a:solidFill>
              <a:srgbClr val="D9932B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7589520" y="347472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A1E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agent</a:t>
            </a:r>
            <a:endParaRPr lang="en-US" sz="1500" dirty="0"/>
          </a:p>
        </p:txBody>
      </p:sp>
      <p:sp>
        <p:nvSpPr>
          <p:cNvPr id="22" name="Shape 19"/>
          <p:cNvSpPr/>
          <p:nvPr/>
        </p:nvSpPr>
        <p:spPr>
          <a:xfrm>
            <a:off x="8778240" y="3200400"/>
            <a:ext cx="0" cy="274320"/>
          </a:xfrm>
          <a:prstGeom prst="line">
            <a:avLst/>
          </a:prstGeom>
          <a:noFill/>
          <a:ln w="22225">
            <a:solidFill>
              <a:srgbClr val="5B646B"/>
            </a:solidFill>
            <a:prstDash val="solid"/>
            <a:tailEnd type="triangle"/>
          </a:ln>
        </p:spPr>
      </p:sp>
      <p:sp>
        <p:nvSpPr>
          <p:cNvPr id="23" name="Shape 20"/>
          <p:cNvSpPr/>
          <p:nvPr/>
        </p:nvSpPr>
        <p:spPr>
          <a:xfrm>
            <a:off x="7589520" y="4206240"/>
            <a:ext cx="2377440" cy="548640"/>
          </a:xfrm>
          <a:prstGeom prst="roundRect">
            <a:avLst>
              <a:gd name="adj" fmla="val 10000"/>
            </a:avLst>
          </a:prstGeom>
          <a:solidFill>
            <a:srgbClr val="3E5064"/>
          </a:solidFill>
          <a:ln w="12700">
            <a:solidFill>
              <a:srgbClr val="3E5064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7589520" y="420624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output_check</a:t>
            </a:r>
            <a:endParaRPr lang="en-US" sz="1500" dirty="0"/>
          </a:p>
        </p:txBody>
      </p:sp>
      <p:sp>
        <p:nvSpPr>
          <p:cNvPr id="25" name="Shape 22"/>
          <p:cNvSpPr/>
          <p:nvPr/>
        </p:nvSpPr>
        <p:spPr>
          <a:xfrm>
            <a:off x="8778240" y="3931920"/>
            <a:ext cx="0" cy="274320"/>
          </a:xfrm>
          <a:prstGeom prst="line">
            <a:avLst/>
          </a:prstGeom>
          <a:noFill/>
          <a:ln w="22225">
            <a:solidFill>
              <a:srgbClr val="5B646B"/>
            </a:solidFill>
            <a:prstDash val="solid"/>
            <a:tailEnd type="triangle"/>
          </a:ln>
        </p:spPr>
      </p:sp>
      <p:sp>
        <p:nvSpPr>
          <p:cNvPr id="26" name="Shape 23"/>
          <p:cNvSpPr/>
          <p:nvPr/>
        </p:nvSpPr>
        <p:spPr>
          <a:xfrm>
            <a:off x="7589520" y="4937760"/>
            <a:ext cx="2377440" cy="548640"/>
          </a:xfrm>
          <a:prstGeom prst="roundRect">
            <a:avLst>
              <a:gd name="adj" fmla="val 10000"/>
            </a:avLst>
          </a:prstGeom>
          <a:solidFill>
            <a:srgbClr val="D9932B"/>
          </a:solidFill>
          <a:ln w="12700">
            <a:solidFill>
              <a:srgbClr val="D9932B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7589520" y="493776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A1E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evaluate</a:t>
            </a:r>
            <a:endParaRPr lang="en-US" sz="1500" dirty="0"/>
          </a:p>
        </p:txBody>
      </p:sp>
      <p:sp>
        <p:nvSpPr>
          <p:cNvPr id="28" name="Shape 25"/>
          <p:cNvSpPr/>
          <p:nvPr/>
        </p:nvSpPr>
        <p:spPr>
          <a:xfrm>
            <a:off x="8778240" y="4663440"/>
            <a:ext cx="0" cy="274320"/>
          </a:xfrm>
          <a:prstGeom prst="line">
            <a:avLst/>
          </a:prstGeom>
          <a:noFill/>
          <a:ln w="22225">
            <a:solidFill>
              <a:srgbClr val="5B646B"/>
            </a:solidFill>
            <a:prstDash val="solid"/>
            <a:tailEnd type="triangle"/>
          </a:ln>
        </p:spPr>
      </p:sp>
      <p:sp>
        <p:nvSpPr>
          <p:cNvPr id="29" name="Shape 26"/>
          <p:cNvSpPr/>
          <p:nvPr/>
        </p:nvSpPr>
        <p:spPr>
          <a:xfrm>
            <a:off x="7287768" y="2194560"/>
            <a:ext cx="301752" cy="731520"/>
          </a:xfrm>
          <a:prstGeom prst="line">
            <a:avLst/>
          </a:prstGeom>
          <a:noFill/>
          <a:ln w="22225">
            <a:solidFill>
              <a:srgbClr val="5B646B"/>
            </a:solidFill>
            <a:prstDash val="solid"/>
            <a:tailEnd type="triangle"/>
          </a:ln>
        </p:spPr>
      </p:sp>
      <p:sp>
        <p:nvSpPr>
          <p:cNvPr id="30" name="Text 27"/>
          <p:cNvSpPr txBox="1"/>
          <p:nvPr/>
        </p:nvSpPr>
        <p:spPr>
          <a:xfrm>
            <a:off x="7269480" y="23317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B64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</a:t>
            </a:r>
            <a:endParaRPr lang="en-US" sz="1400" dirty="0"/>
          </a:p>
        </p:txBody>
      </p:sp>
      <p:sp>
        <p:nvSpPr>
          <p:cNvPr id="31" name="Shape 28"/>
          <p:cNvSpPr/>
          <p:nvPr/>
        </p:nvSpPr>
        <p:spPr>
          <a:xfrm>
            <a:off x="8641080" y="5852160"/>
            <a:ext cx="274320" cy="274320"/>
          </a:xfrm>
          <a:prstGeom prst="ellipse">
            <a:avLst/>
          </a:prstGeom>
          <a:solidFill>
            <a:srgbClr val="1A1E22"/>
          </a:solidFill>
          <a:ln w="12700">
            <a:solidFill>
              <a:srgbClr val="1A1E22"/>
            </a:solidFill>
            <a:prstDash val="solid"/>
          </a:ln>
        </p:spPr>
      </p:sp>
      <p:sp>
        <p:nvSpPr>
          <p:cNvPr id="32" name="Text 29"/>
          <p:cNvSpPr txBox="1"/>
          <p:nvPr/>
        </p:nvSpPr>
        <p:spPr>
          <a:xfrm>
            <a:off x="9006840" y="585216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4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END</a:t>
            </a:r>
            <a:endParaRPr lang="en-US" sz="1100" dirty="0"/>
          </a:p>
        </p:txBody>
      </p:sp>
      <p:sp>
        <p:nvSpPr>
          <p:cNvPr id="33" name="Shape 30"/>
          <p:cNvSpPr/>
          <p:nvPr/>
        </p:nvSpPr>
        <p:spPr>
          <a:xfrm>
            <a:off x="8778240" y="5486400"/>
            <a:ext cx="0" cy="365760"/>
          </a:xfrm>
          <a:prstGeom prst="line">
            <a:avLst/>
          </a:prstGeom>
          <a:noFill/>
          <a:ln w="22225">
            <a:solidFill>
              <a:srgbClr val="5B646B"/>
            </a:solidFill>
            <a:prstDash val="solid"/>
            <a:tailEnd type="triangle"/>
          </a:ln>
        </p:spPr>
      </p:sp>
      <p:sp>
        <p:nvSpPr>
          <p:cNvPr id="34" name="Shape 31"/>
          <p:cNvSpPr/>
          <p:nvPr/>
        </p:nvSpPr>
        <p:spPr>
          <a:xfrm>
            <a:off x="640080" y="5029200"/>
            <a:ext cx="274320" cy="274320"/>
          </a:xfrm>
          <a:prstGeom prst="ellipse">
            <a:avLst/>
          </a:prstGeom>
          <a:solidFill>
            <a:srgbClr val="3E5064"/>
          </a:solidFill>
          <a:ln w="12700">
            <a:solidFill>
              <a:srgbClr val="3E5064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1005840" y="502920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4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deterministic</a:t>
            </a:r>
            <a:endParaRPr lang="en-US" sz="1400" dirty="0"/>
          </a:p>
        </p:txBody>
      </p:sp>
      <p:sp>
        <p:nvSpPr>
          <p:cNvPr id="36" name="Shape 33"/>
          <p:cNvSpPr/>
          <p:nvPr/>
        </p:nvSpPr>
        <p:spPr>
          <a:xfrm>
            <a:off x="640080" y="5440680"/>
            <a:ext cx="274320" cy="274320"/>
          </a:xfrm>
          <a:prstGeom prst="ellipse">
            <a:avLst/>
          </a:prstGeom>
          <a:solidFill>
            <a:srgbClr val="D9932B"/>
          </a:solidFill>
          <a:ln w="12700">
            <a:solidFill>
              <a:srgbClr val="D9932B"/>
            </a:solidFill>
            <a:prstDash val="solid"/>
          </a:ln>
        </p:spPr>
      </p:sp>
      <p:sp>
        <p:nvSpPr>
          <p:cNvPr id="37" name="Text 34"/>
          <p:cNvSpPr txBox="1"/>
          <p:nvPr/>
        </p:nvSpPr>
        <p:spPr>
          <a:xfrm>
            <a:off x="1005840" y="544068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4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calls the model</a:t>
            </a:r>
            <a:endParaRPr lang="en-US" sz="1400" dirty="0"/>
          </a:p>
        </p:txBody>
      </p:sp>
      <p:sp>
        <p:nvSpPr>
          <p:cNvPr id="38" name="Text 35"/>
          <p:cNvSpPr txBox="1"/>
          <p:nvPr/>
        </p:nvSpPr>
        <p:spPr>
          <a:xfrm>
            <a:off x="640080" y="59893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5B64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blocked request ends immediately: no model call, no score.</a:t>
            </a:r>
            <a:endParaRPr lang="en-US" sz="16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518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65760"/>
            <a:ext cx="8686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 Code  ·  Part 1 of 3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64008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3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DAY 20  ·  GUARDRAILS, EVALUATION &amp; CAPSTONE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8046720" y="64008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3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L2 AGENT ENGINEERING</a:t>
            </a:r>
            <a:endParaRPr lang="en-US" sz="1000" dirty="0"/>
          </a:p>
        </p:txBody>
      </p:sp>
      <p:sp>
        <p:nvSpPr>
          <p:cNvPr id="6" name="Text 3"/>
          <p:cNvSpPr txBox="1"/>
          <p:nvPr/>
        </p:nvSpPr>
        <p:spPr>
          <a:xfrm>
            <a:off x="9692640" y="45720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D993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example.py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640080" y="1188720"/>
            <a:ext cx="10881360" cy="4572000"/>
          </a:xfrm>
          <a:prstGeom prst="roundRect">
            <a:avLst>
              <a:gd name="adj" fmla="val 1000"/>
            </a:avLst>
          </a:prstGeom>
          <a:solidFill>
            <a:srgbClr val="1F242B"/>
          </a:solidFill>
          <a:ln w="12700">
            <a:solidFill>
              <a:srgbClr val="2C333B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914400" y="1325880"/>
            <a:ext cx="10332720" cy="4297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B73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27  </a:t>
            </a:r>
            <a:pPr indent="0" marL="0">
              <a:buNone/>
            </a:pPr>
            <a:r>
              <a:rPr lang="en-US" sz="1300" dirty="0">
                <a:solidFill>
                  <a:srgbClr val="F5F7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input_filter(state):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6B73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28  </a:t>
            </a:r>
            <a:pPr indent="0" marL="0">
              <a:buNone/>
            </a:pPr>
            <a:r>
              <a:rPr lang="en-US" sz="1300" dirty="0">
                <a:solidFill>
                  <a:srgbClr val="F5F7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"""Guardrail 1 (deterministic): refuse banned or empty input before any model call."""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6B73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29  </a:t>
            </a:r>
            <a:pPr indent="0" marL="0">
              <a:buNone/>
            </a:pPr>
            <a:r>
              <a:rPr lang="en-US" sz="1300" dirty="0">
                <a:solidFill>
                  <a:srgbClr val="F5F7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text = state["question"].lower()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6B73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30  </a:t>
            </a:r>
            <a:pPr indent="0" marL="0">
              <a:buNone/>
            </a:pPr>
            <a:r>
              <a:rPr lang="en-US" sz="1300" dirty="0">
                <a:solidFill>
                  <a:srgbClr val="F5F7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bad = not text.strip() or any(word in text for word in BANNED_WORDS)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6B73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31  </a:t>
            </a:r>
            <a:pPr indent="0" marL="0">
              <a:buNone/>
            </a:pPr>
            <a:r>
              <a:rPr lang="en-US" sz="1300" dirty="0">
                <a:solidFill>
                  <a:srgbClr val="F5F7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{"blocked": bad}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6B73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32  </a:t>
            </a:r>
            <a:pPr indent="0" marL="0">
              <a:buNone/>
            </a:pPr>
            <a:r>
              <a:rPr lang="en-US" sz="1300" dirty="0">
                <a:solidFill>
                  <a:srgbClr val="F5F7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6B73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34  </a:t>
            </a:r>
            <a:pPr indent="0" marL="0">
              <a:buNone/>
            </a:pPr>
            <a:r>
              <a:rPr lang="en-US" sz="1300" dirty="0">
                <a:solidFill>
                  <a:srgbClr val="F5F7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choose_route(state):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6B73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35  </a:t>
            </a:r>
            <a:pPr indent="0" marL="0">
              <a:buNone/>
            </a:pPr>
            <a:r>
              <a:rPr lang="en-US" sz="1300" dirty="0">
                <a:solidFill>
                  <a:srgbClr val="F5F7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"refuse" if state["blocked"] else "redact_pii"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6B73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36  </a:t>
            </a:r>
            <a:pPr indent="0" marL="0">
              <a:buNone/>
            </a:pPr>
            <a:r>
              <a:rPr lang="en-US" sz="1300" dirty="0">
                <a:solidFill>
                  <a:srgbClr val="F5F7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6B73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38  </a:t>
            </a:r>
            <a:pPr indent="0" marL="0">
              <a:buNone/>
            </a:pPr>
            <a:r>
              <a:rPr lang="en-US" sz="1300" dirty="0">
                <a:solidFill>
                  <a:srgbClr val="F5F7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refuse(state):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6B73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39  </a:t>
            </a:r>
            <a:pPr indent="0" marL="0">
              <a:buNone/>
            </a:pPr>
            <a:r>
              <a:rPr lang="en-US" sz="1300" dirty="0">
                <a:solidFill>
                  <a:srgbClr val="F5F7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{"answer": "I cannot help with that request."}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6B73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40  </a:t>
            </a:r>
            <a:pPr indent="0" marL="0">
              <a:buNone/>
            </a:pPr>
            <a:r>
              <a:rPr lang="en-US" sz="1300" dirty="0">
                <a:solidFill>
                  <a:srgbClr val="F5F7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6B73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42  </a:t>
            </a:r>
            <a:pPr indent="0" marL="0">
              <a:buNone/>
            </a:pPr>
            <a:r>
              <a:rPr lang="en-US" sz="1300" dirty="0">
                <a:solidFill>
                  <a:srgbClr val="F5F7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redact_pii(state):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6B73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43  </a:t>
            </a:r>
            <a:pPr indent="0" marL="0">
              <a:buNone/>
            </a:pPr>
            <a:r>
              <a:rPr lang="en-US" sz="1300" dirty="0">
                <a:solidFill>
                  <a:srgbClr val="F5F7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"""Guardrail 2 (deterministic): hide emails and card numbers before the model sees them."""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6B73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44  </a:t>
            </a:r>
            <a:pPr indent="0" marL="0">
              <a:buNone/>
            </a:pPr>
            <a:r>
              <a:rPr lang="en-US" sz="1300" dirty="0">
                <a:solidFill>
                  <a:srgbClr val="F5F7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text = re.sub(EMAIL, "[EMAIL]", state["question"])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6B73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45  </a:t>
            </a:r>
            <a:pPr indent="0" marL="0">
              <a:buNone/>
            </a:pPr>
            <a:r>
              <a:rPr lang="en-US" sz="1300" dirty="0">
                <a:solidFill>
                  <a:srgbClr val="F5F7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text = re.sub(CARD, "[CARD]", text)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6B73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46  </a:t>
            </a:r>
            <a:pPr indent="0" marL="0">
              <a:buNone/>
            </a:pPr>
            <a:r>
              <a:rPr lang="en-US" sz="1300" dirty="0">
                <a:solidFill>
                  <a:srgbClr val="F5F7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{"question": text}</a:t>
            </a:r>
            <a:endParaRPr lang="en-US" sz="1300" dirty="0"/>
          </a:p>
        </p:txBody>
      </p:sp>
      <p:sp>
        <p:nvSpPr>
          <p:cNvPr id="9" name="Text 6"/>
          <p:cNvSpPr txBox="1"/>
          <p:nvPr/>
        </p:nvSpPr>
        <p:spPr>
          <a:xfrm>
            <a:off x="640080" y="589788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8A92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guardrails: filter, route, refuse, redact. All deterministic, no model call. (The agent node is one plain ollama.chat call, as on Day 2.)</a:t>
            </a:r>
            <a:endParaRPr lang="en-US" sz="1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518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65760"/>
            <a:ext cx="8686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 Code  ·  Part 2 of 3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64008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3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DAY 20  ·  GUARDRAILS, EVALUATION &amp; CAPSTONE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8046720" y="64008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3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L2 AGENT ENGINEERING</a:t>
            </a:r>
            <a:endParaRPr lang="en-US" sz="1000" dirty="0"/>
          </a:p>
        </p:txBody>
      </p:sp>
      <p:sp>
        <p:nvSpPr>
          <p:cNvPr id="6" name="Text 3"/>
          <p:cNvSpPr txBox="1"/>
          <p:nvPr/>
        </p:nvSpPr>
        <p:spPr>
          <a:xfrm>
            <a:off x="9692640" y="45720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D993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example.py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640080" y="1188720"/>
            <a:ext cx="10881360" cy="4572000"/>
          </a:xfrm>
          <a:prstGeom prst="roundRect">
            <a:avLst>
              <a:gd name="adj" fmla="val 1000"/>
            </a:avLst>
          </a:prstGeom>
          <a:solidFill>
            <a:srgbClr val="1F242B"/>
          </a:solidFill>
          <a:ln w="12700">
            <a:solidFill>
              <a:srgbClr val="2C333B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914400" y="1325880"/>
            <a:ext cx="10332720" cy="4297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B73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58  </a:t>
            </a:r>
            <a:pPr indent="0" marL="0">
              <a:buNone/>
            </a:pPr>
            <a:r>
              <a:rPr lang="en-US" sz="1300" dirty="0">
                <a:solidFill>
                  <a:srgbClr val="F5F7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output_check(state):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6B73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59  </a:t>
            </a:r>
            <a:pPr indent="0" marL="0">
              <a:buNone/>
            </a:pPr>
            <a:r>
              <a:rPr lang="en-US" sz="1300" dirty="0">
                <a:solidFill>
                  <a:srgbClr val="F5F7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"""Guardrail 3 (deterministic): never let an email or card number leave in the answer."""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6B73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60  </a:t>
            </a:r>
            <a:pPr indent="0" marL="0">
              <a:buNone/>
            </a:pPr>
            <a:r>
              <a:rPr lang="en-US" sz="1300" dirty="0">
                <a:solidFill>
                  <a:srgbClr val="F5F7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text = re.sub(EMAIL, "[EMAIL]", state["answer"])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6B73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61  </a:t>
            </a:r>
            <a:pPr indent="0" marL="0">
              <a:buNone/>
            </a:pPr>
            <a:r>
              <a:rPr lang="en-US" sz="1300" dirty="0">
                <a:solidFill>
                  <a:srgbClr val="F5F7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text = re.sub(CARD, "[CARD]", text)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6B73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62  </a:t>
            </a:r>
            <a:pPr indent="0" marL="0">
              <a:buNone/>
            </a:pPr>
            <a:r>
              <a:rPr lang="en-US" sz="1300" dirty="0">
                <a:solidFill>
                  <a:srgbClr val="F5F7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{"answer": text}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6B73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63  </a:t>
            </a:r>
            <a:pPr indent="0" marL="0">
              <a:buNone/>
            </a:pPr>
            <a:r>
              <a:rPr lang="en-US" sz="1300" dirty="0">
                <a:solidFill>
                  <a:srgbClr val="F5F7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6B73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65  </a:t>
            </a:r>
            <a:pPr indent="0" marL="0">
              <a:buNone/>
            </a:pPr>
            <a:r>
              <a:rPr lang="en-US" sz="1300" dirty="0">
                <a:solidFill>
                  <a:srgbClr val="F5F7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evaluate(state):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6B73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66  </a:t>
            </a:r>
            <a:pPr indent="0" marL="0">
              <a:buNone/>
            </a:pPr>
            <a:r>
              <a:rPr lang="en-US" sz="1300" dirty="0">
                <a:solidFill>
                  <a:srgbClr val="F5F7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"""Evaluation (model-based judge): score the answer from 1 to 5."""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6B73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67  </a:t>
            </a:r>
            <a:pPr indent="0" marL="0">
              <a:buNone/>
            </a:pPr>
            <a:r>
              <a:rPr lang="en-US" sz="1300" dirty="0">
                <a:solidFill>
                  <a:srgbClr val="F5F7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prompt = (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6B73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68  </a:t>
            </a:r>
            <a:pPr indent="0" marL="0">
              <a:buNone/>
            </a:pPr>
            <a:r>
              <a:rPr lang="en-US" sz="1300" dirty="0">
                <a:solidFill>
                  <a:srgbClr val="F5F7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"Score this helpdesk answer from 1 (useless) to 5 (correct, clear, safe).\n"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6B73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69  </a:t>
            </a:r>
            <a:pPr indent="0" marL="0">
              <a:buNone/>
            </a:pPr>
            <a:r>
              <a:rPr lang="en-US" sz="1300" dirty="0">
                <a:solidFill>
                  <a:srgbClr val="F5F7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f"Question: {state['question']}\nAnswer: {state['answer']}\n"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6B73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70  </a:t>
            </a:r>
            <a:pPr indent="0" marL="0">
              <a:buNone/>
            </a:pPr>
            <a:r>
              <a:rPr lang="en-US" sz="1300" dirty="0">
                <a:solidFill>
                  <a:srgbClr val="F5F7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"Reply with one digit only."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6B73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71  </a:t>
            </a:r>
            <a:pPr indent="0" marL="0">
              <a:buNone/>
            </a:pPr>
            <a:r>
              <a:rPr lang="en-US" sz="1300" dirty="0">
                <a:solidFill>
                  <a:srgbClr val="F5F7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6B73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72  </a:t>
            </a:r>
            <a:pPr indent="0" marL="0">
              <a:buNone/>
            </a:pPr>
            <a:r>
              <a:rPr lang="en-US" sz="1300" dirty="0">
                <a:solidFill>
                  <a:srgbClr val="F5F7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response = ollama.chat(model=MODEL, messages=[{"role": "user", "content": prompt}])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6B73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73  </a:t>
            </a:r>
            <a:pPr indent="0" marL="0">
              <a:buNone/>
            </a:pPr>
            <a:r>
              <a:rPr lang="en-US" sz="1300" dirty="0">
                <a:solidFill>
                  <a:srgbClr val="F5F7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digits = [c for c in response["message"]["content"] if c in "12345"]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6B73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74  </a:t>
            </a:r>
            <a:pPr indent="0" marL="0">
              <a:buNone/>
            </a:pPr>
            <a:r>
              <a:rPr lang="en-US" sz="1300" dirty="0">
                <a:solidFill>
                  <a:srgbClr val="F5F7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{"score": int(digits[0]) if digits else 0}</a:t>
            </a:r>
            <a:endParaRPr lang="en-US" sz="1300" dirty="0"/>
          </a:p>
        </p:txBody>
      </p:sp>
      <p:sp>
        <p:nvSpPr>
          <p:cNvPr id="9" name="Text 6"/>
          <p:cNvSpPr txBox="1"/>
          <p:nvPr/>
        </p:nvSpPr>
        <p:spPr>
          <a:xfrm>
            <a:off x="640080" y="589788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8A92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guardrail and the evaluation judge: the model returns a digit and the code turns it into score.</a:t>
            </a:r>
            <a:endParaRPr lang="en-US" sz="14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518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65760"/>
            <a:ext cx="8686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 Code  ·  Part 3 of 3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64008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3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DAY 20  ·  GUARDRAILS, EVALUATION &amp; CAPSTONE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8046720" y="64008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3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L2 AGENT ENGINEERING</a:t>
            </a:r>
            <a:endParaRPr lang="en-US" sz="1000" dirty="0"/>
          </a:p>
        </p:txBody>
      </p:sp>
      <p:sp>
        <p:nvSpPr>
          <p:cNvPr id="6" name="Text 3"/>
          <p:cNvSpPr txBox="1"/>
          <p:nvPr/>
        </p:nvSpPr>
        <p:spPr>
          <a:xfrm>
            <a:off x="9692640" y="45720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D993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example.py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640080" y="1188720"/>
            <a:ext cx="10881360" cy="4572000"/>
          </a:xfrm>
          <a:prstGeom prst="roundRect">
            <a:avLst>
              <a:gd name="adj" fmla="val 1000"/>
            </a:avLst>
          </a:prstGeom>
          <a:solidFill>
            <a:srgbClr val="1F242B"/>
          </a:solidFill>
          <a:ln w="12700">
            <a:solidFill>
              <a:srgbClr val="2C333B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914400" y="1325880"/>
            <a:ext cx="10332720" cy="4297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B73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77  </a:t>
            </a:r>
            <a:pPr indent="0" marL="0">
              <a:buNone/>
            </a:pPr>
            <a:r>
              <a:rPr lang="en-US" sz="1300" dirty="0">
                <a:solidFill>
                  <a:srgbClr val="F5F7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graph_builder = StateGraph(GuardState)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6B73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78  </a:t>
            </a:r>
            <a:pPr indent="0" marL="0">
              <a:buNone/>
            </a:pPr>
            <a:r>
              <a:rPr lang="en-US" sz="1300" dirty="0">
                <a:solidFill>
                  <a:srgbClr val="F5F7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graph_builder.add_node("input_filter", input_filter)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6B73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79  </a:t>
            </a:r>
            <a:pPr indent="0" marL="0">
              <a:buNone/>
            </a:pPr>
            <a:r>
              <a:rPr lang="en-US" sz="1300" dirty="0">
                <a:solidFill>
                  <a:srgbClr val="F5F7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graph_builder.add_node("refuse", refuse)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6B73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80  </a:t>
            </a:r>
            <a:pPr indent="0" marL="0">
              <a:buNone/>
            </a:pPr>
            <a:r>
              <a:rPr lang="en-US" sz="1300" dirty="0">
                <a:solidFill>
                  <a:srgbClr val="F5F7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graph_builder.add_node("redact_pii", redact_pii)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6B73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81  </a:t>
            </a:r>
            <a:pPr indent="0" marL="0">
              <a:buNone/>
            </a:pPr>
            <a:r>
              <a:rPr lang="en-US" sz="1300" dirty="0">
                <a:solidFill>
                  <a:srgbClr val="F5F7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graph_builder.add_node("agent", agent)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6B73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82  </a:t>
            </a:r>
            <a:pPr indent="0" marL="0">
              <a:buNone/>
            </a:pPr>
            <a:r>
              <a:rPr lang="en-US" sz="1300" dirty="0">
                <a:solidFill>
                  <a:srgbClr val="F5F7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graph_builder.add_node("output_check", output_check)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6B73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83  </a:t>
            </a:r>
            <a:pPr indent="0" marL="0">
              <a:buNone/>
            </a:pPr>
            <a:r>
              <a:rPr lang="en-US" sz="1300" dirty="0">
                <a:solidFill>
                  <a:srgbClr val="F5F7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graph_builder.add_node("evaluate", evaluate)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6B73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84  </a:t>
            </a:r>
            <a:pPr indent="0" marL="0">
              <a:buNone/>
            </a:pPr>
            <a:r>
              <a:rPr lang="en-US" sz="1300" dirty="0">
                <a:solidFill>
                  <a:srgbClr val="F5F7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graph_builder.add_edge(START, "input_filter")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6B73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85  </a:t>
            </a:r>
            <a:pPr indent="0" marL="0">
              <a:buNone/>
            </a:pPr>
            <a:r>
              <a:rPr lang="en-US" sz="1300" dirty="0">
                <a:solidFill>
                  <a:srgbClr val="F5F7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graph_builder.add_conditional_edges("input_filter", choose_route)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6B73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86  </a:t>
            </a:r>
            <a:pPr indent="0" marL="0">
              <a:buNone/>
            </a:pPr>
            <a:r>
              <a:rPr lang="en-US" sz="1300" dirty="0">
                <a:solidFill>
                  <a:srgbClr val="F5F7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graph_builder.add_edge("refuse", END)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6B73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87  </a:t>
            </a:r>
            <a:pPr indent="0" marL="0">
              <a:buNone/>
            </a:pPr>
            <a:r>
              <a:rPr lang="en-US" sz="1300" dirty="0">
                <a:solidFill>
                  <a:srgbClr val="F5F7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graph_builder.add_edge("redact_pii", "agent")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6B73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88  </a:t>
            </a:r>
            <a:pPr indent="0" marL="0">
              <a:buNone/>
            </a:pPr>
            <a:r>
              <a:rPr lang="en-US" sz="1300" dirty="0">
                <a:solidFill>
                  <a:srgbClr val="F5F7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graph_builder.add_edge("agent", "output_check")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6B73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89  </a:t>
            </a:r>
            <a:pPr indent="0" marL="0">
              <a:buNone/>
            </a:pPr>
            <a:r>
              <a:rPr lang="en-US" sz="1300" dirty="0">
                <a:solidFill>
                  <a:srgbClr val="F5F7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graph_builder.add_edge("output_check", "evaluate")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6B73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90  </a:t>
            </a:r>
            <a:pPr indent="0" marL="0">
              <a:buNone/>
            </a:pPr>
            <a:r>
              <a:rPr lang="en-US" sz="1300" dirty="0">
                <a:solidFill>
                  <a:srgbClr val="F5F7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graph_builder.add_edge("evaluate", END)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6B73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91  </a:t>
            </a:r>
            <a:pPr indent="0" marL="0">
              <a:buNone/>
            </a:pPr>
            <a:r>
              <a:rPr lang="en-US" sz="1300" dirty="0">
                <a:solidFill>
                  <a:srgbClr val="F5F7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graph = graph_builder.compile()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6B73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102  </a:t>
            </a:r>
            <a:pPr indent="0" marL="0">
              <a:buNone/>
            </a:pPr>
            <a:r>
              <a:rPr lang="en-US" sz="1300" dirty="0">
                <a:solidFill>
                  <a:srgbClr val="F5F7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print("Case | guardrail correct | judge score (1-5) | answer")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6B73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103  </a:t>
            </a:r>
            <a:pPr indent="0" marL="0">
              <a:buNone/>
            </a:pPr>
            <a:r>
              <a:rPr lang="en-US" sz="1300" dirty="0">
                <a:solidFill>
                  <a:srgbClr val="F5F7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number, case in enumerate(CASES, start=1):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6B73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104  </a:t>
            </a:r>
            <a:pPr indent="0" marL="0">
              <a:buNone/>
            </a:pPr>
            <a:r>
              <a:rPr lang="en-US" sz="1300" dirty="0">
                <a:solidFill>
                  <a:srgbClr val="F5F7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result = graph.invoke({"question": case["question"]})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6B73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105  </a:t>
            </a:r>
            <a:pPr indent="0" marL="0">
              <a:buNone/>
            </a:pPr>
            <a:r>
              <a:rPr lang="en-US" sz="1300" dirty="0">
                <a:solidFill>
                  <a:srgbClr val="F5F7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guardrail_ok = result["blocked"] == case["should_block"]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6B73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106  </a:t>
            </a:r>
            <a:pPr indent="0" marL="0">
              <a:buNone/>
            </a:pPr>
            <a:r>
              <a:rPr lang="en-US" sz="1300" dirty="0">
                <a:solidFill>
                  <a:srgbClr val="F5F7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score = result.get("score", "-")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6B73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107  </a:t>
            </a:r>
            <a:pPr indent="0" marL="0">
              <a:buNone/>
            </a:pPr>
            <a:r>
              <a:rPr lang="en-US" sz="1300" dirty="0">
                <a:solidFill>
                  <a:srgbClr val="F5F7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print(f"{number} | {'PASS' if guardrail_ok else 'FAIL'} | {score} | {result['answer'][:70]!r}")</a:t>
            </a:r>
            <a:endParaRPr lang="en-US" sz="1300" dirty="0"/>
          </a:p>
        </p:txBody>
      </p:sp>
      <p:sp>
        <p:nvSpPr>
          <p:cNvPr id="9" name="Text 6"/>
          <p:cNvSpPr txBox="1"/>
          <p:nvPr/>
        </p:nvSpPr>
        <p:spPr>
          <a:xfrm>
            <a:off x="640080" y="589788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8A92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Wiring (conditional edge) and the test loop that prints one PASS/FAIL line per case. The CASES list is above the loop.</a:t>
            </a:r>
            <a:endParaRPr lang="en-US" sz="14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6576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E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Hands-On Lab  ·  ~45 min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64008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4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DAY 20  ·  GUARDRAILS, EVALUATION &amp; CAPSTONE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8046720" y="64008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L2 AGENT ENGINEERING</a:t>
            </a:r>
            <a:endParaRPr lang="en-US" sz="1000" dirty="0"/>
          </a:p>
        </p:txBody>
      </p:sp>
      <p:sp>
        <p:nvSpPr>
          <p:cNvPr id="6" name="Text 3"/>
          <p:cNvSpPr txBox="1"/>
          <p:nvPr/>
        </p:nvSpPr>
        <p:spPr>
          <a:xfrm>
            <a:off x="640080" y="118872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E506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START → input_filter → refuse  or  redact_pii → agent → output_check → evaluate → END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640080" y="1828800"/>
            <a:ext cx="694944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Font typeface="+mj-lt"/>
              <a:buAutoNum type="arabicPeriod" startAt="1"/>
            </a:pPr>
            <a:r>
              <a:rPr lang="en-US" sz="1800" dirty="0">
                <a:solidFill>
                  <a:srgbClr val="1A1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example.py: find each node, the conditional edge and the CASES list.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Font typeface="+mj-lt"/>
              <a:buAutoNum type="arabicPeriod" startAt="1"/>
            </a:pPr>
            <a:r>
              <a:rPr lang="en-US" sz="1800" dirty="0">
                <a:solidFill>
                  <a:srgbClr val="1A1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 blocked or answered for the four cases. Write it down.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Font typeface="+mj-lt"/>
              <a:buAutoNum type="arabicPeriod" startAt="1"/>
            </a:pPr>
            <a:r>
              <a:rPr lang="en-US" sz="1800" dirty="0">
                <a:solidFill>
                  <a:srgbClr val="1A1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the file. Cases 3 and 4 show “-” for the judge score. Why?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Font typeface="+mj-lt"/>
              <a:buAutoNum type="arabicPeriod" startAt="1"/>
            </a:pPr>
            <a:r>
              <a:rPr lang="en-US" sz="1800" dirty="0">
                <a:solidFill>
                  <a:srgbClr val="1A1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a case that should be blocked. Add a case containing an email.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Font typeface="+mj-lt"/>
              <a:buAutoNum type="arabicPeriod" startAt="1"/>
            </a:pPr>
            <a:r>
              <a:rPr lang="en-US" sz="1800" dirty="0">
                <a:solidFill>
                  <a:srgbClr val="1A1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the “explain malware” training question with should_block False. Predict FAIL, then explain the false positive.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Font typeface="+mj-lt"/>
              <a:buAutoNum type="arabicPeriod" startAt="1"/>
            </a:pPr>
            <a:r>
              <a:rPr lang="en-US" sz="1800" dirty="0">
                <a:solidFill>
                  <a:srgbClr val="1A1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guardrails.ipynb and run sections 1-8 and 11 (9-10 are demos only).</a:t>
            </a:r>
            <a:endParaRPr lang="en-US" sz="1800" dirty="0"/>
          </a:p>
        </p:txBody>
      </p:sp>
      <p:sp>
        <p:nvSpPr>
          <p:cNvPr id="8" name="Shape 5"/>
          <p:cNvSpPr/>
          <p:nvPr/>
        </p:nvSpPr>
        <p:spPr>
          <a:xfrm>
            <a:off x="8046720" y="1828800"/>
            <a:ext cx="3474720" cy="1920240"/>
          </a:xfrm>
          <a:prstGeom prst="roundRect">
            <a:avLst>
              <a:gd name="adj" fmla="val 3810"/>
            </a:avLst>
          </a:prstGeom>
          <a:solidFill>
            <a:srgbClr val="15181C"/>
          </a:solidFill>
          <a:ln w="12700">
            <a:solidFill>
              <a:srgbClr val="15181C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8275320" y="196596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300" kern="0" dirty="0">
                <a:solidFill>
                  <a:srgbClr val="D993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RUN IT</a:t>
            </a:r>
            <a:endParaRPr lang="en-US" sz="1200" dirty="0"/>
          </a:p>
        </p:txBody>
      </p:sp>
      <p:sp>
        <p:nvSpPr>
          <p:cNvPr id="10" name="Text 7"/>
          <p:cNvSpPr txBox="1"/>
          <p:nvPr/>
        </p:nvSpPr>
        <p:spPr>
          <a:xfrm>
            <a:off x="8275320" y="2286000"/>
            <a:ext cx="31089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5F7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ollama signin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5F7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uv run python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5F7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Day-20-Evaluation-Guardrails-Capstone\example.py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8046720" y="4023360"/>
            <a:ext cx="3474720" cy="2011680"/>
          </a:xfrm>
          <a:prstGeom prst="roundRect">
            <a:avLst>
              <a:gd name="adj" fmla="val 3636"/>
            </a:avLst>
          </a:prstGeom>
          <a:solidFill>
            <a:srgbClr val="F5F7F3"/>
          </a:solidFill>
          <a:ln w="12700">
            <a:solidFill>
              <a:srgbClr val="D7DCD1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8275320" y="416052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300" kern="0" dirty="0">
                <a:solidFill>
                  <a:srgbClr val="5B64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CONTROL QUESTION</a:t>
            </a:r>
            <a:endParaRPr lang="en-US" sz="1200" dirty="0"/>
          </a:p>
        </p:txBody>
      </p:sp>
      <p:sp>
        <p:nvSpPr>
          <p:cNvPr id="13" name="Text 10"/>
          <p:cNvSpPr txBox="1"/>
          <p:nvPr/>
        </p:nvSpPr>
        <p:spPr>
          <a:xfrm>
            <a:off x="8275320" y="4480560"/>
            <a:ext cx="30175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1A1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layers cost a model call, and which are free?</a:t>
            </a:r>
            <a:endParaRPr lang="en-US" sz="1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6576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E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Assignment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64008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4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DAY 20  ·  GUARDRAILS, EVALUATION &amp; CAPSTONE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8046720" y="64008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L2 AGENT ENGINEERING</a:t>
            </a:r>
            <a:endParaRPr lang="en-US" sz="1000" dirty="0"/>
          </a:p>
        </p:txBody>
      </p:sp>
      <p:sp>
        <p:nvSpPr>
          <p:cNvPr id="6" name="Text 3"/>
          <p:cNvSpPr txBox="1"/>
          <p:nvPr/>
        </p:nvSpPr>
        <p:spPr>
          <a:xfrm>
            <a:off x="640080" y="118872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5B64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 the guardrail and show the evidence.</a:t>
            </a:r>
            <a:endParaRPr lang="en-US" sz="2200" dirty="0"/>
          </a:p>
        </p:txBody>
      </p:sp>
      <p:sp>
        <p:nvSpPr>
          <p:cNvPr id="7" name="Text 4"/>
          <p:cNvSpPr txBox="1"/>
          <p:nvPr/>
        </p:nvSpPr>
        <p:spPr>
          <a:xfrm>
            <a:off x="640080" y="1874520"/>
            <a:ext cx="676656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Font typeface="+mj-lt"/>
              <a:buAutoNum type="arabicPeriod" startAt="1"/>
            </a:pPr>
            <a:r>
              <a:rPr lang="en-US" sz="1800" dirty="0">
                <a:solidFill>
                  <a:srgbClr val="1A1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example.py and note the guardrail results.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Font typeface="+mj-lt"/>
              <a:buAutoNum type="arabicPeriod" startAt="1"/>
            </a:pPr>
            <a:r>
              <a:rPr lang="en-US" sz="1800" dirty="0">
                <a:solidFill>
                  <a:srgbClr val="1A1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the “explain malware” case and observe the FAIL.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Font typeface="+mj-lt"/>
              <a:buAutoNum type="arabicPeriod" startAt="1"/>
            </a:pPr>
            <a:r>
              <a:rPr lang="en-US" sz="1800" dirty="0">
                <a:solidFill>
                  <a:srgbClr val="1A1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 one thing, such as removing “malware” from BANNED_WORDS. Predict the new result.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Font typeface="+mj-lt"/>
              <a:buAutoNum type="arabicPeriod" startAt="1"/>
            </a:pPr>
            <a:r>
              <a:rPr lang="en-US" sz="1800" dirty="0">
                <a:solidFill>
                  <a:srgbClr val="1A1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again and compare to your prediction.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Font typeface="+mj-lt"/>
              <a:buAutoNum type="arabicPeriod" startAt="1"/>
            </a:pPr>
            <a:r>
              <a:rPr lang="en-US" sz="1800" dirty="0">
                <a:solidFill>
                  <a:srgbClr val="1A1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five sentences: the false positive, your change, the result, what you lose (think false negatives), and when you would use Bedrock or NeMo.</a:t>
            </a:r>
            <a:endParaRPr lang="en-US" sz="1800" dirty="0"/>
          </a:p>
        </p:txBody>
      </p:sp>
      <p:sp>
        <p:nvSpPr>
          <p:cNvPr id="8" name="Shape 5"/>
          <p:cNvSpPr/>
          <p:nvPr/>
        </p:nvSpPr>
        <p:spPr>
          <a:xfrm>
            <a:off x="7863840" y="1874520"/>
            <a:ext cx="3657600" cy="3931920"/>
          </a:xfrm>
          <a:prstGeom prst="roundRect">
            <a:avLst>
              <a:gd name="adj" fmla="val 2000"/>
            </a:avLst>
          </a:prstGeom>
          <a:solidFill>
            <a:srgbClr val="F5F7F3"/>
          </a:solidFill>
          <a:ln w="12700">
            <a:solidFill>
              <a:srgbClr val="D7DCD1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8138160" y="205740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300" kern="0" dirty="0">
                <a:solidFill>
                  <a:srgbClr val="5B64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RULES</a:t>
            </a:r>
            <a:endParaRPr lang="en-US" sz="1200" dirty="0"/>
          </a:p>
        </p:txBody>
      </p:sp>
      <p:sp>
        <p:nvSpPr>
          <p:cNvPr id="10" name="Text 7"/>
          <p:cNvSpPr txBox="1"/>
          <p:nvPr/>
        </p:nvSpPr>
        <p:spPr>
          <a:xfrm>
            <a:off x="8138160" y="2423160"/>
            <a:ext cx="320040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A1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Python file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A1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LangGraph directly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A1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test folder or helper package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A1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uv and Command Prompt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A1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Model: ollama.chat with gpt-oss:120b-cloud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A1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put AWS keys in a file</a:t>
            </a:r>
            <a:endParaRPr lang="en-US" sz="16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518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6576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Course Complete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64008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3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DAY 20  ·  GUARDRAILS, EVALUATION &amp; CAPSTONE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8046720" y="64008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3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L2 AGENT ENGINEERING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640080" y="1371600"/>
            <a:ext cx="457200" cy="457200"/>
          </a:xfrm>
          <a:prstGeom prst="ellipse">
            <a:avLst/>
          </a:prstGeom>
          <a:solidFill>
            <a:srgbClr val="D9932B"/>
          </a:solidFill>
          <a:ln w="12700">
            <a:solidFill>
              <a:srgbClr val="D9932B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640080" y="13716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1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1371600" y="132588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5F7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example.py runs and every guardrail case you expect to pass shows PASS.</a:t>
            </a:r>
            <a:endParaRPr lang="en-US" sz="2000" dirty="0"/>
          </a:p>
        </p:txBody>
      </p:sp>
      <p:sp>
        <p:nvSpPr>
          <p:cNvPr id="9" name="Shape 6"/>
          <p:cNvSpPr/>
          <p:nvPr/>
        </p:nvSpPr>
        <p:spPr>
          <a:xfrm>
            <a:off x="640080" y="2240280"/>
            <a:ext cx="457200" cy="457200"/>
          </a:xfrm>
          <a:prstGeom prst="ellipse">
            <a:avLst/>
          </a:prstGeom>
          <a:solidFill>
            <a:srgbClr val="3E5064"/>
          </a:solidFill>
          <a:ln w="12700">
            <a:solidFill>
              <a:srgbClr val="3E5064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640080" y="22402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11" name="Text 8"/>
          <p:cNvSpPr txBox="1"/>
          <p:nvPr/>
        </p:nvSpPr>
        <p:spPr>
          <a:xfrm>
            <a:off x="1371600" y="219456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5F7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can name the three guardrail layers and say which are deterministic.</a:t>
            </a:r>
            <a:endParaRPr lang="en-US" sz="2000" dirty="0"/>
          </a:p>
        </p:txBody>
      </p:sp>
      <p:sp>
        <p:nvSpPr>
          <p:cNvPr id="12" name="Shape 9"/>
          <p:cNvSpPr/>
          <p:nvPr/>
        </p:nvSpPr>
        <p:spPr>
          <a:xfrm>
            <a:off x="640080" y="3108960"/>
            <a:ext cx="457200" cy="457200"/>
          </a:xfrm>
          <a:prstGeom prst="ellipse">
            <a:avLst/>
          </a:prstGeom>
          <a:solidFill>
            <a:srgbClr val="3E5064"/>
          </a:solidFill>
          <a:ln w="12700">
            <a:solidFill>
              <a:srgbClr val="3E5064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640080" y="31089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14" name="Text 11"/>
          <p:cNvSpPr txBox="1"/>
          <p:nvPr/>
        </p:nvSpPr>
        <p:spPr>
          <a:xfrm>
            <a:off x="1371600" y="306324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5F7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can explain a false positive and a false negative with an example.</a:t>
            </a:r>
            <a:endParaRPr lang="en-US" sz="2000" dirty="0"/>
          </a:p>
        </p:txBody>
      </p:sp>
      <p:sp>
        <p:nvSpPr>
          <p:cNvPr id="15" name="Shape 12"/>
          <p:cNvSpPr/>
          <p:nvPr/>
        </p:nvSpPr>
        <p:spPr>
          <a:xfrm>
            <a:off x="640080" y="3977640"/>
            <a:ext cx="457200" cy="457200"/>
          </a:xfrm>
          <a:prstGeom prst="ellipse">
            <a:avLst/>
          </a:prstGeom>
          <a:solidFill>
            <a:srgbClr val="3E5064"/>
          </a:solidFill>
          <a:ln w="12700">
            <a:solidFill>
              <a:srgbClr val="3E5064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640080" y="39776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17" name="Text 14"/>
          <p:cNvSpPr txBox="1"/>
          <p:nvPr/>
        </p:nvSpPr>
        <p:spPr>
          <a:xfrm>
            <a:off x="1371600" y="393192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5F7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can explain guardrail vs evaluation, and name Bedrock Guardrails and NeMo Guardrails as options.</a:t>
            </a:r>
            <a:endParaRPr lang="en-US" sz="2000" dirty="0"/>
          </a:p>
        </p:txBody>
      </p:sp>
      <p:sp>
        <p:nvSpPr>
          <p:cNvPr id="18" name="Shape 15"/>
          <p:cNvSpPr/>
          <p:nvPr/>
        </p:nvSpPr>
        <p:spPr>
          <a:xfrm>
            <a:off x="640080" y="4846320"/>
            <a:ext cx="457200" cy="457200"/>
          </a:xfrm>
          <a:prstGeom prst="ellipse">
            <a:avLst/>
          </a:prstGeom>
          <a:solidFill>
            <a:srgbClr val="3E5064"/>
          </a:solidFill>
          <a:ln w="12700">
            <a:solidFill>
              <a:srgbClr val="3E5064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640080" y="48463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20" name="Text 17"/>
          <p:cNvSpPr txBox="1"/>
          <p:nvPr/>
        </p:nvSpPr>
        <p:spPr>
          <a:xfrm>
            <a:off x="1371600" y="480060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5F7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are ready for the capstone demo: graph, allowed and blocked request, PII redaction, results, one change.</a:t>
            </a:r>
            <a:endParaRPr lang="en-US" sz="2000" dirty="0"/>
          </a:p>
        </p:txBody>
      </p:sp>
      <p:sp>
        <p:nvSpPr>
          <p:cNvPr id="21" name="Text 18"/>
          <p:cNvSpPr txBox="1"/>
          <p:nvPr/>
        </p:nvSpPr>
        <p:spPr>
          <a:xfrm>
            <a:off x="640080" y="585216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A92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USEFUL LINKS:  Day 20 README  ·  assessment\final-capstone.md  ·  assessment\rubric.md  ·  guardrails.ipynb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Day 20 - Guardrails, Evaluation &amp; Capstone</dc:title>
  <dc:subject>PptxGenJS Presentation</dc:subject>
  <dc:creator>L2 Agent Engineering</dc:creator>
  <cp:lastModifiedBy>L2 Agent Engineering</cp:lastModifiedBy>
  <cp:revision>1</cp:revision>
  <dcterms:created xsi:type="dcterms:W3CDTF">2026-10-09T03:51:24Z</dcterms:created>
  <dcterms:modified xsi:type="dcterms:W3CDTF">2026-10-09T03:51:24Z</dcterms:modified>
</cp:coreProperties>
</file>