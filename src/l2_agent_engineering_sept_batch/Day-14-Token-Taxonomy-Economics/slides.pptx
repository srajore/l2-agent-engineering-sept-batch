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measures instruction, question, and context sizes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any row to jump straight to that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measures instruction, question, and context sizes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measures instruction, question, and context sizes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measures instruction, question, and context sizes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measures instruction, question, and context sizes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measures instruction, question, and context sizes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measures instruction, question, and context sizes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measures instruction, question, and context sizes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measures instruction, question, and context sizes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measures instruction, question, and context sizes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Day-13-Harness-Loop-Engineering/slides.pptx" TargetMode="External"/><Relationship Id="rId2" Type="http://schemas.openxmlformats.org/officeDocument/2006/relationships/slide" Target="slide2.xml"/><Relationship Id="rId3" Type="http://schemas.openxmlformats.org/officeDocument/2006/relationships/hyperlink" Target="../Day-15-Prompt-Engineering-Management/slides.pptx" TargetMode="External"/><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4.xml"/><Relationship Id="rId3" Type="http://schemas.openxmlformats.org/officeDocument/2006/relationships/slide" Target="slide6.xml"/><Relationship Id="rId4" Type="http://schemas.openxmlformats.org/officeDocument/2006/relationships/slide" Target="slide7.xml"/><Relationship Id="rId5" Type="http://schemas.openxmlformats.org/officeDocument/2006/relationships/slide" Target="slide9.xml"/><Relationship Id="rId6" Type="http://schemas.openxmlformats.org/officeDocument/2006/relationships/slide" Target="slide10.xml"/><Relationship Id="rId7" Type="http://schemas.openxmlformats.org/officeDocument/2006/relationships/slide" Target="slide11.xml"/><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example.py"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example.py"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README.md" TargetMode="External"/><Relationship Id="rId2" Type="http://schemas.openxmlformats.org/officeDocument/2006/relationships/slide" Target="slide2.xml"/><Relationship Id="rId3" Type="http://schemas.openxmlformats.org/officeDocument/2006/relationships/hyperlink" Target="../Day-15-Prompt-Engineering-Management/slides.pptx" TargetMode="External"/><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71B"/>
        </a:solidFill>
      </p:bgPr>
    </p:bg>
    <p:spTree>
      <p:nvGrpSpPr>
        <p:cNvPr id="1" name=""/>
        <p:cNvGrpSpPr/>
        <p:nvPr/>
      </p:nvGrpSpPr>
      <p:grpSpPr>
        <a:xfrm>
          <a:off x="0" y="0"/>
          <a:ext cx="0" cy="0"/>
          <a:chOff x="0" y="0"/>
          <a:chExt cx="0" cy="0"/>
        </a:xfrm>
      </p:grpSpPr>
      <p:sp>
        <p:nvSpPr>
          <p:cNvPr id="2" name="Shape 0"/>
          <p:cNvSpPr/>
          <p:nvPr/>
        </p:nvSpPr>
        <p:spPr>
          <a:xfrm flipV="1">
            <a:off x="9692640" y="685800"/>
            <a:ext cx="1188720" cy="411480"/>
          </a:xfrm>
          <a:prstGeom prst="line">
            <a:avLst/>
          </a:prstGeom>
          <a:noFill/>
          <a:ln w="15875">
            <a:solidFill>
              <a:srgbClr val="8A939A"/>
            </a:solidFill>
            <a:prstDash val="solid"/>
          </a:ln>
        </p:spPr>
      </p:sp>
      <p:sp>
        <p:nvSpPr>
          <p:cNvPr id="3" name="Shape 1"/>
          <p:cNvSpPr/>
          <p:nvPr/>
        </p:nvSpPr>
        <p:spPr>
          <a:xfrm>
            <a:off x="10881360" y="685800"/>
            <a:ext cx="548640" cy="1051560"/>
          </a:xfrm>
          <a:prstGeom prst="line">
            <a:avLst/>
          </a:prstGeom>
          <a:noFill/>
          <a:ln w="15875">
            <a:solidFill>
              <a:srgbClr val="8A939A"/>
            </a:solidFill>
            <a:prstDash val="solid"/>
          </a:ln>
        </p:spPr>
      </p:sp>
      <p:sp>
        <p:nvSpPr>
          <p:cNvPr id="4" name="Shape 2"/>
          <p:cNvSpPr/>
          <p:nvPr/>
        </p:nvSpPr>
        <p:spPr>
          <a:xfrm>
            <a:off x="9692640" y="1097280"/>
            <a:ext cx="685800" cy="1234440"/>
          </a:xfrm>
          <a:prstGeom prst="line">
            <a:avLst/>
          </a:prstGeom>
          <a:noFill/>
          <a:ln w="15875">
            <a:solidFill>
              <a:srgbClr val="8A939A"/>
            </a:solidFill>
            <a:prstDash val="solid"/>
          </a:ln>
        </p:spPr>
      </p:sp>
      <p:sp>
        <p:nvSpPr>
          <p:cNvPr id="5" name="Shape 3"/>
          <p:cNvSpPr/>
          <p:nvPr/>
        </p:nvSpPr>
        <p:spPr>
          <a:xfrm flipV="1">
            <a:off x="10378440" y="1737360"/>
            <a:ext cx="1051560" cy="594360"/>
          </a:xfrm>
          <a:prstGeom prst="line">
            <a:avLst/>
          </a:prstGeom>
          <a:noFill/>
          <a:ln w="15875">
            <a:solidFill>
              <a:srgbClr val="8A939A"/>
            </a:solidFill>
            <a:prstDash val="solid"/>
          </a:ln>
        </p:spPr>
      </p:sp>
      <p:sp>
        <p:nvSpPr>
          <p:cNvPr id="6" name="Shape 4"/>
          <p:cNvSpPr/>
          <p:nvPr/>
        </p:nvSpPr>
        <p:spPr>
          <a:xfrm>
            <a:off x="10378440" y="2331720"/>
            <a:ext cx="914400" cy="548640"/>
          </a:xfrm>
          <a:prstGeom prst="line">
            <a:avLst/>
          </a:prstGeom>
          <a:noFill/>
          <a:ln w="15875">
            <a:solidFill>
              <a:srgbClr val="8A939A"/>
            </a:solidFill>
            <a:prstDash val="solid"/>
          </a:ln>
        </p:spPr>
      </p:sp>
      <p:sp>
        <p:nvSpPr>
          <p:cNvPr id="7" name="Shape 5"/>
          <p:cNvSpPr/>
          <p:nvPr/>
        </p:nvSpPr>
        <p:spPr>
          <a:xfrm flipH="1">
            <a:off x="11292840" y="1737360"/>
            <a:ext cx="137160" cy="1143000"/>
          </a:xfrm>
          <a:prstGeom prst="line">
            <a:avLst/>
          </a:prstGeom>
          <a:noFill/>
          <a:ln w="15875">
            <a:solidFill>
              <a:srgbClr val="8A939A"/>
            </a:solidFill>
            <a:prstDash val="solid"/>
          </a:ln>
        </p:spPr>
      </p:sp>
      <p:sp>
        <p:nvSpPr>
          <p:cNvPr id="8" name="Shape 6"/>
          <p:cNvSpPr/>
          <p:nvPr/>
        </p:nvSpPr>
        <p:spPr>
          <a:xfrm>
            <a:off x="9308592" y="713232"/>
            <a:ext cx="768096" cy="768096"/>
          </a:xfrm>
          <a:prstGeom prst="ellipse">
            <a:avLst/>
          </a:prstGeom>
          <a:solidFill>
            <a:srgbClr val="3E5064"/>
          </a:solidFill>
          <a:ln/>
        </p:spPr>
      </p:sp>
      <p:sp>
        <p:nvSpPr>
          <p:cNvPr id="9" name="Shape 7"/>
          <p:cNvSpPr/>
          <p:nvPr/>
        </p:nvSpPr>
        <p:spPr>
          <a:xfrm>
            <a:off x="10625328" y="429768"/>
            <a:ext cx="512064" cy="512064"/>
          </a:xfrm>
          <a:prstGeom prst="ellipse">
            <a:avLst/>
          </a:prstGeom>
          <a:solidFill>
            <a:srgbClr val="D9932B"/>
          </a:solidFill>
          <a:ln/>
        </p:spPr>
      </p:sp>
      <p:sp>
        <p:nvSpPr>
          <p:cNvPr id="10" name="Shape 8"/>
          <p:cNvSpPr/>
          <p:nvPr/>
        </p:nvSpPr>
        <p:spPr>
          <a:xfrm>
            <a:off x="11009376" y="1316736"/>
            <a:ext cx="841248" cy="841248"/>
          </a:xfrm>
          <a:prstGeom prst="ellipse">
            <a:avLst/>
          </a:prstGeom>
          <a:solidFill>
            <a:srgbClr val="3E5064"/>
          </a:solidFill>
          <a:ln/>
        </p:spPr>
      </p:sp>
      <p:sp>
        <p:nvSpPr>
          <p:cNvPr id="11" name="Shape 9"/>
          <p:cNvSpPr/>
          <p:nvPr/>
        </p:nvSpPr>
        <p:spPr>
          <a:xfrm>
            <a:off x="10076688" y="2029968"/>
            <a:ext cx="603504" cy="603504"/>
          </a:xfrm>
          <a:prstGeom prst="ellipse">
            <a:avLst/>
          </a:prstGeom>
          <a:solidFill>
            <a:srgbClr val="57646F"/>
          </a:solidFill>
          <a:ln/>
        </p:spPr>
      </p:sp>
      <p:sp>
        <p:nvSpPr>
          <p:cNvPr id="12" name="Shape 10"/>
          <p:cNvSpPr/>
          <p:nvPr/>
        </p:nvSpPr>
        <p:spPr>
          <a:xfrm>
            <a:off x="11055096" y="2642616"/>
            <a:ext cx="475488" cy="475488"/>
          </a:xfrm>
          <a:prstGeom prst="ellipse">
            <a:avLst/>
          </a:prstGeom>
          <a:solidFill>
            <a:srgbClr val="D9932B"/>
          </a:solidFill>
          <a:ln/>
        </p:spPr>
      </p:sp>
      <p:sp>
        <p:nvSpPr>
          <p:cNvPr id="13" name="Text 11"/>
          <p:cNvSpPr txBox="1"/>
          <p:nvPr/>
        </p:nvSpPr>
        <p:spPr>
          <a:xfrm>
            <a:off x="640080" y="502920"/>
            <a:ext cx="5486400" cy="457200"/>
          </a:xfrm>
          <a:prstGeom prst="rect">
            <a:avLst/>
          </a:prstGeom>
          <a:noFill/>
          <a:ln/>
        </p:spPr>
        <p:txBody>
          <a:bodyPr wrap="square" lIns="0" tIns="0" rIns="0" bIns="0" rtlCol="0" anchor="ctr"/>
          <a:lstStyle/>
          <a:p>
            <a:pPr indent="0" marL="0">
              <a:buNone/>
            </a:pPr>
            <a:r>
              <a:rPr lang="en-US" sz="1600" b="1" spc="200" kern="0" dirty="0">
                <a:solidFill>
                  <a:srgbClr val="D9932B"/>
                </a:solidFill>
                <a:latin typeface="Consolas" pitchFamily="34" charset="0"/>
                <a:ea typeface="Consolas" pitchFamily="34" charset="-122"/>
                <a:cs typeface="Consolas" pitchFamily="34" charset="-120"/>
              </a:rPr>
              <a:t>DAY 14</a:t>
            </a:r>
            <a:endParaRPr lang="en-US" sz="1600" dirty="0"/>
          </a:p>
        </p:txBody>
      </p:sp>
      <p:sp>
        <p:nvSpPr>
          <p:cNvPr id="14" name="Text 12"/>
          <p:cNvSpPr txBox="1"/>
          <p:nvPr/>
        </p:nvSpPr>
        <p:spPr>
          <a:xfrm>
            <a:off x="640080" y="914400"/>
            <a:ext cx="7315200" cy="365760"/>
          </a:xfrm>
          <a:prstGeom prst="rect">
            <a:avLst/>
          </a:prstGeom>
          <a:noFill/>
          <a:ln/>
        </p:spPr>
        <p:txBody>
          <a:bodyPr wrap="square" lIns="0" tIns="0" rIns="0" bIns="0" rtlCol="0" anchor="ctr"/>
          <a:lstStyle/>
          <a:p>
            <a:pPr indent="0" marL="0">
              <a:buNone/>
            </a:pPr>
            <a:r>
              <a:rPr lang="en-US" sz="1200" spc="150" kern="0" dirty="0">
                <a:solidFill>
                  <a:srgbClr val="8A939A"/>
                </a:solidFill>
                <a:latin typeface="Consolas" pitchFamily="34" charset="0"/>
                <a:ea typeface="Consolas" pitchFamily="34" charset="-122"/>
                <a:cs typeface="Consolas" pitchFamily="34" charset="-120"/>
              </a:rPr>
              <a:t>ENGINEER IT</a:t>
            </a:r>
            <a:endParaRPr lang="en-US" sz="1200" dirty="0"/>
          </a:p>
        </p:txBody>
      </p:sp>
      <p:sp>
        <p:nvSpPr>
          <p:cNvPr id="15" name="Text 13"/>
          <p:cNvSpPr txBox="1"/>
          <p:nvPr/>
        </p:nvSpPr>
        <p:spPr>
          <a:xfrm>
            <a:off x="594360" y="2606040"/>
            <a:ext cx="8778240" cy="1737360"/>
          </a:xfrm>
          <a:prstGeom prst="rect">
            <a:avLst/>
          </a:prstGeom>
          <a:noFill/>
          <a:ln/>
        </p:spPr>
        <p:txBody>
          <a:bodyPr wrap="square" lIns="0" tIns="0" rIns="0" bIns="0" rtlCol="0" anchor="b"/>
          <a:lstStyle/>
          <a:p>
            <a:pPr indent="0" marL="0">
              <a:buNone/>
            </a:pPr>
            <a:r>
              <a:rPr lang="en-US" sz="4000" b="1" dirty="0">
                <a:solidFill>
                  <a:srgbClr val="FFFFFF"/>
                </a:solidFill>
                <a:latin typeface="Consolas" pitchFamily="34" charset="0"/>
                <a:ea typeface="Consolas" pitchFamily="34" charset="-122"/>
                <a:cs typeface="Consolas" pitchFamily="34" charset="-120"/>
              </a:rPr>
              <a:t>Token Taxonomy &amp; Economics</a:t>
            </a:r>
            <a:endParaRPr lang="en-US" sz="4000" dirty="0"/>
          </a:p>
        </p:txBody>
      </p:sp>
      <p:sp>
        <p:nvSpPr>
          <p:cNvPr id="16" name="Text 14"/>
          <p:cNvSpPr txBox="1"/>
          <p:nvPr/>
        </p:nvSpPr>
        <p:spPr>
          <a:xfrm>
            <a:off x="640080" y="4434840"/>
            <a:ext cx="7863840" cy="822960"/>
          </a:xfrm>
          <a:prstGeom prst="rect">
            <a:avLst/>
          </a:prstGeom>
          <a:noFill/>
          <a:ln/>
        </p:spPr>
        <p:txBody>
          <a:bodyPr wrap="square" lIns="0" tIns="0" rIns="0" bIns="0" rtlCol="0" anchor="ctr"/>
          <a:lstStyle/>
          <a:p>
            <a:pPr indent="0" marL="0">
              <a:buNone/>
            </a:pPr>
            <a:r>
              <a:rPr lang="en-US" sz="1500" i="1" dirty="0">
                <a:solidFill>
                  <a:srgbClr val="8A939A"/>
                </a:solidFill>
                <a:latin typeface="Calibri" pitchFamily="34" charset="0"/>
                <a:ea typeface="Calibri" pitchFamily="34" charset="-122"/>
                <a:cs typeface="Calibri" pitchFamily="34" charset="-120"/>
              </a:rPr>
              <a:t>Where an agent's token usage actually comes from.</a:t>
            </a:r>
            <a:endParaRPr lang="en-US" sz="1500" dirty="0"/>
          </a:p>
        </p:txBody>
      </p:sp>
      <p:sp>
        <p:nvSpPr>
          <p:cNvPr id="17" name="Text 15">
            <a:hlinkClick r:id="rId1" tooltip=""/>
          </p:cNvPr>
          <p:cNvSpPr txBox="1"/>
          <p:nvPr/>
        </p:nvSpPr>
        <p:spPr>
          <a:xfrm>
            <a:off x="640080" y="5989320"/>
            <a:ext cx="3840480" cy="365760"/>
          </a:xfrm>
          <a:prstGeom prst="rect">
            <a:avLst/>
          </a:prstGeom>
          <a:noFill/>
          <a:ln/>
        </p:spPr>
        <p:txBody>
          <a:bodyPr wrap="square" lIns="0" tIns="0" rIns="0" bIns="0" rtlCol="0" anchor="ctr"/>
          <a:lstStyle/>
          <a:p>
            <a:pPr indent="0" marL="0">
              <a:buNone/>
            </a:pPr>
            <a:r>
              <a:rPr lang="en-US" sz="1100" u="sng" dirty="0">
                <a:solidFill>
                  <a:srgbClr val="8A939A"/>
                </a:solidFill>
                <a:latin typeface="Consolas" pitchFamily="34" charset="0"/>
                <a:ea typeface="Consolas" pitchFamily="34" charset="-122"/>
                <a:cs typeface="Consolas" pitchFamily="34" charset="-120"/>
                <a:hlinkClick r:id="rId1" invalidUrl="" action="" tgtFrame="" tooltip="" history="1" highlightClick="0" endSnd="0">
                  <a:extLst>
                    <a:ext uri="{A12FA001-AC4F-418D-AE19-62706E023703}">
                      <ahyp:hlinkClr xmlns:ahyp="http://schemas.microsoft.com/office/drawing/2018/hyperlinkcolor" val="tx"/>
                    </a:ext>
                  </a:extLst>
                </a:hlinkClick>
              </a:rPr>
              <a:t>←  Day 13</a:t>
            </a:r>
            <a:endParaRPr lang="en-US" sz="1100" dirty="0"/>
          </a:p>
        </p:txBody>
      </p:sp>
      <p:sp>
        <p:nvSpPr>
          <p:cNvPr id="18" name="Text 16">
            <a:hlinkClick r:id="rId2" tooltip="" action="ppaction://hlinksldjump"/>
          </p:cNvPr>
          <p:cNvSpPr txBox="1"/>
          <p:nvPr/>
        </p:nvSpPr>
        <p:spPr>
          <a:xfrm>
            <a:off x="5029200" y="5989320"/>
            <a:ext cx="2103120" cy="365760"/>
          </a:xfrm>
          <a:prstGeom prst="rect">
            <a:avLst/>
          </a:prstGeom>
          <a:noFill/>
          <a:ln/>
        </p:spPr>
        <p:txBody>
          <a:bodyPr wrap="square" lIns="0" tIns="0" rIns="0" bIns="0" rtlCol="0" anchor="ctr"/>
          <a:lstStyle/>
          <a:p>
            <a:pPr algn="ctr" indent="0" marL="0">
              <a:buNone/>
            </a:pPr>
            <a:r>
              <a:rPr lang="en-US" sz="1100" u="sng" dirty="0">
                <a:solidFill>
                  <a:srgbClr val="D9932B"/>
                </a:solidFill>
                <a:latin typeface="Consolas" pitchFamily="34" charset="0"/>
                <a:ea typeface="Consolas" pitchFamily="34" charset="-122"/>
                <a:cs typeface="Consolas" pitchFamily="34" charset="-120"/>
                <a:hlinkClick r:id="rId2" action="ppaction://hlinksldjump" tooltip="">
                  <a:extLst>
                    <a:ext uri="{A12FA001-AC4F-418D-AE19-62706E023703}">
                      <ahyp:hlinkClr xmlns:ahyp="http://schemas.microsoft.com/office/drawing/2018/hyperlinkcolor" val="tx"/>
                    </a:ext>
                  </a:extLst>
                </a:hlinkClick>
              </a:rPr>
              <a:t>↓  agenda</a:t>
            </a:r>
            <a:endParaRPr lang="en-US" sz="1100" dirty="0"/>
          </a:p>
        </p:txBody>
      </p:sp>
      <p:sp>
        <p:nvSpPr>
          <p:cNvPr id="19" name="Text 17">
            <a:hlinkClick r:id="rId3" tooltip=""/>
          </p:cNvPr>
          <p:cNvSpPr txBox="1"/>
          <p:nvPr/>
        </p:nvSpPr>
        <p:spPr>
          <a:xfrm>
            <a:off x="7680960" y="5989320"/>
            <a:ext cx="3840480" cy="365760"/>
          </a:xfrm>
          <a:prstGeom prst="rect">
            <a:avLst/>
          </a:prstGeom>
          <a:noFill/>
          <a:ln/>
        </p:spPr>
        <p:txBody>
          <a:bodyPr wrap="square" lIns="0" tIns="0" rIns="0" bIns="0" rtlCol="0" anchor="ctr"/>
          <a:lstStyle/>
          <a:p>
            <a:pPr algn="r" indent="0" marL="0">
              <a:buNone/>
            </a:pPr>
            <a:r>
              <a:rPr lang="en-US" sz="1100" u="sng" dirty="0">
                <a:solidFill>
                  <a:srgbClr val="8A939A"/>
                </a:solidFill>
                <a:latin typeface="Consolas" pitchFamily="34" charset="0"/>
                <a:ea typeface="Consolas" pitchFamily="34" charset="-122"/>
                <a:cs typeface="Consolas" pitchFamily="34" charset="-120"/>
                <a:hlinkClick r:id="rId3" invalidUrl="" action="" tgtFrame="" tooltip="" history="1" highlightClick="0" endSnd="0">
                  <a:extLst>
                    <a:ext uri="{A12FA001-AC4F-418D-AE19-62706E023703}">
                      <ahyp:hlinkClr xmlns:ahyp="http://schemas.microsoft.com/office/drawing/2018/hyperlinkcolor" val="tx"/>
                    </a:ext>
                  </a:extLst>
                </a:hlinkClick>
              </a:rPr>
              <a:t>Day 15  →</a:t>
            </a:r>
            <a:endParaRPr lang="en-US" sz="1100" dirty="0"/>
          </a:p>
        </p:txBody>
      </p:sp>
      <p:sp>
        <p:nvSpPr>
          <p:cNvPr id="20" name="Text 18"/>
          <p:cNvSpPr txBox="1"/>
          <p:nvPr/>
        </p:nvSpPr>
        <p:spPr>
          <a:xfrm>
            <a:off x="640080" y="6419088"/>
            <a:ext cx="7315200" cy="320040"/>
          </a:xfrm>
          <a:prstGeom prst="rect">
            <a:avLst/>
          </a:prstGeom>
          <a:noFill/>
          <a:ln/>
        </p:spPr>
        <p:txBody>
          <a:bodyPr wrap="square" lIns="0" tIns="0" rIns="0" bIns="0" rtlCol="0" anchor="ctr"/>
          <a:lstStyle/>
          <a:p>
            <a:pPr indent="0" marL="0">
              <a:buNone/>
            </a:pPr>
            <a:r>
              <a:rPr lang="en-US" sz="1050" dirty="0">
                <a:solidFill>
                  <a:srgbClr val="8A939A"/>
                </a:solidFill>
                <a:latin typeface="Consolas" pitchFamily="34" charset="0"/>
                <a:ea typeface="Consolas" pitchFamily="34" charset="-122"/>
                <a:cs typeface="Consolas" pitchFamily="34" charset="-120"/>
              </a:rPr>
              <a:t>uv run python Day-14-Token-Taxonomy-Economics\example.py</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640080"/>
          </a:xfrm>
          <a:prstGeom prst="rect">
            <a:avLst/>
          </a:prstGeom>
          <a:noFill/>
          <a:ln/>
        </p:spPr>
        <p:txBody>
          <a:bodyPr wrap="square" lIns="0" tIns="0" rIns="0" bIns="0" rtlCol="0" anchor="ctr"/>
          <a:lstStyle/>
          <a:p>
            <a:pPr indent="0" marL="0">
              <a:buNone/>
            </a:pPr>
            <a:r>
              <a:rPr lang="en-US" sz="2800" b="1" dirty="0">
                <a:solidFill>
                  <a:srgbClr val="1A1E22"/>
                </a:solidFill>
                <a:latin typeface="Consolas" pitchFamily="34" charset="0"/>
                <a:ea typeface="Consolas" pitchFamily="34" charset="-122"/>
                <a:cs typeface="Consolas" pitchFamily="34" charset="-120"/>
              </a:rPr>
              <a:t>What's Inside Today</a:t>
            </a:r>
            <a:endParaRPr lang="en-US" sz="2800" dirty="0"/>
          </a:p>
        </p:txBody>
      </p:sp>
      <p:sp>
        <p:nvSpPr>
          <p:cNvPr id="3" name="Text 1"/>
          <p:cNvSpPr txBox="1"/>
          <p:nvPr/>
        </p:nvSpPr>
        <p:spPr>
          <a:xfrm>
            <a:off x="640080" y="1051560"/>
            <a:ext cx="9144000" cy="365760"/>
          </a:xfrm>
          <a:prstGeom prst="rect">
            <a:avLst/>
          </a:prstGeom>
          <a:noFill/>
          <a:ln/>
        </p:spPr>
        <p:txBody>
          <a:bodyPr wrap="square" lIns="0" tIns="0" rIns="0" bIns="0" rtlCol="0" anchor="ctr"/>
          <a:lstStyle/>
          <a:p>
            <a:pPr indent="0" marL="0">
              <a:buNone/>
            </a:pPr>
            <a:r>
              <a:rPr lang="en-US" sz="1400" i="1" dirty="0">
                <a:solidFill>
                  <a:srgbClr val="5B646B"/>
                </a:solidFill>
                <a:latin typeface="Calibri" pitchFamily="34" charset="0"/>
                <a:ea typeface="Calibri" pitchFamily="34" charset="-122"/>
                <a:cs typeface="Calibri" pitchFamily="34" charset="-120"/>
              </a:rPr>
              <a:t>Token Taxonomy &amp; Economics</a:t>
            </a:r>
            <a:endParaRPr lang="en-US" sz="1400" dirty="0"/>
          </a:p>
        </p:txBody>
      </p:sp>
      <p:sp>
        <p:nvSpPr>
          <p:cNvPr id="4" name="Shape 2"/>
          <p:cNvSpPr/>
          <p:nvPr/>
        </p:nvSpPr>
        <p:spPr>
          <a:xfrm>
            <a:off x="640080" y="1783080"/>
            <a:ext cx="5120640" cy="685800"/>
          </a:xfrm>
          <a:prstGeom prst="roundRect">
            <a:avLst>
              <a:gd name="adj" fmla="val 8000"/>
            </a:avLst>
          </a:prstGeom>
          <a:solidFill>
            <a:srgbClr val="F5F7F3"/>
          </a:solidFill>
          <a:ln w="12700">
            <a:solidFill>
              <a:srgbClr val="D7DCD1"/>
            </a:solidFill>
            <a:prstDash val="solid"/>
          </a:ln>
        </p:spPr>
      </p:sp>
      <p:sp>
        <p:nvSpPr>
          <p:cNvPr id="5" name="Text 3"/>
          <p:cNvSpPr txBox="1"/>
          <p:nvPr/>
        </p:nvSpPr>
        <p:spPr>
          <a:xfrm>
            <a:off x="804672" y="1783080"/>
            <a:ext cx="548640" cy="685800"/>
          </a:xfrm>
          <a:prstGeom prst="rect">
            <a:avLst/>
          </a:prstGeom>
          <a:noFill/>
          <a:ln/>
        </p:spPr>
        <p:txBody>
          <a:bodyPr wrap="square" lIns="0" tIns="0" rIns="0" bIns="0" rtlCol="0" anchor="ctr"/>
          <a:lstStyle/>
          <a:p>
            <a:pPr indent="0" marL="0">
              <a:buNone/>
            </a:pPr>
            <a:r>
              <a:rPr lang="en-US" sz="1600" b="1" dirty="0">
                <a:solidFill>
                  <a:srgbClr val="D9932B"/>
                </a:solidFill>
                <a:latin typeface="Consolas" pitchFamily="34" charset="0"/>
                <a:ea typeface="Consolas" pitchFamily="34" charset="-122"/>
                <a:cs typeface="Consolas" pitchFamily="34" charset="-120"/>
              </a:rPr>
              <a:t>01</a:t>
            </a:r>
            <a:endParaRPr lang="en-US" sz="1600" dirty="0"/>
          </a:p>
        </p:txBody>
      </p:sp>
      <p:sp>
        <p:nvSpPr>
          <p:cNvPr id="6" name="Text 4">
            <a:hlinkClick r:id="rId1" tooltip="" action="ppaction://hlinksldjump"/>
          </p:cNvPr>
          <p:cNvSpPr txBox="1"/>
          <p:nvPr/>
        </p:nvSpPr>
        <p:spPr>
          <a:xfrm>
            <a:off x="1417320" y="1783080"/>
            <a:ext cx="4206240" cy="685800"/>
          </a:xfrm>
          <a:prstGeom prst="rect">
            <a:avLst/>
          </a:prstGeom>
          <a:noFill/>
          <a:ln/>
        </p:spPr>
        <p:txBody>
          <a:bodyPr wrap="square" lIns="0" tIns="0" rIns="0" bIns="0" rtlCol="0" anchor="ctr"/>
          <a:lstStyle/>
          <a:p>
            <a:pPr indent="0" marL="0">
              <a:buNone/>
            </a:pPr>
            <a:r>
              <a:rPr lang="en-US" sz="1350" u="sng" dirty="0">
                <a:solidFill>
                  <a:srgbClr val="1A1E22"/>
                </a:solidFill>
                <a:latin typeface="Calibri" pitchFamily="34" charset="0"/>
                <a:ea typeface="Calibri" pitchFamily="34" charset="-122"/>
                <a:cs typeface="Calibri" pitchFamily="34" charset="-120"/>
                <a:hlinkClick r:id="rId1" action="ppaction://hlinksldjump" tooltip="">
                  <a:extLst>
                    <a:ext uri="{A12FA001-AC4F-418D-AE19-62706E023703}">
                      <ahyp:hlinkClr xmlns:ahyp="http://schemas.microsoft.com/office/drawing/2018/hyperlinkcolor" val="tx"/>
                    </a:ext>
                  </a:extLst>
                </a:hlinkClick>
              </a:rPr>
              <a:t>Why This Matters</a:t>
            </a:r>
            <a:endParaRPr lang="en-US" sz="1350" dirty="0"/>
          </a:p>
        </p:txBody>
      </p:sp>
      <p:sp>
        <p:nvSpPr>
          <p:cNvPr id="7" name="Shape 5"/>
          <p:cNvSpPr/>
          <p:nvPr/>
        </p:nvSpPr>
        <p:spPr>
          <a:xfrm>
            <a:off x="6217920" y="1783080"/>
            <a:ext cx="5120640" cy="685800"/>
          </a:xfrm>
          <a:prstGeom prst="roundRect">
            <a:avLst>
              <a:gd name="adj" fmla="val 8000"/>
            </a:avLst>
          </a:prstGeom>
          <a:solidFill>
            <a:srgbClr val="F5F7F3"/>
          </a:solidFill>
          <a:ln w="12700">
            <a:solidFill>
              <a:srgbClr val="D7DCD1"/>
            </a:solidFill>
            <a:prstDash val="solid"/>
          </a:ln>
        </p:spPr>
      </p:sp>
      <p:sp>
        <p:nvSpPr>
          <p:cNvPr id="8" name="Text 6"/>
          <p:cNvSpPr txBox="1"/>
          <p:nvPr/>
        </p:nvSpPr>
        <p:spPr>
          <a:xfrm>
            <a:off x="6382512" y="1783080"/>
            <a:ext cx="548640" cy="685800"/>
          </a:xfrm>
          <a:prstGeom prst="rect">
            <a:avLst/>
          </a:prstGeom>
          <a:noFill/>
          <a:ln/>
        </p:spPr>
        <p:txBody>
          <a:bodyPr wrap="square" lIns="0" tIns="0" rIns="0" bIns="0" rtlCol="0" anchor="ctr"/>
          <a:lstStyle/>
          <a:p>
            <a:pPr indent="0" marL="0">
              <a:buNone/>
            </a:pPr>
            <a:r>
              <a:rPr lang="en-US" sz="1600" b="1" dirty="0">
                <a:solidFill>
                  <a:srgbClr val="D9932B"/>
                </a:solidFill>
                <a:latin typeface="Consolas" pitchFamily="34" charset="0"/>
                <a:ea typeface="Consolas" pitchFamily="34" charset="-122"/>
                <a:cs typeface="Consolas" pitchFamily="34" charset="-120"/>
              </a:rPr>
              <a:t>02</a:t>
            </a:r>
            <a:endParaRPr lang="en-US" sz="1600" dirty="0"/>
          </a:p>
        </p:txBody>
      </p:sp>
      <p:sp>
        <p:nvSpPr>
          <p:cNvPr id="9" name="Text 7">
            <a:hlinkClick r:id="rId2" tooltip="" action="ppaction://hlinksldjump"/>
          </p:cNvPr>
          <p:cNvSpPr txBox="1"/>
          <p:nvPr/>
        </p:nvSpPr>
        <p:spPr>
          <a:xfrm>
            <a:off x="6995160" y="1783080"/>
            <a:ext cx="4206240" cy="685800"/>
          </a:xfrm>
          <a:prstGeom prst="rect">
            <a:avLst/>
          </a:prstGeom>
          <a:noFill/>
          <a:ln/>
        </p:spPr>
        <p:txBody>
          <a:bodyPr wrap="square" lIns="0" tIns="0" rIns="0" bIns="0" rtlCol="0" anchor="ctr"/>
          <a:lstStyle/>
          <a:p>
            <a:pPr indent="0" marL="0">
              <a:buNone/>
            </a:pPr>
            <a:r>
              <a:rPr lang="en-US" sz="1350" u="sng" dirty="0">
                <a:solidFill>
                  <a:srgbClr val="1A1E22"/>
                </a:solidFill>
                <a:latin typeface="Calibri" pitchFamily="34" charset="0"/>
                <a:ea typeface="Calibri" pitchFamily="34" charset="-122"/>
                <a:cs typeface="Calibri" pitchFamily="34" charset="-120"/>
                <a:hlinkClick r:id="rId2" action="ppaction://hlinksldjump" tooltip="">
                  <a:extLst>
                    <a:ext uri="{A12FA001-AC4F-418D-AE19-62706E023703}">
                      <ahyp:hlinkClr xmlns:ahyp="http://schemas.microsoft.com/office/drawing/2018/hyperlinkcolor" val="tx"/>
                    </a:ext>
                  </a:extLst>
                </a:hlinkClick>
              </a:rPr>
              <a:t>Key Concepts</a:t>
            </a:r>
            <a:endParaRPr lang="en-US" sz="1350" dirty="0"/>
          </a:p>
        </p:txBody>
      </p:sp>
      <p:sp>
        <p:nvSpPr>
          <p:cNvPr id="10" name="Shape 8"/>
          <p:cNvSpPr/>
          <p:nvPr/>
        </p:nvSpPr>
        <p:spPr>
          <a:xfrm>
            <a:off x="640080" y="2651760"/>
            <a:ext cx="5120640" cy="685800"/>
          </a:xfrm>
          <a:prstGeom prst="roundRect">
            <a:avLst>
              <a:gd name="adj" fmla="val 8000"/>
            </a:avLst>
          </a:prstGeom>
          <a:solidFill>
            <a:srgbClr val="F5F7F3"/>
          </a:solidFill>
          <a:ln w="12700">
            <a:solidFill>
              <a:srgbClr val="D7DCD1"/>
            </a:solidFill>
            <a:prstDash val="solid"/>
          </a:ln>
        </p:spPr>
      </p:sp>
      <p:sp>
        <p:nvSpPr>
          <p:cNvPr id="11" name="Text 9"/>
          <p:cNvSpPr txBox="1"/>
          <p:nvPr/>
        </p:nvSpPr>
        <p:spPr>
          <a:xfrm>
            <a:off x="804672" y="2651760"/>
            <a:ext cx="548640" cy="685800"/>
          </a:xfrm>
          <a:prstGeom prst="rect">
            <a:avLst/>
          </a:prstGeom>
          <a:noFill/>
          <a:ln/>
        </p:spPr>
        <p:txBody>
          <a:bodyPr wrap="square" lIns="0" tIns="0" rIns="0" bIns="0" rtlCol="0" anchor="ctr"/>
          <a:lstStyle/>
          <a:p>
            <a:pPr indent="0" marL="0">
              <a:buNone/>
            </a:pPr>
            <a:r>
              <a:rPr lang="en-US" sz="1600" b="1" dirty="0">
                <a:solidFill>
                  <a:srgbClr val="D9932B"/>
                </a:solidFill>
                <a:latin typeface="Consolas" pitchFamily="34" charset="0"/>
                <a:ea typeface="Consolas" pitchFamily="34" charset="-122"/>
                <a:cs typeface="Consolas" pitchFamily="34" charset="-120"/>
              </a:rPr>
              <a:t>03</a:t>
            </a:r>
            <a:endParaRPr lang="en-US" sz="1600" dirty="0"/>
          </a:p>
        </p:txBody>
      </p:sp>
      <p:sp>
        <p:nvSpPr>
          <p:cNvPr id="12" name="Text 10">
            <a:hlinkClick r:id="rId3" tooltip="" action="ppaction://hlinksldjump"/>
          </p:cNvPr>
          <p:cNvSpPr txBox="1"/>
          <p:nvPr/>
        </p:nvSpPr>
        <p:spPr>
          <a:xfrm>
            <a:off x="1417320" y="2651760"/>
            <a:ext cx="4206240" cy="685800"/>
          </a:xfrm>
          <a:prstGeom prst="rect">
            <a:avLst/>
          </a:prstGeom>
          <a:noFill/>
          <a:ln/>
        </p:spPr>
        <p:txBody>
          <a:bodyPr wrap="square" lIns="0" tIns="0" rIns="0" bIns="0" rtlCol="0" anchor="ctr"/>
          <a:lstStyle/>
          <a:p>
            <a:pPr indent="0" marL="0">
              <a:buNone/>
            </a:pPr>
            <a:r>
              <a:rPr lang="en-US" sz="1350" u="sng" dirty="0">
                <a:solidFill>
                  <a:srgbClr val="1A1E22"/>
                </a:solidFill>
                <a:latin typeface="Calibri" pitchFamily="34" charset="0"/>
                <a:ea typeface="Calibri" pitchFamily="34" charset="-122"/>
                <a:cs typeface="Calibri" pitchFamily="34" charset="-120"/>
                <a:hlinkClick r:id="rId3" action="ppaction://hlinksldjump" tooltip="">
                  <a:extLst>
                    <a:ext uri="{A12FA001-AC4F-418D-AE19-62706E023703}">
                      <ahyp:hlinkClr xmlns:ahyp="http://schemas.microsoft.com/office/drawing/2018/hyperlinkcolor" val="tx"/>
                    </a:ext>
                  </a:extLst>
                </a:hlinkClick>
              </a:rPr>
              <a:t>How It's Built</a:t>
            </a:r>
            <a:endParaRPr lang="en-US" sz="1350" dirty="0"/>
          </a:p>
        </p:txBody>
      </p:sp>
      <p:sp>
        <p:nvSpPr>
          <p:cNvPr id="13" name="Shape 11"/>
          <p:cNvSpPr/>
          <p:nvPr/>
        </p:nvSpPr>
        <p:spPr>
          <a:xfrm>
            <a:off x="6217920" y="2651760"/>
            <a:ext cx="5120640" cy="685800"/>
          </a:xfrm>
          <a:prstGeom prst="roundRect">
            <a:avLst>
              <a:gd name="adj" fmla="val 8000"/>
            </a:avLst>
          </a:prstGeom>
          <a:solidFill>
            <a:srgbClr val="F5F7F3"/>
          </a:solidFill>
          <a:ln w="12700">
            <a:solidFill>
              <a:srgbClr val="D7DCD1"/>
            </a:solidFill>
            <a:prstDash val="solid"/>
          </a:ln>
        </p:spPr>
      </p:sp>
      <p:sp>
        <p:nvSpPr>
          <p:cNvPr id="14" name="Text 12"/>
          <p:cNvSpPr txBox="1"/>
          <p:nvPr/>
        </p:nvSpPr>
        <p:spPr>
          <a:xfrm>
            <a:off x="6382512" y="2651760"/>
            <a:ext cx="548640" cy="685800"/>
          </a:xfrm>
          <a:prstGeom prst="rect">
            <a:avLst/>
          </a:prstGeom>
          <a:noFill/>
          <a:ln/>
        </p:spPr>
        <p:txBody>
          <a:bodyPr wrap="square" lIns="0" tIns="0" rIns="0" bIns="0" rtlCol="0" anchor="ctr"/>
          <a:lstStyle/>
          <a:p>
            <a:pPr indent="0" marL="0">
              <a:buNone/>
            </a:pPr>
            <a:r>
              <a:rPr lang="en-US" sz="1600" b="1" dirty="0">
                <a:solidFill>
                  <a:srgbClr val="D9932B"/>
                </a:solidFill>
                <a:latin typeface="Consolas" pitchFamily="34" charset="0"/>
                <a:ea typeface="Consolas" pitchFamily="34" charset="-122"/>
                <a:cs typeface="Consolas" pitchFamily="34" charset="-120"/>
              </a:rPr>
              <a:t>04</a:t>
            </a:r>
            <a:endParaRPr lang="en-US" sz="1600" dirty="0"/>
          </a:p>
        </p:txBody>
      </p:sp>
      <p:sp>
        <p:nvSpPr>
          <p:cNvPr id="15" name="Text 13">
            <a:hlinkClick r:id="rId4" tooltip="" action="ppaction://hlinksldjump"/>
          </p:cNvPr>
          <p:cNvSpPr txBox="1"/>
          <p:nvPr/>
        </p:nvSpPr>
        <p:spPr>
          <a:xfrm>
            <a:off x="6995160" y="2651760"/>
            <a:ext cx="4206240" cy="685800"/>
          </a:xfrm>
          <a:prstGeom prst="rect">
            <a:avLst/>
          </a:prstGeom>
          <a:noFill/>
          <a:ln/>
        </p:spPr>
        <p:txBody>
          <a:bodyPr wrap="square" lIns="0" tIns="0" rIns="0" bIns="0" rtlCol="0" anchor="ctr"/>
          <a:lstStyle/>
          <a:p>
            <a:pPr indent="0" marL="0">
              <a:buNone/>
            </a:pPr>
            <a:r>
              <a:rPr lang="en-US" sz="1350" u="sng" dirty="0">
                <a:solidFill>
                  <a:srgbClr val="1A1E22"/>
                </a:solidFill>
                <a:latin typeface="Calibri" pitchFamily="34" charset="0"/>
                <a:ea typeface="Calibri" pitchFamily="34" charset="-122"/>
                <a:cs typeface="Calibri" pitchFamily="34" charset="-120"/>
                <a:hlinkClick r:id="rId4" action="ppaction://hlinksldjump" tooltip="">
                  <a:extLst>
                    <a:ext uri="{A12FA001-AC4F-418D-AE19-62706E023703}">
                      <ahyp:hlinkClr xmlns:ahyp="http://schemas.microsoft.com/office/drawing/2018/hyperlinkcolor" val="tx"/>
                    </a:ext>
                  </a:extLst>
                </a:hlinkClick>
              </a:rPr>
              <a:t>The Code</a:t>
            </a:r>
            <a:endParaRPr lang="en-US" sz="1350" dirty="0"/>
          </a:p>
        </p:txBody>
      </p:sp>
      <p:sp>
        <p:nvSpPr>
          <p:cNvPr id="16" name="Shape 14"/>
          <p:cNvSpPr/>
          <p:nvPr/>
        </p:nvSpPr>
        <p:spPr>
          <a:xfrm>
            <a:off x="640080" y="3520440"/>
            <a:ext cx="5120640" cy="685800"/>
          </a:xfrm>
          <a:prstGeom prst="roundRect">
            <a:avLst>
              <a:gd name="adj" fmla="val 8000"/>
            </a:avLst>
          </a:prstGeom>
          <a:solidFill>
            <a:srgbClr val="F5F7F3"/>
          </a:solidFill>
          <a:ln w="12700">
            <a:solidFill>
              <a:srgbClr val="D7DCD1"/>
            </a:solidFill>
            <a:prstDash val="solid"/>
          </a:ln>
        </p:spPr>
      </p:sp>
      <p:sp>
        <p:nvSpPr>
          <p:cNvPr id="17" name="Text 15"/>
          <p:cNvSpPr txBox="1"/>
          <p:nvPr/>
        </p:nvSpPr>
        <p:spPr>
          <a:xfrm>
            <a:off x="804672" y="3520440"/>
            <a:ext cx="548640" cy="685800"/>
          </a:xfrm>
          <a:prstGeom prst="rect">
            <a:avLst/>
          </a:prstGeom>
          <a:noFill/>
          <a:ln/>
        </p:spPr>
        <p:txBody>
          <a:bodyPr wrap="square" lIns="0" tIns="0" rIns="0" bIns="0" rtlCol="0" anchor="ctr"/>
          <a:lstStyle/>
          <a:p>
            <a:pPr indent="0" marL="0">
              <a:buNone/>
            </a:pPr>
            <a:r>
              <a:rPr lang="en-US" sz="1600" b="1" dirty="0">
                <a:solidFill>
                  <a:srgbClr val="D9932B"/>
                </a:solidFill>
                <a:latin typeface="Consolas" pitchFamily="34" charset="0"/>
                <a:ea typeface="Consolas" pitchFamily="34" charset="-122"/>
                <a:cs typeface="Consolas" pitchFamily="34" charset="-120"/>
              </a:rPr>
              <a:t>05</a:t>
            </a:r>
            <a:endParaRPr lang="en-US" sz="1600" dirty="0"/>
          </a:p>
        </p:txBody>
      </p:sp>
      <p:sp>
        <p:nvSpPr>
          <p:cNvPr id="18" name="Text 16">
            <a:hlinkClick r:id="rId5" tooltip="" action="ppaction://hlinksldjump"/>
          </p:cNvPr>
          <p:cNvSpPr txBox="1"/>
          <p:nvPr/>
        </p:nvSpPr>
        <p:spPr>
          <a:xfrm>
            <a:off x="1417320" y="3520440"/>
            <a:ext cx="4206240" cy="685800"/>
          </a:xfrm>
          <a:prstGeom prst="rect">
            <a:avLst/>
          </a:prstGeom>
          <a:noFill/>
          <a:ln/>
        </p:spPr>
        <p:txBody>
          <a:bodyPr wrap="square" lIns="0" tIns="0" rIns="0" bIns="0" rtlCol="0" anchor="ctr"/>
          <a:lstStyle/>
          <a:p>
            <a:pPr indent="0" marL="0">
              <a:buNone/>
            </a:pPr>
            <a:r>
              <a:rPr lang="en-US" sz="1350" u="sng" dirty="0">
                <a:solidFill>
                  <a:srgbClr val="1A1E22"/>
                </a:solidFill>
                <a:latin typeface="Calibri" pitchFamily="34" charset="0"/>
                <a:ea typeface="Calibri" pitchFamily="34" charset="-122"/>
                <a:cs typeface="Calibri" pitchFamily="34" charset="-120"/>
                <a:hlinkClick r:id="rId5" action="ppaction://hlinksldjump" tooltip="">
                  <a:extLst>
                    <a:ext uri="{A12FA001-AC4F-418D-AE19-62706E023703}">
                      <ahyp:hlinkClr xmlns:ahyp="http://schemas.microsoft.com/office/drawing/2018/hyperlinkcolor" val="tx"/>
                    </a:ext>
                  </a:extLst>
                </a:hlinkClick>
              </a:rPr>
              <a:t>Hands-On Lab</a:t>
            </a:r>
            <a:endParaRPr lang="en-US" sz="1350" dirty="0"/>
          </a:p>
        </p:txBody>
      </p:sp>
      <p:sp>
        <p:nvSpPr>
          <p:cNvPr id="19" name="Shape 17"/>
          <p:cNvSpPr/>
          <p:nvPr/>
        </p:nvSpPr>
        <p:spPr>
          <a:xfrm>
            <a:off x="6217920" y="3520440"/>
            <a:ext cx="5120640" cy="685800"/>
          </a:xfrm>
          <a:prstGeom prst="roundRect">
            <a:avLst>
              <a:gd name="adj" fmla="val 8000"/>
            </a:avLst>
          </a:prstGeom>
          <a:solidFill>
            <a:srgbClr val="F5F7F3"/>
          </a:solidFill>
          <a:ln w="12700">
            <a:solidFill>
              <a:srgbClr val="D7DCD1"/>
            </a:solidFill>
            <a:prstDash val="solid"/>
          </a:ln>
        </p:spPr>
      </p:sp>
      <p:sp>
        <p:nvSpPr>
          <p:cNvPr id="20" name="Text 18"/>
          <p:cNvSpPr txBox="1"/>
          <p:nvPr/>
        </p:nvSpPr>
        <p:spPr>
          <a:xfrm>
            <a:off x="6382512" y="3520440"/>
            <a:ext cx="548640" cy="685800"/>
          </a:xfrm>
          <a:prstGeom prst="rect">
            <a:avLst/>
          </a:prstGeom>
          <a:noFill/>
          <a:ln/>
        </p:spPr>
        <p:txBody>
          <a:bodyPr wrap="square" lIns="0" tIns="0" rIns="0" bIns="0" rtlCol="0" anchor="ctr"/>
          <a:lstStyle/>
          <a:p>
            <a:pPr indent="0" marL="0">
              <a:buNone/>
            </a:pPr>
            <a:r>
              <a:rPr lang="en-US" sz="1600" b="1" dirty="0">
                <a:solidFill>
                  <a:srgbClr val="D9932B"/>
                </a:solidFill>
                <a:latin typeface="Consolas" pitchFamily="34" charset="0"/>
                <a:ea typeface="Consolas" pitchFamily="34" charset="-122"/>
                <a:cs typeface="Consolas" pitchFamily="34" charset="-120"/>
              </a:rPr>
              <a:t>06</a:t>
            </a:r>
            <a:endParaRPr lang="en-US" sz="1600" dirty="0"/>
          </a:p>
        </p:txBody>
      </p:sp>
      <p:sp>
        <p:nvSpPr>
          <p:cNvPr id="21" name="Text 19">
            <a:hlinkClick r:id="rId6" tooltip="" action="ppaction://hlinksldjump"/>
          </p:cNvPr>
          <p:cNvSpPr txBox="1"/>
          <p:nvPr/>
        </p:nvSpPr>
        <p:spPr>
          <a:xfrm>
            <a:off x="6995160" y="3520440"/>
            <a:ext cx="4206240" cy="685800"/>
          </a:xfrm>
          <a:prstGeom prst="rect">
            <a:avLst/>
          </a:prstGeom>
          <a:noFill/>
          <a:ln/>
        </p:spPr>
        <p:txBody>
          <a:bodyPr wrap="square" lIns="0" tIns="0" rIns="0" bIns="0" rtlCol="0" anchor="ctr"/>
          <a:lstStyle/>
          <a:p>
            <a:pPr indent="0" marL="0">
              <a:buNone/>
            </a:pPr>
            <a:r>
              <a:rPr lang="en-US" sz="1350" u="sng" dirty="0">
                <a:solidFill>
                  <a:srgbClr val="1A1E22"/>
                </a:solidFill>
                <a:latin typeface="Calibri" pitchFamily="34" charset="0"/>
                <a:ea typeface="Calibri" pitchFamily="34" charset="-122"/>
                <a:cs typeface="Calibri" pitchFamily="34" charset="-120"/>
                <a:hlinkClick r:id="rId6" action="ppaction://hlinksldjump" tooltip="">
                  <a:extLst>
                    <a:ext uri="{A12FA001-AC4F-418D-AE19-62706E023703}">
                      <ahyp:hlinkClr xmlns:ahyp="http://schemas.microsoft.com/office/drawing/2018/hyperlinkcolor" val="tx"/>
                    </a:ext>
                  </a:extLst>
                </a:hlinkClick>
              </a:rPr>
              <a:t>Assignment</a:t>
            </a:r>
            <a:endParaRPr lang="en-US" sz="1350" dirty="0"/>
          </a:p>
        </p:txBody>
      </p:sp>
      <p:sp>
        <p:nvSpPr>
          <p:cNvPr id="22" name="Shape 20"/>
          <p:cNvSpPr/>
          <p:nvPr/>
        </p:nvSpPr>
        <p:spPr>
          <a:xfrm>
            <a:off x="640080" y="4389120"/>
            <a:ext cx="5120640" cy="685800"/>
          </a:xfrm>
          <a:prstGeom prst="roundRect">
            <a:avLst>
              <a:gd name="adj" fmla="val 8000"/>
            </a:avLst>
          </a:prstGeom>
          <a:solidFill>
            <a:srgbClr val="F5F7F3"/>
          </a:solidFill>
          <a:ln w="12700">
            <a:solidFill>
              <a:srgbClr val="D7DCD1"/>
            </a:solidFill>
            <a:prstDash val="solid"/>
          </a:ln>
        </p:spPr>
      </p:sp>
      <p:sp>
        <p:nvSpPr>
          <p:cNvPr id="23" name="Text 21"/>
          <p:cNvSpPr txBox="1"/>
          <p:nvPr/>
        </p:nvSpPr>
        <p:spPr>
          <a:xfrm>
            <a:off x="804672" y="4389120"/>
            <a:ext cx="548640" cy="685800"/>
          </a:xfrm>
          <a:prstGeom prst="rect">
            <a:avLst/>
          </a:prstGeom>
          <a:noFill/>
          <a:ln/>
        </p:spPr>
        <p:txBody>
          <a:bodyPr wrap="square" lIns="0" tIns="0" rIns="0" bIns="0" rtlCol="0" anchor="ctr"/>
          <a:lstStyle/>
          <a:p>
            <a:pPr indent="0" marL="0">
              <a:buNone/>
            </a:pPr>
            <a:r>
              <a:rPr lang="en-US" sz="1600" b="1" dirty="0">
                <a:solidFill>
                  <a:srgbClr val="D9932B"/>
                </a:solidFill>
                <a:latin typeface="Consolas" pitchFamily="34" charset="0"/>
                <a:ea typeface="Consolas" pitchFamily="34" charset="-122"/>
                <a:cs typeface="Consolas" pitchFamily="34" charset="-120"/>
              </a:rPr>
              <a:t>07</a:t>
            </a:r>
            <a:endParaRPr lang="en-US" sz="1600" dirty="0"/>
          </a:p>
        </p:txBody>
      </p:sp>
      <p:sp>
        <p:nvSpPr>
          <p:cNvPr id="24" name="Text 22">
            <a:hlinkClick r:id="rId7" tooltip="" action="ppaction://hlinksldjump"/>
          </p:cNvPr>
          <p:cNvSpPr txBox="1"/>
          <p:nvPr/>
        </p:nvSpPr>
        <p:spPr>
          <a:xfrm>
            <a:off x="1417320" y="4389120"/>
            <a:ext cx="4206240" cy="685800"/>
          </a:xfrm>
          <a:prstGeom prst="rect">
            <a:avLst/>
          </a:prstGeom>
          <a:noFill/>
          <a:ln/>
        </p:spPr>
        <p:txBody>
          <a:bodyPr wrap="square" lIns="0" tIns="0" rIns="0" bIns="0" rtlCol="0" anchor="ctr"/>
          <a:lstStyle/>
          <a:p>
            <a:pPr indent="0" marL="0">
              <a:buNone/>
            </a:pPr>
            <a:r>
              <a:rPr lang="en-US" sz="1350" u="sng" dirty="0">
                <a:solidFill>
                  <a:srgbClr val="1A1E22"/>
                </a:solidFill>
                <a:latin typeface="Calibri" pitchFamily="34" charset="0"/>
                <a:ea typeface="Calibri" pitchFamily="34" charset="-122"/>
                <a:cs typeface="Calibri" pitchFamily="34" charset="-120"/>
                <a:hlinkClick r:id="rId7" action="ppaction://hlinksldjump" tooltip="">
                  <a:extLst>
                    <a:ext uri="{A12FA001-AC4F-418D-AE19-62706E023703}">
                      <ahyp:hlinkClr xmlns:ahyp="http://schemas.microsoft.com/office/drawing/2018/hyperlinkcolor" val="tx"/>
                    </a:ext>
                  </a:extLst>
                </a:hlinkClick>
              </a:rPr>
              <a:t>Wrap-Up</a:t>
            </a:r>
            <a:endParaRPr lang="en-US" sz="1350" dirty="0"/>
          </a:p>
        </p:txBody>
      </p:sp>
      <p:sp>
        <p:nvSpPr>
          <p:cNvPr id="25" name="Text 23"/>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14  ·  TOKEN TAXONOMY &amp; ECONOMICS</a:t>
            </a:r>
            <a:endParaRPr lang="en-US" sz="900" dirty="0"/>
          </a:p>
        </p:txBody>
      </p:sp>
      <p:sp>
        <p:nvSpPr>
          <p:cNvPr id="26" name="Text 24"/>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3"/>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D9932B"/>
          </a:solidFill>
          <a:ln/>
        </p:spPr>
      </p:sp>
      <p:sp>
        <p:nvSpPr>
          <p:cNvPr id="3" name="Text 1"/>
          <p:cNvSpPr txBox="1"/>
          <p:nvPr/>
        </p:nvSpPr>
        <p:spPr>
          <a:xfrm>
            <a:off x="822960" y="548640"/>
            <a:ext cx="9144000" cy="548640"/>
          </a:xfrm>
          <a:prstGeom prst="rect">
            <a:avLst/>
          </a:prstGeom>
          <a:noFill/>
          <a:ln/>
        </p:spPr>
        <p:txBody>
          <a:bodyPr wrap="square" lIns="0" tIns="0" rIns="0" bIns="0" rtlCol="0" anchor="ctr"/>
          <a:lstStyle/>
          <a:p>
            <a:pPr indent="0" marL="0">
              <a:buNone/>
            </a:pPr>
            <a:r>
              <a:rPr lang="en-US" sz="2400" b="1" dirty="0">
                <a:solidFill>
                  <a:srgbClr val="1A1E22"/>
                </a:solidFill>
                <a:latin typeface="Consolas" pitchFamily="34" charset="0"/>
                <a:ea typeface="Consolas" pitchFamily="34" charset="-122"/>
                <a:cs typeface="Consolas" pitchFamily="34" charset="-120"/>
              </a:rPr>
              <a:t>Why This Matters</a:t>
            </a:r>
            <a:endParaRPr lang="en-US" sz="2400" dirty="0"/>
          </a:p>
        </p:txBody>
      </p:sp>
      <p:sp>
        <p:nvSpPr>
          <p:cNvPr id="4" name="Shape 2"/>
          <p:cNvSpPr/>
          <p:nvPr/>
        </p:nvSpPr>
        <p:spPr>
          <a:xfrm>
            <a:off x="822960" y="1371600"/>
            <a:ext cx="10424160" cy="4389120"/>
          </a:xfrm>
          <a:prstGeom prst="roundRect">
            <a:avLst>
              <a:gd name="adj" fmla="val 1667"/>
            </a:avLst>
          </a:prstGeom>
          <a:solidFill>
            <a:srgbClr val="FFFFFF"/>
          </a:solidFill>
          <a:ln w="12700">
            <a:solidFill>
              <a:srgbClr val="D7DCD1"/>
            </a:solidFill>
            <a:prstDash val="solid"/>
          </a:ln>
          <a:effectLst>
            <a:outerShdw sx="100000" sy="100000" kx="0" ky="0" algn="bl" rotWithShape="0" blurRad="76200" dist="25400" dir="5400000">
              <a:srgbClr val="000000">
                <a:alpha val="18000"/>
              </a:srgbClr>
            </a:outerShdw>
          </a:effectLst>
        </p:spPr>
      </p:sp>
      <p:sp>
        <p:nvSpPr>
          <p:cNvPr id="5" name="Text 3"/>
          <p:cNvSpPr txBox="1"/>
          <p:nvPr/>
        </p:nvSpPr>
        <p:spPr>
          <a:xfrm>
            <a:off x="1188720" y="1691640"/>
            <a:ext cx="9692640" cy="3749040"/>
          </a:xfrm>
          <a:prstGeom prst="rect">
            <a:avLst/>
          </a:prstGeom>
          <a:noFill/>
          <a:ln/>
        </p:spPr>
        <p:txBody>
          <a:bodyPr wrap="square" lIns="0" tIns="0" rIns="0" bIns="0" rtlCol="0" anchor="t"/>
          <a:lstStyle/>
          <a:p>
            <a:pPr indent="0" marL="0">
              <a:lnSpc>
                <a:spcPct val="125000"/>
              </a:lnSpc>
              <a:buNone/>
            </a:pPr>
            <a:r>
              <a:rPr lang="en-US" sz="1650" dirty="0">
                <a:solidFill>
                  <a:srgbClr val="1A1E22"/>
                </a:solidFill>
                <a:latin typeface="Calibri" pitchFamily="34" charset="0"/>
                <a:ea typeface="Calibri" pitchFamily="34" charset="-122"/>
                <a:cs typeface="Calibri" pitchFamily="34" charset="-120"/>
              </a:rPr>
              <a:t>People usually only picture the user's question when thinking about token usage — but a real agent run also carries system instructions, retained history, retrieved passages, tool schemas and results, and the generated output. If you only measure the visible message, you'll miss most of what drives cost and latency, especially once a loop repeats.</a:t>
            </a:r>
            <a:endParaRPr lang="en-US" sz="1650" dirty="0"/>
          </a:p>
        </p:txBody>
      </p:sp>
      <p:sp>
        <p:nvSpPr>
          <p:cNvPr id="6" name="Text 4"/>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14  ·  TOKEN TAXONOMY &amp; ECONOMICS</a:t>
            </a:r>
            <a:endParaRPr lang="en-US" sz="900" dirty="0"/>
          </a:p>
        </p:txBody>
      </p:sp>
      <p:sp>
        <p:nvSpPr>
          <p:cNvPr id="7" name="Text 5"/>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548640"/>
          </a:xfrm>
          <a:prstGeom prst="rect">
            <a:avLst/>
          </a:prstGeom>
          <a:noFill/>
          <a:ln/>
        </p:spPr>
        <p:txBody>
          <a:bodyPr wrap="square" lIns="0" tIns="0" rIns="0" bIns="0" rtlCol="0" anchor="ctr"/>
          <a:lstStyle/>
          <a:p>
            <a:pPr indent="0" marL="0">
              <a:buNone/>
            </a:pPr>
            <a:r>
              <a:rPr lang="en-US" sz="2600" b="1" dirty="0">
                <a:solidFill>
                  <a:srgbClr val="1A1E22"/>
                </a:solidFill>
                <a:latin typeface="Consolas" pitchFamily="34" charset="0"/>
                <a:ea typeface="Consolas" pitchFamily="34" charset="-122"/>
                <a:cs typeface="Consolas" pitchFamily="34" charset="-120"/>
              </a:rPr>
              <a:t>Key Concepts  ·  Part 1 of 2</a:t>
            </a:r>
            <a:endParaRPr lang="en-US" sz="2600" dirty="0"/>
          </a:p>
        </p:txBody>
      </p:sp>
      <p:sp>
        <p:nvSpPr>
          <p:cNvPr id="3" name="Shape 1"/>
          <p:cNvSpPr/>
          <p:nvPr/>
        </p:nvSpPr>
        <p:spPr>
          <a:xfrm>
            <a:off x="640080" y="1435608"/>
            <a:ext cx="457200" cy="457200"/>
          </a:xfrm>
          <a:prstGeom prst="ellipse">
            <a:avLst/>
          </a:prstGeom>
          <a:solidFill>
            <a:srgbClr val="D9932B"/>
          </a:solidFill>
          <a:ln/>
        </p:spPr>
      </p:sp>
      <p:sp>
        <p:nvSpPr>
          <p:cNvPr id="4" name="Text 2"/>
          <p:cNvSpPr txBox="1"/>
          <p:nvPr/>
        </p:nvSpPr>
        <p:spPr>
          <a:xfrm>
            <a:off x="640080" y="1435608"/>
            <a:ext cx="457200" cy="457200"/>
          </a:xfrm>
          <a:prstGeom prst="rect">
            <a:avLst/>
          </a:prstGeom>
          <a:noFill/>
          <a:ln/>
        </p:spPr>
        <p:txBody>
          <a:bodyPr wrap="square" lIns="0" tIns="0" rIns="0" bIns="0" rtlCol="0" anchor="ctr"/>
          <a:lstStyle/>
          <a:p>
            <a:pPr algn="ctr" indent="0" marL="0">
              <a:buNone/>
            </a:pPr>
            <a:r>
              <a:rPr lang="en-US" sz="1500" b="1" dirty="0">
                <a:solidFill>
                  <a:srgbClr val="241A0A"/>
                </a:solidFill>
                <a:latin typeface="Consolas" pitchFamily="34" charset="0"/>
                <a:ea typeface="Consolas" pitchFamily="34" charset="-122"/>
                <a:cs typeface="Consolas" pitchFamily="34" charset="-120"/>
              </a:rPr>
              <a:t>1</a:t>
            </a:r>
            <a:endParaRPr lang="en-US" sz="1500" dirty="0"/>
          </a:p>
        </p:txBody>
      </p:sp>
      <p:sp>
        <p:nvSpPr>
          <p:cNvPr id="5" name="Text 3"/>
          <p:cNvSpPr txBox="1"/>
          <p:nvPr/>
        </p:nvSpPr>
        <p:spPr>
          <a:xfrm>
            <a:off x="1325880" y="1325880"/>
            <a:ext cx="9875520" cy="365760"/>
          </a:xfrm>
          <a:prstGeom prst="rect">
            <a:avLst/>
          </a:prstGeom>
          <a:noFill/>
          <a:ln/>
        </p:spPr>
        <p:txBody>
          <a:bodyPr wrap="square" lIns="0" tIns="0" rIns="0" bIns="0" rtlCol="0" anchor="ctr"/>
          <a:lstStyle/>
          <a:p>
            <a:pPr indent="0" marL="0">
              <a:buNone/>
            </a:pPr>
            <a:r>
              <a:rPr lang="en-US" sz="1550" b="1" dirty="0">
                <a:solidFill>
                  <a:srgbClr val="1A1E22"/>
                </a:solidFill>
                <a:latin typeface="Consolas" pitchFamily="34" charset="0"/>
                <a:ea typeface="Consolas" pitchFamily="34" charset="-122"/>
                <a:cs typeface="Consolas" pitchFamily="34" charset="-120"/>
              </a:rPr>
              <a:t>Tokens versus characters and words</a:t>
            </a:r>
            <a:endParaRPr lang="en-US" sz="1550" dirty="0"/>
          </a:p>
        </p:txBody>
      </p:sp>
      <p:sp>
        <p:nvSpPr>
          <p:cNvPr id="6" name="Text 4"/>
          <p:cNvSpPr txBox="1"/>
          <p:nvPr/>
        </p:nvSpPr>
        <p:spPr>
          <a:xfrm>
            <a:off x="1325880" y="1709928"/>
            <a:ext cx="9966960" cy="1988820"/>
          </a:xfrm>
          <a:prstGeom prst="rect">
            <a:avLst/>
          </a:prstGeom>
          <a:noFill/>
          <a:ln/>
        </p:spPr>
        <p:txBody>
          <a:bodyPr wrap="square" lIns="0" tIns="0" rIns="0" bIns="0" rtlCol="0" anchor="t"/>
          <a:lstStyle/>
          <a:p>
            <a:pPr indent="0" marL="0">
              <a:lnSpc>
                <a:spcPct val="115000"/>
              </a:lnSpc>
              <a:buNone/>
            </a:pPr>
            <a:r>
              <a:rPr lang="en-US" sz="1300" dirty="0">
                <a:solidFill>
                  <a:srgbClr val="1A1E22"/>
                </a:solidFill>
                <a:latin typeface="Calibri" pitchFamily="34" charset="0"/>
                <a:ea typeface="Calibri" pitchFamily="34" charset="-122"/>
                <a:cs typeface="Calibri" pitchFamily="34" charset="-120"/>
              </a:rPr>
              <a:t>A tokenizer splits text into vocabulary pieces that don't line up neatly with words. Dividing character count by four is a rough estimate — not accurate enough for billing or strict limits.</a:t>
            </a:r>
            <a:endParaRPr lang="en-US" sz="1300" dirty="0"/>
          </a:p>
        </p:txBody>
      </p:sp>
      <p:sp>
        <p:nvSpPr>
          <p:cNvPr id="7" name="Shape 5"/>
          <p:cNvSpPr/>
          <p:nvPr/>
        </p:nvSpPr>
        <p:spPr>
          <a:xfrm>
            <a:off x="640080" y="3762756"/>
            <a:ext cx="10515600" cy="914"/>
          </a:xfrm>
          <a:prstGeom prst="line">
            <a:avLst/>
          </a:prstGeom>
          <a:noFill/>
          <a:ln w="12700">
            <a:solidFill>
              <a:srgbClr val="D7DCD1"/>
            </a:solidFill>
            <a:prstDash val="solid"/>
          </a:ln>
        </p:spPr>
      </p:sp>
      <p:sp>
        <p:nvSpPr>
          <p:cNvPr id="8" name="Shape 6"/>
          <p:cNvSpPr/>
          <p:nvPr/>
        </p:nvSpPr>
        <p:spPr>
          <a:xfrm>
            <a:off x="640080" y="3927348"/>
            <a:ext cx="457200" cy="457200"/>
          </a:xfrm>
          <a:prstGeom prst="ellipse">
            <a:avLst/>
          </a:prstGeom>
          <a:solidFill>
            <a:srgbClr val="3E5064"/>
          </a:solidFill>
          <a:ln/>
        </p:spPr>
      </p:sp>
      <p:sp>
        <p:nvSpPr>
          <p:cNvPr id="9" name="Text 7"/>
          <p:cNvSpPr txBox="1"/>
          <p:nvPr/>
        </p:nvSpPr>
        <p:spPr>
          <a:xfrm>
            <a:off x="640080" y="3927348"/>
            <a:ext cx="457200" cy="457200"/>
          </a:xfrm>
          <a:prstGeom prst="rect">
            <a:avLst/>
          </a:prstGeom>
          <a:noFill/>
          <a:ln/>
        </p:spPr>
        <p:txBody>
          <a:bodyPr wrap="square" lIns="0" tIns="0" rIns="0" bIns="0" rtlCol="0" anchor="ctr"/>
          <a:lstStyle/>
          <a:p>
            <a:pPr algn="ctr" indent="0" marL="0">
              <a:buNone/>
            </a:pPr>
            <a:r>
              <a:rPr lang="en-US" sz="1500" b="1" dirty="0">
                <a:solidFill>
                  <a:srgbClr val="F5F7F3"/>
                </a:solidFill>
                <a:latin typeface="Consolas" pitchFamily="34" charset="0"/>
                <a:ea typeface="Consolas" pitchFamily="34" charset="-122"/>
                <a:cs typeface="Consolas" pitchFamily="34" charset="-120"/>
              </a:rPr>
              <a:t>2</a:t>
            </a:r>
            <a:endParaRPr lang="en-US" sz="1500" dirty="0"/>
          </a:p>
        </p:txBody>
      </p:sp>
      <p:sp>
        <p:nvSpPr>
          <p:cNvPr id="10" name="Text 8"/>
          <p:cNvSpPr txBox="1"/>
          <p:nvPr/>
        </p:nvSpPr>
        <p:spPr>
          <a:xfrm>
            <a:off x="1325880" y="3817620"/>
            <a:ext cx="9875520" cy="365760"/>
          </a:xfrm>
          <a:prstGeom prst="rect">
            <a:avLst/>
          </a:prstGeom>
          <a:noFill/>
          <a:ln/>
        </p:spPr>
        <p:txBody>
          <a:bodyPr wrap="square" lIns="0" tIns="0" rIns="0" bIns="0" rtlCol="0" anchor="ctr"/>
          <a:lstStyle/>
          <a:p>
            <a:pPr indent="0" marL="0">
              <a:buNone/>
            </a:pPr>
            <a:r>
              <a:rPr lang="en-US" sz="1550" b="1" dirty="0">
                <a:solidFill>
                  <a:srgbClr val="1A1E22"/>
                </a:solidFill>
                <a:latin typeface="Consolas" pitchFamily="34" charset="0"/>
                <a:ea typeface="Consolas" pitchFamily="34" charset="-122"/>
                <a:cs typeface="Consolas" pitchFamily="34" charset="-120"/>
              </a:rPr>
              <a:t>Where tokens come from</a:t>
            </a:r>
            <a:endParaRPr lang="en-US" sz="1550" dirty="0"/>
          </a:p>
        </p:txBody>
      </p:sp>
      <p:sp>
        <p:nvSpPr>
          <p:cNvPr id="11" name="Text 9"/>
          <p:cNvSpPr txBox="1"/>
          <p:nvPr/>
        </p:nvSpPr>
        <p:spPr>
          <a:xfrm>
            <a:off x="1325880" y="4201668"/>
            <a:ext cx="9966960" cy="1988820"/>
          </a:xfrm>
          <a:prstGeom prst="rect">
            <a:avLst/>
          </a:prstGeom>
          <a:noFill/>
          <a:ln/>
        </p:spPr>
        <p:txBody>
          <a:bodyPr wrap="square" lIns="0" tIns="0" rIns="0" bIns="0" rtlCol="0" anchor="t"/>
          <a:lstStyle/>
          <a:p>
            <a:pPr indent="0" marL="0">
              <a:lnSpc>
                <a:spcPct val="115000"/>
              </a:lnSpc>
              <a:buNone/>
            </a:pPr>
            <a:r>
              <a:rPr lang="en-US" sz="1300" dirty="0">
                <a:solidFill>
                  <a:srgbClr val="1A1E22"/>
                </a:solidFill>
                <a:latin typeface="Calibri" pitchFamily="34" charset="0"/>
                <a:ea typeface="Calibri" pitchFamily="34" charset="-122"/>
                <a:cs typeface="Calibri" pitchFamily="34" charset="-120"/>
              </a:rPr>
              <a:t>System tokens repeat every call; conversation tokens are the question plus retained history; RAG tokens come from every retrieved passage; tool tokens come from schemas and results; output tokens are the generated answer.</a:t>
            </a:r>
            <a:endParaRPr lang="en-US" sz="1300" dirty="0"/>
          </a:p>
        </p:txBody>
      </p:sp>
      <p:sp>
        <p:nvSpPr>
          <p:cNvPr id="12" name="Text 10"/>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14  ·  TOKEN TAXONOMY &amp; ECONOMICS</a:t>
            </a:r>
            <a:endParaRPr lang="en-US" sz="900" dirty="0"/>
          </a:p>
        </p:txBody>
      </p:sp>
      <p:sp>
        <p:nvSpPr>
          <p:cNvPr id="13" name="Text 11"/>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548640"/>
          </a:xfrm>
          <a:prstGeom prst="rect">
            <a:avLst/>
          </a:prstGeom>
          <a:noFill/>
          <a:ln/>
        </p:spPr>
        <p:txBody>
          <a:bodyPr wrap="square" lIns="0" tIns="0" rIns="0" bIns="0" rtlCol="0" anchor="ctr"/>
          <a:lstStyle/>
          <a:p>
            <a:pPr indent="0" marL="0">
              <a:buNone/>
            </a:pPr>
            <a:r>
              <a:rPr lang="en-US" sz="2600" b="1" dirty="0">
                <a:solidFill>
                  <a:srgbClr val="1A1E22"/>
                </a:solidFill>
                <a:latin typeface="Consolas" pitchFamily="34" charset="0"/>
                <a:ea typeface="Consolas" pitchFamily="34" charset="-122"/>
                <a:cs typeface="Consolas" pitchFamily="34" charset="-120"/>
              </a:rPr>
              <a:t>Key Concepts  ·  Part 2 of 2</a:t>
            </a:r>
            <a:endParaRPr lang="en-US" sz="2600" dirty="0"/>
          </a:p>
        </p:txBody>
      </p:sp>
      <p:sp>
        <p:nvSpPr>
          <p:cNvPr id="3" name="Shape 1"/>
          <p:cNvSpPr/>
          <p:nvPr/>
        </p:nvSpPr>
        <p:spPr>
          <a:xfrm>
            <a:off x="640080" y="1435608"/>
            <a:ext cx="457200" cy="457200"/>
          </a:xfrm>
          <a:prstGeom prst="ellipse">
            <a:avLst/>
          </a:prstGeom>
          <a:solidFill>
            <a:srgbClr val="3E5064"/>
          </a:solidFill>
          <a:ln/>
        </p:spPr>
      </p:sp>
      <p:sp>
        <p:nvSpPr>
          <p:cNvPr id="4" name="Text 2"/>
          <p:cNvSpPr txBox="1"/>
          <p:nvPr/>
        </p:nvSpPr>
        <p:spPr>
          <a:xfrm>
            <a:off x="640080" y="1435608"/>
            <a:ext cx="457200" cy="457200"/>
          </a:xfrm>
          <a:prstGeom prst="rect">
            <a:avLst/>
          </a:prstGeom>
          <a:noFill/>
          <a:ln/>
        </p:spPr>
        <p:txBody>
          <a:bodyPr wrap="square" lIns="0" tIns="0" rIns="0" bIns="0" rtlCol="0" anchor="ctr"/>
          <a:lstStyle/>
          <a:p>
            <a:pPr algn="ctr" indent="0" marL="0">
              <a:buNone/>
            </a:pPr>
            <a:r>
              <a:rPr lang="en-US" sz="1500" b="1" dirty="0">
                <a:solidFill>
                  <a:srgbClr val="F5F7F3"/>
                </a:solidFill>
                <a:latin typeface="Consolas" pitchFamily="34" charset="0"/>
                <a:ea typeface="Consolas" pitchFamily="34" charset="-122"/>
                <a:cs typeface="Consolas" pitchFamily="34" charset="-120"/>
              </a:rPr>
              <a:t>3</a:t>
            </a:r>
            <a:endParaRPr lang="en-US" sz="1500" dirty="0"/>
          </a:p>
        </p:txBody>
      </p:sp>
      <p:sp>
        <p:nvSpPr>
          <p:cNvPr id="5" name="Text 3"/>
          <p:cNvSpPr txBox="1"/>
          <p:nvPr/>
        </p:nvSpPr>
        <p:spPr>
          <a:xfrm>
            <a:off x="1325880" y="1325880"/>
            <a:ext cx="9875520" cy="365760"/>
          </a:xfrm>
          <a:prstGeom prst="rect">
            <a:avLst/>
          </a:prstGeom>
          <a:noFill/>
          <a:ln/>
        </p:spPr>
        <p:txBody>
          <a:bodyPr wrap="square" lIns="0" tIns="0" rIns="0" bIns="0" rtlCol="0" anchor="ctr"/>
          <a:lstStyle/>
          <a:p>
            <a:pPr indent="0" marL="0">
              <a:buNone/>
            </a:pPr>
            <a:r>
              <a:rPr lang="en-US" sz="1550" b="1" dirty="0">
                <a:solidFill>
                  <a:srgbClr val="1A1E22"/>
                </a:solidFill>
                <a:latin typeface="Consolas" pitchFamily="34" charset="0"/>
                <a:ea typeface="Consolas" pitchFamily="34" charset="-122"/>
                <a:cs typeface="Consolas" pitchFamily="34" charset="-120"/>
              </a:rPr>
              <a:t>Reading usage metadata</a:t>
            </a:r>
            <a:endParaRPr lang="en-US" sz="1550" dirty="0"/>
          </a:p>
        </p:txBody>
      </p:sp>
      <p:sp>
        <p:nvSpPr>
          <p:cNvPr id="6" name="Text 4"/>
          <p:cNvSpPr txBox="1"/>
          <p:nvPr/>
        </p:nvSpPr>
        <p:spPr>
          <a:xfrm>
            <a:off x="1325880" y="1709928"/>
            <a:ext cx="9966960" cy="1988820"/>
          </a:xfrm>
          <a:prstGeom prst="rect">
            <a:avLst/>
          </a:prstGeom>
          <a:noFill/>
          <a:ln/>
        </p:spPr>
        <p:txBody>
          <a:bodyPr wrap="square" lIns="0" tIns="0" rIns="0" bIns="0" rtlCol="0" anchor="t"/>
          <a:lstStyle/>
          <a:p>
            <a:pPr indent="0" marL="0">
              <a:lnSpc>
                <a:spcPct val="115000"/>
              </a:lnSpc>
              <a:buNone/>
            </a:pPr>
            <a:r>
              <a:rPr lang="en-US" sz="1300" dirty="0">
                <a:solidFill>
                  <a:srgbClr val="1A1E22"/>
                </a:solidFill>
                <a:latin typeface="Calibri" pitchFamily="34" charset="0"/>
                <a:ea typeface="Calibri" pitchFamily="34" charset="-122"/>
                <a:cs typeface="Calibri" pitchFamily="34" charset="-120"/>
              </a:rPr>
              <a:t>When a response includes usage_metadata, it can report input tokens, output tokens, and a total. Use these reported numbers when available — a missing field means unavailable, not zero.</a:t>
            </a:r>
            <a:endParaRPr lang="en-US" sz="1300" dirty="0"/>
          </a:p>
        </p:txBody>
      </p:sp>
      <p:sp>
        <p:nvSpPr>
          <p:cNvPr id="7" name="Shape 5"/>
          <p:cNvSpPr/>
          <p:nvPr/>
        </p:nvSpPr>
        <p:spPr>
          <a:xfrm>
            <a:off x="640080" y="3762756"/>
            <a:ext cx="10515600" cy="914"/>
          </a:xfrm>
          <a:prstGeom prst="line">
            <a:avLst/>
          </a:prstGeom>
          <a:noFill/>
          <a:ln w="12700">
            <a:solidFill>
              <a:srgbClr val="D7DCD1"/>
            </a:solidFill>
            <a:prstDash val="solid"/>
          </a:ln>
        </p:spPr>
      </p:sp>
      <p:sp>
        <p:nvSpPr>
          <p:cNvPr id="8" name="Shape 6"/>
          <p:cNvSpPr/>
          <p:nvPr/>
        </p:nvSpPr>
        <p:spPr>
          <a:xfrm>
            <a:off x="640080" y="3927348"/>
            <a:ext cx="457200" cy="457200"/>
          </a:xfrm>
          <a:prstGeom prst="ellipse">
            <a:avLst/>
          </a:prstGeom>
          <a:solidFill>
            <a:srgbClr val="3E5064"/>
          </a:solidFill>
          <a:ln/>
        </p:spPr>
      </p:sp>
      <p:sp>
        <p:nvSpPr>
          <p:cNvPr id="9" name="Text 7"/>
          <p:cNvSpPr txBox="1"/>
          <p:nvPr/>
        </p:nvSpPr>
        <p:spPr>
          <a:xfrm>
            <a:off x="640080" y="3927348"/>
            <a:ext cx="457200" cy="457200"/>
          </a:xfrm>
          <a:prstGeom prst="rect">
            <a:avLst/>
          </a:prstGeom>
          <a:noFill/>
          <a:ln/>
        </p:spPr>
        <p:txBody>
          <a:bodyPr wrap="square" lIns="0" tIns="0" rIns="0" bIns="0" rtlCol="0" anchor="ctr"/>
          <a:lstStyle/>
          <a:p>
            <a:pPr algn="ctr" indent="0" marL="0">
              <a:buNone/>
            </a:pPr>
            <a:r>
              <a:rPr lang="en-US" sz="1500" b="1" dirty="0">
                <a:solidFill>
                  <a:srgbClr val="F5F7F3"/>
                </a:solidFill>
                <a:latin typeface="Consolas" pitchFamily="34" charset="0"/>
                <a:ea typeface="Consolas" pitchFamily="34" charset="-122"/>
                <a:cs typeface="Consolas" pitchFamily="34" charset="-120"/>
              </a:rPr>
              <a:t>4</a:t>
            </a:r>
            <a:endParaRPr lang="en-US" sz="1500" dirty="0"/>
          </a:p>
        </p:txBody>
      </p:sp>
      <p:sp>
        <p:nvSpPr>
          <p:cNvPr id="10" name="Text 8"/>
          <p:cNvSpPr txBox="1"/>
          <p:nvPr/>
        </p:nvSpPr>
        <p:spPr>
          <a:xfrm>
            <a:off x="1325880" y="3817620"/>
            <a:ext cx="9875520" cy="365760"/>
          </a:xfrm>
          <a:prstGeom prst="rect">
            <a:avLst/>
          </a:prstGeom>
          <a:noFill/>
          <a:ln/>
        </p:spPr>
        <p:txBody>
          <a:bodyPr wrap="square" lIns="0" tIns="0" rIns="0" bIns="0" rtlCol="0" anchor="ctr"/>
          <a:lstStyle/>
          <a:p>
            <a:pPr indent="0" marL="0">
              <a:buNone/>
            </a:pPr>
            <a:r>
              <a:rPr lang="en-US" sz="1550" b="1" dirty="0">
                <a:solidFill>
                  <a:srgbClr val="1A1E22"/>
                </a:solidFill>
                <a:latin typeface="Consolas" pitchFamily="34" charset="0"/>
                <a:ea typeface="Consolas" pitchFamily="34" charset="-122"/>
                <a:cs typeface="Consolas" pitchFamily="34" charset="-120"/>
              </a:rPr>
              <a:t>From measurement to a budget</a:t>
            </a:r>
            <a:endParaRPr lang="en-US" sz="1550" dirty="0"/>
          </a:p>
        </p:txBody>
      </p:sp>
      <p:sp>
        <p:nvSpPr>
          <p:cNvPr id="11" name="Text 9"/>
          <p:cNvSpPr txBox="1"/>
          <p:nvPr/>
        </p:nvSpPr>
        <p:spPr>
          <a:xfrm>
            <a:off x="1325880" y="4201668"/>
            <a:ext cx="9966960" cy="1988820"/>
          </a:xfrm>
          <a:prstGeom prst="rect">
            <a:avLst/>
          </a:prstGeom>
          <a:noFill/>
          <a:ln/>
        </p:spPr>
        <p:txBody>
          <a:bodyPr wrap="square" lIns="0" tIns="0" rIns="0" bIns="0" rtlCol="0" anchor="t"/>
          <a:lstStyle/>
          <a:p>
            <a:pPr indent="0" marL="0">
              <a:lnSpc>
                <a:spcPct val="115000"/>
              </a:lnSpc>
              <a:buNone/>
            </a:pPr>
            <a:r>
              <a:rPr lang="en-US" sz="1300" dirty="0">
                <a:solidFill>
                  <a:srgbClr val="1A1E22"/>
                </a:solidFill>
                <a:latin typeface="Calibri" pitchFamily="34" charset="0"/>
                <a:ea typeface="Calibri" pitchFamily="34" charset="-122"/>
                <a:cs typeface="Calibri" pitchFamily="34" charset="-120"/>
              </a:rPr>
              <a:t>Sum components per call; repeated instructions can roughly double your estimate across two calls. A run budget needs a max call count, input/output tokens, a latency target, and an estimated cost.</a:t>
            </a:r>
            <a:endParaRPr lang="en-US" sz="1300" dirty="0"/>
          </a:p>
        </p:txBody>
      </p:sp>
      <p:sp>
        <p:nvSpPr>
          <p:cNvPr id="12" name="Text 10"/>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14  ·  TOKEN TAXONOMY &amp; ECONOMICS</a:t>
            </a:r>
            <a:endParaRPr lang="en-US" sz="900" dirty="0"/>
          </a:p>
        </p:txBody>
      </p:sp>
      <p:sp>
        <p:nvSpPr>
          <p:cNvPr id="13" name="Text 11"/>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058400" cy="502920"/>
          </a:xfrm>
          <a:prstGeom prst="rect">
            <a:avLst/>
          </a:prstGeom>
          <a:noFill/>
          <a:ln/>
        </p:spPr>
        <p:txBody>
          <a:bodyPr wrap="square" lIns="0" tIns="0" rIns="0" bIns="0" rtlCol="0" anchor="ctr"/>
          <a:lstStyle/>
          <a:p>
            <a:pPr indent="0" marL="0">
              <a:buNone/>
            </a:pPr>
            <a:r>
              <a:rPr lang="en-US" sz="2400" b="1" dirty="0">
                <a:solidFill>
                  <a:srgbClr val="1A1E22"/>
                </a:solidFill>
                <a:latin typeface="Consolas" pitchFamily="34" charset="0"/>
                <a:ea typeface="Consolas" pitchFamily="34" charset="-122"/>
                <a:cs typeface="Consolas" pitchFamily="34" charset="-120"/>
              </a:rPr>
              <a:t>How It's Built</a:t>
            </a:r>
            <a:endParaRPr lang="en-US" sz="2400" dirty="0"/>
          </a:p>
        </p:txBody>
      </p:sp>
      <p:sp>
        <p:nvSpPr>
          <p:cNvPr id="3" name="Shape 1"/>
          <p:cNvSpPr/>
          <p:nvPr/>
        </p:nvSpPr>
        <p:spPr>
          <a:xfrm>
            <a:off x="5875020" y="2179320"/>
            <a:ext cx="9144" cy="1524000"/>
          </a:xfrm>
          <a:prstGeom prst="line">
            <a:avLst/>
          </a:prstGeom>
          <a:noFill/>
          <a:ln w="22225">
            <a:solidFill>
              <a:srgbClr val="5B646B"/>
            </a:solidFill>
            <a:prstDash val="solid"/>
          </a:ln>
        </p:spPr>
      </p:sp>
      <p:sp>
        <p:nvSpPr>
          <p:cNvPr id="4" name="Shape 2"/>
          <p:cNvSpPr/>
          <p:nvPr/>
        </p:nvSpPr>
        <p:spPr>
          <a:xfrm rot="10800000">
            <a:off x="5792724" y="3602736"/>
            <a:ext cx="164592" cy="164592"/>
          </a:xfrm>
          <a:prstGeom prst="triangle">
            <a:avLst/>
          </a:prstGeom>
          <a:solidFill>
            <a:srgbClr val="5B646B"/>
          </a:solidFill>
          <a:ln/>
        </p:spPr>
      </p:sp>
      <p:sp>
        <p:nvSpPr>
          <p:cNvPr id="5" name="Shape 3"/>
          <p:cNvSpPr/>
          <p:nvPr/>
        </p:nvSpPr>
        <p:spPr>
          <a:xfrm>
            <a:off x="5875020" y="3703320"/>
            <a:ext cx="9144" cy="1524000"/>
          </a:xfrm>
          <a:prstGeom prst="line">
            <a:avLst/>
          </a:prstGeom>
          <a:noFill/>
          <a:ln w="22225">
            <a:solidFill>
              <a:srgbClr val="5B646B"/>
            </a:solidFill>
            <a:prstDash val="solid"/>
          </a:ln>
        </p:spPr>
      </p:sp>
      <p:sp>
        <p:nvSpPr>
          <p:cNvPr id="6" name="Shape 4"/>
          <p:cNvSpPr/>
          <p:nvPr/>
        </p:nvSpPr>
        <p:spPr>
          <a:xfrm rot="10800000">
            <a:off x="5792724" y="5126736"/>
            <a:ext cx="164592" cy="164592"/>
          </a:xfrm>
          <a:prstGeom prst="triangle">
            <a:avLst/>
          </a:prstGeom>
          <a:solidFill>
            <a:srgbClr val="5B646B"/>
          </a:solidFill>
          <a:ln/>
        </p:spPr>
      </p:sp>
      <p:sp>
        <p:nvSpPr>
          <p:cNvPr id="7" name="Shape 5"/>
          <p:cNvSpPr/>
          <p:nvPr/>
        </p:nvSpPr>
        <p:spPr>
          <a:xfrm>
            <a:off x="5728716" y="2033016"/>
            <a:ext cx="292608" cy="292608"/>
          </a:xfrm>
          <a:prstGeom prst="ellipse">
            <a:avLst/>
          </a:prstGeom>
          <a:solidFill>
            <a:srgbClr val="1A1E22"/>
          </a:solidFill>
          <a:ln/>
        </p:spPr>
      </p:sp>
      <p:sp>
        <p:nvSpPr>
          <p:cNvPr id="8" name="Text 6"/>
          <p:cNvSpPr txBox="1"/>
          <p:nvPr/>
        </p:nvSpPr>
        <p:spPr>
          <a:xfrm>
            <a:off x="4869180" y="2362200"/>
            <a:ext cx="2011680" cy="274320"/>
          </a:xfrm>
          <a:prstGeom prst="rect">
            <a:avLst/>
          </a:prstGeom>
          <a:noFill/>
          <a:ln/>
        </p:spPr>
        <p:txBody>
          <a:bodyPr wrap="square" lIns="0" tIns="0" rIns="0" bIns="0" rtlCol="0" anchor="ctr"/>
          <a:lstStyle/>
          <a:p>
            <a:pPr algn="ctr" indent="0" marL="0">
              <a:buNone/>
            </a:pPr>
            <a:r>
              <a:rPr lang="en-US" sz="1000" b="1" spc="100" kern="0" dirty="0">
                <a:solidFill>
                  <a:srgbClr val="5B646B"/>
                </a:solidFill>
                <a:latin typeface="Consolas" pitchFamily="34" charset="0"/>
                <a:ea typeface="Consolas" pitchFamily="34" charset="-122"/>
                <a:cs typeface="Consolas" pitchFamily="34" charset="-120"/>
              </a:rPr>
              <a:t>START</a:t>
            </a:r>
            <a:endParaRPr lang="en-US" sz="1000" dirty="0"/>
          </a:p>
        </p:txBody>
      </p:sp>
      <p:sp>
        <p:nvSpPr>
          <p:cNvPr id="9" name="Shape 7"/>
          <p:cNvSpPr/>
          <p:nvPr/>
        </p:nvSpPr>
        <p:spPr>
          <a:xfrm>
            <a:off x="4663440" y="3419856"/>
            <a:ext cx="2423160" cy="566928"/>
          </a:xfrm>
          <a:prstGeom prst="roundRect">
            <a:avLst>
              <a:gd name="adj" fmla="val 8065"/>
            </a:avLst>
          </a:prstGeom>
          <a:solidFill>
            <a:srgbClr val="3E5064"/>
          </a:solidFill>
          <a:ln/>
          <a:effectLst>
            <a:outerShdw sx="100000" sy="100000" kx="0" ky="0" algn="bl" rotWithShape="0" blurRad="76200" dist="25400" dir="5400000">
              <a:srgbClr val="000000">
                <a:alpha val="18000"/>
              </a:srgbClr>
            </a:outerShdw>
          </a:effectLst>
        </p:spPr>
      </p:sp>
      <p:sp>
        <p:nvSpPr>
          <p:cNvPr id="10" name="Text 8"/>
          <p:cNvSpPr txBox="1"/>
          <p:nvPr/>
        </p:nvSpPr>
        <p:spPr>
          <a:xfrm>
            <a:off x="4736592" y="3419856"/>
            <a:ext cx="2276856" cy="566928"/>
          </a:xfrm>
          <a:prstGeom prst="rect">
            <a:avLst/>
          </a:prstGeom>
          <a:noFill/>
          <a:ln/>
        </p:spPr>
        <p:txBody>
          <a:bodyPr wrap="square" lIns="0" tIns="0" rIns="0" bIns="0" rtlCol="0" anchor="ctr"/>
          <a:lstStyle/>
          <a:p>
            <a:pPr algn="ctr" indent="0" marL="0">
              <a:buNone/>
            </a:pPr>
            <a:r>
              <a:rPr lang="en-US" sz="1150" b="1" dirty="0">
                <a:solidFill>
                  <a:srgbClr val="F5F7F3"/>
                </a:solidFill>
                <a:latin typeface="Consolas" pitchFamily="34" charset="0"/>
                <a:ea typeface="Consolas" pitchFamily="34" charset="-122"/>
                <a:cs typeface="Consolas" pitchFamily="34" charset="-120"/>
              </a:rPr>
              <a:t>measure</a:t>
            </a:r>
            <a:endParaRPr lang="en-US" sz="1150" dirty="0"/>
          </a:p>
        </p:txBody>
      </p:sp>
      <p:sp>
        <p:nvSpPr>
          <p:cNvPr id="11" name="Shape 9"/>
          <p:cNvSpPr/>
          <p:nvPr/>
        </p:nvSpPr>
        <p:spPr>
          <a:xfrm>
            <a:off x="5728716" y="5081016"/>
            <a:ext cx="292608" cy="292608"/>
          </a:xfrm>
          <a:prstGeom prst="ellipse">
            <a:avLst/>
          </a:prstGeom>
          <a:solidFill>
            <a:srgbClr val="1A1E22"/>
          </a:solidFill>
          <a:ln/>
        </p:spPr>
      </p:sp>
      <p:sp>
        <p:nvSpPr>
          <p:cNvPr id="12" name="Text 10"/>
          <p:cNvSpPr txBox="1"/>
          <p:nvPr/>
        </p:nvSpPr>
        <p:spPr>
          <a:xfrm>
            <a:off x="4869180" y="5410200"/>
            <a:ext cx="2011680" cy="274320"/>
          </a:xfrm>
          <a:prstGeom prst="rect">
            <a:avLst/>
          </a:prstGeom>
          <a:noFill/>
          <a:ln/>
        </p:spPr>
        <p:txBody>
          <a:bodyPr wrap="square" lIns="0" tIns="0" rIns="0" bIns="0" rtlCol="0" anchor="ctr"/>
          <a:lstStyle/>
          <a:p>
            <a:pPr algn="ctr" indent="0" marL="0">
              <a:buNone/>
            </a:pPr>
            <a:r>
              <a:rPr lang="en-US" sz="1000" b="1" spc="100" kern="0" dirty="0">
                <a:solidFill>
                  <a:srgbClr val="5B646B"/>
                </a:solidFill>
                <a:latin typeface="Consolas" pitchFamily="34" charset="0"/>
                <a:ea typeface="Consolas" pitchFamily="34" charset="-122"/>
                <a:cs typeface="Consolas" pitchFamily="34" charset="-120"/>
              </a:rPr>
              <a:t>END</a:t>
            </a:r>
            <a:endParaRPr lang="en-US" sz="1000" dirty="0"/>
          </a:p>
        </p:txBody>
      </p:sp>
      <p:sp>
        <p:nvSpPr>
          <p:cNvPr id="13" name="Text 11"/>
          <p:cNvSpPr txBox="1"/>
          <p:nvPr/>
        </p:nvSpPr>
        <p:spPr>
          <a:xfrm>
            <a:off x="640080" y="6172200"/>
            <a:ext cx="10881360" cy="457200"/>
          </a:xfrm>
          <a:prstGeom prst="rect">
            <a:avLst/>
          </a:prstGeom>
          <a:noFill/>
          <a:ln/>
        </p:spPr>
        <p:txBody>
          <a:bodyPr wrap="square" lIns="0" tIns="0" rIns="0" bIns="0" rtlCol="0" anchor="ctr"/>
          <a:lstStyle/>
          <a:p>
            <a:pPr indent="0" marL="0">
              <a:buNone/>
            </a:pPr>
            <a:r>
              <a:rPr lang="en-US" sz="1200" i="1" dirty="0">
                <a:solidFill>
                  <a:srgbClr val="5B646B"/>
                </a:solidFill>
                <a:latin typeface="Calibri" pitchFamily="34" charset="0"/>
                <a:ea typeface="Calibri" pitchFamily="34" charset="-122"/>
                <a:cs typeface="Calibri" pitchFamily="34" charset="-120"/>
              </a:rPr>
              <a:t>One node measures instruction, question, and context separately, then sums them into a total.</a:t>
            </a:r>
            <a:endParaRPr lang="en-US" sz="1200" dirty="0"/>
          </a:p>
        </p:txBody>
      </p:sp>
      <p:sp>
        <p:nvSpPr>
          <p:cNvPr id="14" name="Text 12"/>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14  ·  TOKEN TAXONOMY &amp; ECONOMICS</a:t>
            </a:r>
            <a:endParaRPr lang="en-US" sz="900" dirty="0"/>
          </a:p>
        </p:txBody>
      </p:sp>
      <p:sp>
        <p:nvSpPr>
          <p:cNvPr id="15" name="Text 13"/>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71B"/>
        </a:solidFill>
      </p:bgPr>
    </p:bg>
    <p:spTree>
      <p:nvGrpSpPr>
        <p:cNvPr id="1" name=""/>
        <p:cNvGrpSpPr/>
        <p:nvPr/>
      </p:nvGrpSpPr>
      <p:grpSpPr>
        <a:xfrm>
          <a:off x="0" y="0"/>
          <a:ext cx="0" cy="0"/>
          <a:chOff x="0" y="0"/>
          <a:chExt cx="0" cy="0"/>
        </a:xfrm>
      </p:grpSpPr>
      <p:sp>
        <p:nvSpPr>
          <p:cNvPr id="2" name="Text 0"/>
          <p:cNvSpPr txBox="1"/>
          <p:nvPr/>
        </p:nvSpPr>
        <p:spPr>
          <a:xfrm>
            <a:off x="640080" y="365760"/>
            <a:ext cx="7772400" cy="457200"/>
          </a:xfrm>
          <a:prstGeom prst="rect">
            <a:avLst/>
          </a:prstGeom>
          <a:noFill/>
          <a:ln/>
        </p:spPr>
        <p:txBody>
          <a:bodyPr wrap="square" lIns="0" tIns="0" rIns="0" bIns="0" rtlCol="0" anchor="ctr"/>
          <a:lstStyle/>
          <a:p>
            <a:pPr indent="0" marL="0">
              <a:buNone/>
            </a:pPr>
            <a:r>
              <a:rPr lang="en-US" sz="2000" b="1" dirty="0">
                <a:solidFill>
                  <a:srgbClr val="FFFFFF"/>
                </a:solidFill>
                <a:latin typeface="Consolas" pitchFamily="34" charset="0"/>
                <a:ea typeface="Consolas" pitchFamily="34" charset="-122"/>
                <a:cs typeface="Consolas" pitchFamily="34" charset="-120"/>
              </a:rPr>
              <a:t>The Code  ·  Part 1 of 2</a:t>
            </a:r>
            <a:endParaRPr lang="en-US" sz="2000" dirty="0"/>
          </a:p>
        </p:txBody>
      </p:sp>
      <p:sp>
        <p:nvSpPr>
          <p:cNvPr id="3" name="Text 1">
            <a:hlinkClick r:id="rId1" tooltip=""/>
          </p:cNvPr>
          <p:cNvSpPr txBox="1"/>
          <p:nvPr/>
        </p:nvSpPr>
        <p:spPr>
          <a:xfrm>
            <a:off x="8595360" y="365760"/>
            <a:ext cx="2926080" cy="457200"/>
          </a:xfrm>
          <a:prstGeom prst="rect">
            <a:avLst/>
          </a:prstGeom>
          <a:noFill/>
          <a:ln/>
        </p:spPr>
        <p:txBody>
          <a:bodyPr wrap="square" lIns="0" tIns="0" rIns="0" bIns="0" rtlCol="0" anchor="ctr"/>
          <a:lstStyle/>
          <a:p>
            <a:pPr algn="r" indent="0" marL="0">
              <a:buNone/>
            </a:pPr>
            <a:r>
              <a:rPr lang="en-US" sz="1200" u="sng" dirty="0">
                <a:solidFill>
                  <a:srgbClr val="D9932B"/>
                </a:solidFill>
                <a:latin typeface="Consolas" pitchFamily="34" charset="0"/>
                <a:ea typeface="Consolas" pitchFamily="34" charset="-122"/>
                <a:cs typeface="Consolas" pitchFamily="34" charset="-120"/>
                <a:hlinkClick r:id="rId1" invalidUrl="" action="" tgtFrame="" tooltip="" history="1" highlightClick="0" endSnd="0">
                  <a:extLst>
                    <a:ext uri="{A12FA001-AC4F-418D-AE19-62706E023703}">
                      <ahyp:hlinkClr xmlns:ahyp="http://schemas.microsoft.com/office/drawing/2018/hyperlinkcolor" val="tx"/>
                    </a:ext>
                  </a:extLst>
                </a:hlinkClick>
              </a:rPr>
              <a:t>example.py</a:t>
            </a:r>
            <a:endParaRPr lang="en-US" sz="1200" dirty="0"/>
          </a:p>
        </p:txBody>
      </p:sp>
      <p:sp>
        <p:nvSpPr>
          <p:cNvPr id="4" name="Shape 2"/>
          <p:cNvSpPr/>
          <p:nvPr/>
        </p:nvSpPr>
        <p:spPr>
          <a:xfrm>
            <a:off x="640080" y="914400"/>
            <a:ext cx="10881360" cy="5166360"/>
          </a:xfrm>
          <a:prstGeom prst="roundRect">
            <a:avLst>
              <a:gd name="adj" fmla="val 1062"/>
            </a:avLst>
          </a:prstGeom>
          <a:solidFill>
            <a:srgbClr val="1E232A"/>
          </a:solidFill>
          <a:ln w="12700">
            <a:solidFill>
              <a:srgbClr val="2E353D"/>
            </a:solidFill>
            <a:prstDash val="solid"/>
          </a:ln>
        </p:spPr>
      </p:sp>
      <p:sp>
        <p:nvSpPr>
          <p:cNvPr id="5" name="Text 3"/>
          <p:cNvSpPr txBox="1"/>
          <p:nvPr/>
        </p:nvSpPr>
        <p:spPr>
          <a:xfrm>
            <a:off x="868680" y="1078992"/>
            <a:ext cx="10424160" cy="4846320"/>
          </a:xfrm>
          <a:prstGeom prst="rect">
            <a:avLst/>
          </a:prstGeom>
          <a:noFill/>
          <a:ln/>
        </p:spPr>
        <p:txBody>
          <a:bodyPr wrap="square" lIns="0" tIns="0" rIns="0" bIns="0" rtlCol="0" anchor="t"/>
          <a:lstStyle/>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01  """Session 14: estimate the size of each part of a model request."""</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02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03  from langgraph.graph import END, START, StateGraph</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04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05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06  def count_words(text):</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07      return len(text.split())</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08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09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10  def measure(state):</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11      counts =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12          "instruction": count_words(state["instruction"]),</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13          "question": count_words(state["question"]),</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14          "context": count_words(state["context"]),</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15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16      return {"counts": counts, "total": sum(counts.values())}</a:t>
            </a:r>
            <a:endParaRPr lang="en-US" sz="1400" dirty="0"/>
          </a:p>
        </p:txBody>
      </p:sp>
      <p:sp>
        <p:nvSpPr>
          <p:cNvPr id="6" name="Text 4"/>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14  ·  TOKEN TAXONOMY &amp; ECONOMICS</a:t>
            </a:r>
            <a:endParaRPr lang="en-US" sz="900" dirty="0"/>
          </a:p>
        </p:txBody>
      </p:sp>
      <p:sp>
        <p:nvSpPr>
          <p:cNvPr id="7" name="Text 5"/>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71B"/>
        </a:solidFill>
      </p:bgPr>
    </p:bg>
    <p:spTree>
      <p:nvGrpSpPr>
        <p:cNvPr id="1" name=""/>
        <p:cNvGrpSpPr/>
        <p:nvPr/>
      </p:nvGrpSpPr>
      <p:grpSpPr>
        <a:xfrm>
          <a:off x="0" y="0"/>
          <a:ext cx="0" cy="0"/>
          <a:chOff x="0" y="0"/>
          <a:chExt cx="0" cy="0"/>
        </a:xfrm>
      </p:grpSpPr>
      <p:sp>
        <p:nvSpPr>
          <p:cNvPr id="2" name="Text 0"/>
          <p:cNvSpPr txBox="1"/>
          <p:nvPr/>
        </p:nvSpPr>
        <p:spPr>
          <a:xfrm>
            <a:off x="640080" y="365760"/>
            <a:ext cx="7772400" cy="457200"/>
          </a:xfrm>
          <a:prstGeom prst="rect">
            <a:avLst/>
          </a:prstGeom>
          <a:noFill/>
          <a:ln/>
        </p:spPr>
        <p:txBody>
          <a:bodyPr wrap="square" lIns="0" tIns="0" rIns="0" bIns="0" rtlCol="0" anchor="ctr"/>
          <a:lstStyle/>
          <a:p>
            <a:pPr indent="0" marL="0">
              <a:buNone/>
            </a:pPr>
            <a:r>
              <a:rPr lang="en-US" sz="2000" b="1" dirty="0">
                <a:solidFill>
                  <a:srgbClr val="FFFFFF"/>
                </a:solidFill>
                <a:latin typeface="Consolas" pitchFamily="34" charset="0"/>
                <a:ea typeface="Consolas" pitchFamily="34" charset="-122"/>
                <a:cs typeface="Consolas" pitchFamily="34" charset="-120"/>
              </a:rPr>
              <a:t>The Code  ·  Part 2 of 2</a:t>
            </a:r>
            <a:endParaRPr lang="en-US" sz="2000" dirty="0"/>
          </a:p>
        </p:txBody>
      </p:sp>
      <p:sp>
        <p:nvSpPr>
          <p:cNvPr id="3" name="Text 1">
            <a:hlinkClick r:id="rId1" tooltip=""/>
          </p:cNvPr>
          <p:cNvSpPr txBox="1"/>
          <p:nvPr/>
        </p:nvSpPr>
        <p:spPr>
          <a:xfrm>
            <a:off x="8595360" y="365760"/>
            <a:ext cx="2926080" cy="457200"/>
          </a:xfrm>
          <a:prstGeom prst="rect">
            <a:avLst/>
          </a:prstGeom>
          <a:noFill/>
          <a:ln/>
        </p:spPr>
        <p:txBody>
          <a:bodyPr wrap="square" lIns="0" tIns="0" rIns="0" bIns="0" rtlCol="0" anchor="ctr"/>
          <a:lstStyle/>
          <a:p>
            <a:pPr algn="r" indent="0" marL="0">
              <a:buNone/>
            </a:pPr>
            <a:r>
              <a:rPr lang="en-US" sz="1200" u="sng" dirty="0">
                <a:solidFill>
                  <a:srgbClr val="D9932B"/>
                </a:solidFill>
                <a:latin typeface="Consolas" pitchFamily="34" charset="0"/>
                <a:ea typeface="Consolas" pitchFamily="34" charset="-122"/>
                <a:cs typeface="Consolas" pitchFamily="34" charset="-120"/>
                <a:hlinkClick r:id="rId1" invalidUrl="" action="" tgtFrame="" tooltip="" history="1" highlightClick="0" endSnd="0">
                  <a:extLst>
                    <a:ext uri="{A12FA001-AC4F-418D-AE19-62706E023703}">
                      <ahyp:hlinkClr xmlns:ahyp="http://schemas.microsoft.com/office/drawing/2018/hyperlinkcolor" val="tx"/>
                    </a:ext>
                  </a:extLst>
                </a:hlinkClick>
              </a:rPr>
              <a:t>example.py</a:t>
            </a:r>
            <a:endParaRPr lang="en-US" sz="1200" dirty="0"/>
          </a:p>
        </p:txBody>
      </p:sp>
      <p:sp>
        <p:nvSpPr>
          <p:cNvPr id="4" name="Shape 2"/>
          <p:cNvSpPr/>
          <p:nvPr/>
        </p:nvSpPr>
        <p:spPr>
          <a:xfrm>
            <a:off x="640080" y="914400"/>
            <a:ext cx="10881360" cy="5166360"/>
          </a:xfrm>
          <a:prstGeom prst="roundRect">
            <a:avLst>
              <a:gd name="adj" fmla="val 1062"/>
            </a:avLst>
          </a:prstGeom>
          <a:solidFill>
            <a:srgbClr val="1E232A"/>
          </a:solidFill>
          <a:ln w="12700">
            <a:solidFill>
              <a:srgbClr val="2E353D"/>
            </a:solidFill>
            <a:prstDash val="solid"/>
          </a:ln>
        </p:spPr>
      </p:sp>
      <p:sp>
        <p:nvSpPr>
          <p:cNvPr id="5" name="Text 3"/>
          <p:cNvSpPr txBox="1"/>
          <p:nvPr/>
        </p:nvSpPr>
        <p:spPr>
          <a:xfrm>
            <a:off x="868680" y="1078992"/>
            <a:ext cx="10424160" cy="4846320"/>
          </a:xfrm>
          <a:prstGeom prst="rect">
            <a:avLst/>
          </a:prstGeom>
          <a:noFill/>
          <a:ln/>
        </p:spPr>
        <p:txBody>
          <a:bodyPr wrap="square" lIns="0" tIns="0" rIns="0" bIns="0" rtlCol="0" anchor="t"/>
          <a:lstStyle/>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18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19  graph_builder = StateGraph(dict)</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20  graph_builder.add_node("measure", measure)</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21  graph_builder.add_edge(START, "measure")</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22  graph_builder.add_edge("measure", END)</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23  graph = graph_builder.compile()</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24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25  result = graph.invoke(</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26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27          "instruction": "Answer using the context.",</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28          "question": "How do I reset my password?",</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29          "context": "Open the reset page.",</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30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31  )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32  print("Word estimate by part:", result["counts"])</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33  print("Total word estimate:", result["total"])</a:t>
            </a:r>
            <a:endParaRPr lang="en-US" sz="1400" dirty="0"/>
          </a:p>
        </p:txBody>
      </p:sp>
      <p:sp>
        <p:nvSpPr>
          <p:cNvPr id="6" name="Text 4"/>
          <p:cNvSpPr txBox="1"/>
          <p:nvPr/>
        </p:nvSpPr>
        <p:spPr>
          <a:xfrm>
            <a:off x="640080" y="6153912"/>
            <a:ext cx="10881360" cy="274320"/>
          </a:xfrm>
          <a:prstGeom prst="rect">
            <a:avLst/>
          </a:prstGeom>
          <a:noFill/>
          <a:ln/>
        </p:spPr>
        <p:txBody>
          <a:bodyPr wrap="square" lIns="0" tIns="0" rIns="0" bIns="0" rtlCol="0" anchor="ctr"/>
          <a:lstStyle/>
          <a:p>
            <a:pPr indent="0" marL="0">
              <a:buNone/>
            </a:pPr>
            <a:r>
              <a:rPr lang="en-US" sz="1100" i="1" dirty="0">
                <a:solidFill>
                  <a:srgbClr val="8A939A"/>
                </a:solidFill>
                <a:latin typeface="Calibri" pitchFamily="34" charset="0"/>
                <a:ea typeface="Calibri" pitchFamily="34" charset="-122"/>
                <a:cs typeface="Calibri" pitchFamily="34" charset="-120"/>
              </a:rPr>
              <a:t>Deterministic — a simple word-count stand-in for a real token estimate.</a:t>
            </a:r>
            <a:endParaRPr lang="en-US" sz="1100" dirty="0"/>
          </a:p>
        </p:txBody>
      </p:sp>
      <p:sp>
        <p:nvSpPr>
          <p:cNvPr id="7" name="Text 5"/>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14  ·  TOKEN TAXONOMY &amp; ECONOMICS</a:t>
            </a:r>
            <a:endParaRPr lang="en-US" sz="900" dirty="0"/>
          </a:p>
        </p:txBody>
      </p:sp>
      <p:sp>
        <p:nvSpPr>
          <p:cNvPr id="8" name="Text 6"/>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058400" cy="502920"/>
          </a:xfrm>
          <a:prstGeom prst="rect">
            <a:avLst/>
          </a:prstGeom>
          <a:noFill/>
          <a:ln/>
        </p:spPr>
        <p:txBody>
          <a:bodyPr wrap="square" lIns="0" tIns="0" rIns="0" bIns="0" rtlCol="0" anchor="ctr"/>
          <a:lstStyle/>
          <a:p>
            <a:pPr indent="0" marL="0">
              <a:buNone/>
            </a:pPr>
            <a:r>
              <a:rPr lang="en-US" sz="2400" b="1" dirty="0">
                <a:solidFill>
                  <a:srgbClr val="1A1E22"/>
                </a:solidFill>
                <a:latin typeface="Consolas" pitchFamily="34" charset="0"/>
                <a:ea typeface="Consolas" pitchFamily="34" charset="-122"/>
                <a:cs typeface="Consolas" pitchFamily="34" charset="-120"/>
              </a:rPr>
              <a:t>Hands-On Lab  ·  ~30 min</a:t>
            </a:r>
            <a:endParaRPr lang="en-US" sz="2400" dirty="0"/>
          </a:p>
        </p:txBody>
      </p:sp>
      <p:sp>
        <p:nvSpPr>
          <p:cNvPr id="3" name="Shape 1"/>
          <p:cNvSpPr/>
          <p:nvPr/>
        </p:nvSpPr>
        <p:spPr>
          <a:xfrm>
            <a:off x="640080" y="1051560"/>
            <a:ext cx="6400800" cy="5394960"/>
          </a:xfrm>
          <a:prstGeom prst="roundRect">
            <a:avLst>
              <a:gd name="adj" fmla="val 1017"/>
            </a:avLst>
          </a:prstGeom>
          <a:solidFill>
            <a:srgbClr val="F5F7F3"/>
          </a:solidFill>
          <a:ln w="12700">
            <a:solidFill>
              <a:srgbClr val="D7DCD1"/>
            </a:solidFill>
            <a:prstDash val="solid"/>
          </a:ln>
        </p:spPr>
      </p:sp>
      <p:sp>
        <p:nvSpPr>
          <p:cNvPr id="4" name="Text 2"/>
          <p:cNvSpPr txBox="1"/>
          <p:nvPr/>
        </p:nvSpPr>
        <p:spPr>
          <a:xfrm>
            <a:off x="868680" y="1188720"/>
            <a:ext cx="5943600" cy="320040"/>
          </a:xfrm>
          <a:prstGeom prst="rect">
            <a:avLst/>
          </a:prstGeom>
          <a:noFill/>
          <a:ln/>
        </p:spPr>
        <p:txBody>
          <a:bodyPr wrap="square" lIns="0" tIns="0" rIns="0" bIns="0" rtlCol="0" anchor="ctr"/>
          <a:lstStyle/>
          <a:p>
            <a:pPr indent="0" marL="0">
              <a:buNone/>
            </a:pPr>
            <a:r>
              <a:rPr lang="en-US" sz="1200" b="1" dirty="0">
                <a:solidFill>
                  <a:srgbClr val="D9932B"/>
                </a:solidFill>
                <a:latin typeface="Consolas" pitchFamily="34" charset="0"/>
                <a:ea typeface="Consolas" pitchFamily="34" charset="-122"/>
                <a:cs typeface="Consolas" pitchFamily="34" charset="-120"/>
              </a:rPr>
              <a:t>Graph to draw</a:t>
            </a:r>
            <a:endParaRPr lang="en-US" sz="1200" dirty="0"/>
          </a:p>
        </p:txBody>
      </p:sp>
      <p:sp>
        <p:nvSpPr>
          <p:cNvPr id="5" name="Text 3"/>
          <p:cNvSpPr txBox="1"/>
          <p:nvPr/>
        </p:nvSpPr>
        <p:spPr>
          <a:xfrm>
            <a:off x="868680" y="1508760"/>
            <a:ext cx="5943600" cy="502920"/>
          </a:xfrm>
          <a:prstGeom prst="rect">
            <a:avLst/>
          </a:prstGeom>
          <a:noFill/>
          <a:ln/>
        </p:spPr>
        <p:txBody>
          <a:bodyPr wrap="square" lIns="0" tIns="0" rIns="0" bIns="0" rtlCol="0" anchor="ctr"/>
          <a:lstStyle/>
          <a:p>
            <a:pPr indent="0" marL="0">
              <a:buNone/>
            </a:pPr>
            <a:r>
              <a:rPr lang="en-US" sz="1300" dirty="0">
                <a:solidFill>
                  <a:srgbClr val="1A1E22"/>
                </a:solidFill>
                <a:latin typeface="Consolas" pitchFamily="34" charset="0"/>
                <a:ea typeface="Consolas" pitchFamily="34" charset="-122"/>
                <a:cs typeface="Consolas" pitchFamily="34" charset="-120"/>
              </a:rPr>
              <a:t>START -&gt; measure -&gt; END</a:t>
            </a:r>
            <a:endParaRPr lang="en-US" sz="1300" dirty="0"/>
          </a:p>
        </p:txBody>
      </p:sp>
      <p:sp>
        <p:nvSpPr>
          <p:cNvPr id="6" name="Text 4"/>
          <p:cNvSpPr txBox="1"/>
          <p:nvPr/>
        </p:nvSpPr>
        <p:spPr>
          <a:xfrm>
            <a:off x="868680" y="2148840"/>
            <a:ext cx="5943600" cy="402336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A1E22"/>
                </a:solidFill>
                <a:latin typeface="Calibri" pitchFamily="34" charset="0"/>
                <a:ea typeface="Calibri" pitchFamily="34" charset="-122"/>
                <a:cs typeface="Calibri" pitchFamily="34" charset="-120"/>
              </a:rPr>
              <a:t>Open example.py and find the measure node.</a:t>
            </a:r>
            <a:endParaRPr lang="en-US" sz="1250" dirty="0"/>
          </a:p>
          <a:p>
            <a:pPr marL="342900" indent="-342900">
              <a:spcAft>
                <a:spcPts val="800"/>
              </a:spcAft>
              <a:buSzPct val="100000"/>
              <a:buChar char="●"/>
            </a:pPr>
            <a:r>
              <a:rPr lang="en-US" sz="1250" dirty="0">
                <a:solidFill>
                  <a:srgbClr val="1A1E22"/>
                </a:solidFill>
                <a:latin typeface="Calibri" pitchFamily="34" charset="0"/>
                <a:ea typeface="Calibri" pitchFamily="34" charset="-122"/>
                <a:cs typeface="Calibri" pitchFamily="34" charset="-120"/>
              </a:rPr>
              <a:t>Follow the edges from START to END.</a:t>
            </a:r>
            <a:endParaRPr lang="en-US" sz="1250" dirty="0"/>
          </a:p>
          <a:p>
            <a:pPr marL="342900" indent="-342900">
              <a:spcAft>
                <a:spcPts val="800"/>
              </a:spcAft>
              <a:buSzPct val="100000"/>
              <a:buChar char="●"/>
            </a:pPr>
            <a:r>
              <a:rPr lang="en-US" sz="1250" dirty="0">
                <a:solidFill>
                  <a:srgbClr val="1A1E22"/>
                </a:solidFill>
                <a:latin typeface="Calibri" pitchFamily="34" charset="0"/>
                <a:ea typeface="Calibri" pitchFamily="34" charset="-122"/>
                <a:cs typeface="Calibri" pitchFamily="34" charset="-120"/>
              </a:rPr>
              <a:t>Make the context value longer and compare the new total.</a:t>
            </a:r>
            <a:endParaRPr lang="en-US" sz="1250" dirty="0"/>
          </a:p>
        </p:txBody>
      </p:sp>
      <p:sp>
        <p:nvSpPr>
          <p:cNvPr id="7" name="Shape 5"/>
          <p:cNvSpPr/>
          <p:nvPr/>
        </p:nvSpPr>
        <p:spPr>
          <a:xfrm>
            <a:off x="7269480" y="1051560"/>
            <a:ext cx="4251960" cy="5394960"/>
          </a:xfrm>
          <a:prstGeom prst="roundRect">
            <a:avLst>
              <a:gd name="adj" fmla="val 1290"/>
            </a:avLst>
          </a:prstGeom>
          <a:solidFill>
            <a:srgbClr val="14171B"/>
          </a:solidFill>
          <a:ln/>
        </p:spPr>
      </p:sp>
      <p:sp>
        <p:nvSpPr>
          <p:cNvPr id="8" name="Text 6"/>
          <p:cNvSpPr txBox="1"/>
          <p:nvPr/>
        </p:nvSpPr>
        <p:spPr>
          <a:xfrm>
            <a:off x="7498080" y="1234440"/>
            <a:ext cx="3840480" cy="320040"/>
          </a:xfrm>
          <a:prstGeom prst="rect">
            <a:avLst/>
          </a:prstGeom>
          <a:noFill/>
          <a:ln/>
        </p:spPr>
        <p:txBody>
          <a:bodyPr wrap="square" lIns="0" tIns="0" rIns="0" bIns="0" rtlCol="0" anchor="ctr"/>
          <a:lstStyle/>
          <a:p>
            <a:pPr indent="0" marL="0">
              <a:buNone/>
            </a:pPr>
            <a:r>
              <a:rPr lang="en-US" sz="1100" b="1" spc="100" kern="0" dirty="0">
                <a:solidFill>
                  <a:srgbClr val="D9932B"/>
                </a:solidFill>
                <a:latin typeface="Consolas" pitchFamily="34" charset="0"/>
                <a:ea typeface="Consolas" pitchFamily="34" charset="-122"/>
                <a:cs typeface="Consolas" pitchFamily="34" charset="-120"/>
              </a:rPr>
              <a:t>CONTROL QUESTION</a:t>
            </a:r>
            <a:endParaRPr lang="en-US" sz="1100" dirty="0"/>
          </a:p>
        </p:txBody>
      </p:sp>
      <p:sp>
        <p:nvSpPr>
          <p:cNvPr id="9" name="Text 7"/>
          <p:cNvSpPr txBox="1"/>
          <p:nvPr/>
        </p:nvSpPr>
        <p:spPr>
          <a:xfrm>
            <a:off x="7498080" y="1600200"/>
            <a:ext cx="3840480" cy="182880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measurement is deterministic — the same input always gives the same counts.</a:t>
            </a:r>
            <a:endParaRPr lang="en-US" sz="1300" dirty="0"/>
          </a:p>
        </p:txBody>
      </p:sp>
      <p:sp>
        <p:nvSpPr>
          <p:cNvPr id="10" name="Text 8"/>
          <p:cNvSpPr txBox="1"/>
          <p:nvPr/>
        </p:nvSpPr>
        <p:spPr>
          <a:xfrm>
            <a:off x="7498080" y="3657600"/>
            <a:ext cx="3840480" cy="320040"/>
          </a:xfrm>
          <a:prstGeom prst="rect">
            <a:avLst/>
          </a:prstGeom>
          <a:noFill/>
          <a:ln/>
        </p:spPr>
        <p:txBody>
          <a:bodyPr wrap="square" lIns="0" tIns="0" rIns="0" bIns="0" rtlCol="0" anchor="ctr"/>
          <a:lstStyle/>
          <a:p>
            <a:pPr indent="0" marL="0">
              <a:buNone/>
            </a:pPr>
            <a:r>
              <a:rPr lang="en-US" sz="1100" b="1" spc="100" kern="0" dirty="0">
                <a:solidFill>
                  <a:srgbClr val="D9932B"/>
                </a:solidFill>
                <a:latin typeface="Consolas" pitchFamily="34" charset="0"/>
                <a:ea typeface="Consolas" pitchFamily="34" charset="-122"/>
                <a:cs typeface="Consolas" pitchFamily="34" charset="-120"/>
              </a:rPr>
              <a:t>RUN IT</a:t>
            </a:r>
            <a:endParaRPr lang="en-US" sz="1100" dirty="0"/>
          </a:p>
        </p:txBody>
      </p:sp>
      <p:sp>
        <p:nvSpPr>
          <p:cNvPr id="11" name="Text 9"/>
          <p:cNvSpPr txBox="1"/>
          <p:nvPr/>
        </p:nvSpPr>
        <p:spPr>
          <a:xfrm>
            <a:off x="7498080" y="4023360"/>
            <a:ext cx="3840480" cy="731520"/>
          </a:xfrm>
          <a:prstGeom prst="rect">
            <a:avLst/>
          </a:prstGeom>
          <a:noFill/>
          <a:ln/>
        </p:spPr>
        <p:txBody>
          <a:bodyPr wrap="square" lIns="0" tIns="0" rIns="0" bIns="0" rtlCol="0" anchor="ctr"/>
          <a:lstStyle/>
          <a:p>
            <a:pPr indent="0" marL="0">
              <a:buNone/>
            </a:pPr>
            <a:r>
              <a:rPr lang="en-US" sz="1150" dirty="0">
                <a:solidFill>
                  <a:srgbClr val="E8ECEF"/>
                </a:solidFill>
                <a:latin typeface="Consolas" pitchFamily="34" charset="0"/>
                <a:ea typeface="Consolas" pitchFamily="34" charset="-122"/>
                <a:cs typeface="Consolas" pitchFamily="34" charset="-120"/>
              </a:rPr>
              <a:t>uv run python</a:t>
            </a:r>
            <a:endParaRPr lang="en-US" sz="1150" dirty="0"/>
          </a:p>
          <a:p>
            <a:pPr indent="0" marL="0">
              <a:buNone/>
            </a:pPr>
            <a:r>
              <a:rPr lang="en-US" sz="1150" dirty="0">
                <a:solidFill>
                  <a:srgbClr val="E8ECEF"/>
                </a:solidFill>
                <a:latin typeface="Consolas" pitchFamily="34" charset="0"/>
                <a:ea typeface="Consolas" pitchFamily="34" charset="-122"/>
                <a:cs typeface="Consolas" pitchFamily="34" charset="-120"/>
              </a:rPr>
              <a:t>Day-14-Token-Taxonomy-Economics\example.py</a:t>
            </a:r>
            <a:endParaRPr lang="en-US" sz="1150" dirty="0"/>
          </a:p>
        </p:txBody>
      </p:sp>
      <p:sp>
        <p:nvSpPr>
          <p:cNvPr id="12" name="Text 10"/>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14  ·  TOKEN TAXONOMY &amp; ECONOMICS</a:t>
            </a:r>
            <a:endParaRPr lang="en-US" sz="900" dirty="0"/>
          </a:p>
        </p:txBody>
      </p:sp>
      <p:sp>
        <p:nvSpPr>
          <p:cNvPr id="13" name="Text 11"/>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5486400" cy="502920"/>
          </a:xfrm>
          <a:prstGeom prst="rect">
            <a:avLst/>
          </a:prstGeom>
          <a:noFill/>
          <a:ln/>
        </p:spPr>
        <p:txBody>
          <a:bodyPr wrap="square" lIns="0" tIns="0" rIns="0" bIns="0" rtlCol="0" anchor="ctr"/>
          <a:lstStyle/>
          <a:p>
            <a:pPr indent="0" marL="0">
              <a:buNone/>
            </a:pPr>
            <a:r>
              <a:rPr lang="en-US" sz="2400" b="1" dirty="0">
                <a:solidFill>
                  <a:srgbClr val="1A1E22"/>
                </a:solidFill>
                <a:latin typeface="Consolas" pitchFamily="34" charset="0"/>
                <a:ea typeface="Consolas" pitchFamily="34" charset="-122"/>
                <a:cs typeface="Consolas" pitchFamily="34" charset="-120"/>
              </a:rPr>
              <a:t>Assignment</a:t>
            </a:r>
            <a:endParaRPr lang="en-US" sz="2400" dirty="0"/>
          </a:p>
        </p:txBody>
      </p:sp>
      <p:sp>
        <p:nvSpPr>
          <p:cNvPr id="3" name="Text 1"/>
          <p:cNvSpPr txBox="1"/>
          <p:nvPr/>
        </p:nvSpPr>
        <p:spPr>
          <a:xfrm>
            <a:off x="640080" y="960120"/>
            <a:ext cx="10607040" cy="502920"/>
          </a:xfrm>
          <a:prstGeom prst="rect">
            <a:avLst/>
          </a:prstGeom>
          <a:noFill/>
          <a:ln/>
        </p:spPr>
        <p:txBody>
          <a:bodyPr wrap="square" lIns="0" tIns="0" rIns="0" bIns="0" rtlCol="0" anchor="ctr"/>
          <a:lstStyle/>
          <a:p>
            <a:pPr indent="0" marL="0">
              <a:buNone/>
            </a:pPr>
            <a:r>
              <a:rPr lang="en-US" sz="1400" i="1" dirty="0">
                <a:solidFill>
                  <a:srgbClr val="5B646B"/>
                </a:solidFill>
                <a:latin typeface="Calibri" pitchFamily="34" charset="0"/>
                <a:ea typeface="Calibri" pitchFamily="34" charset="-122"/>
                <a:cs typeface="Calibri" pitchFamily="34" charset="-120"/>
              </a:rPr>
              <a:t>Make one small change to example.py and explain how the result changes.</a:t>
            </a:r>
            <a:endParaRPr lang="en-US" sz="1400" dirty="0"/>
          </a:p>
        </p:txBody>
      </p:sp>
      <p:sp>
        <p:nvSpPr>
          <p:cNvPr id="4" name="Shape 2"/>
          <p:cNvSpPr/>
          <p:nvPr/>
        </p:nvSpPr>
        <p:spPr>
          <a:xfrm>
            <a:off x="640080" y="1600200"/>
            <a:ext cx="6400800" cy="4846320"/>
          </a:xfrm>
          <a:prstGeom prst="roundRect">
            <a:avLst>
              <a:gd name="adj" fmla="val 1132"/>
            </a:avLst>
          </a:prstGeom>
          <a:solidFill>
            <a:srgbClr val="F5F7F3"/>
          </a:solidFill>
          <a:ln w="12700">
            <a:solidFill>
              <a:srgbClr val="D7DCD1"/>
            </a:solidFill>
            <a:prstDash val="solid"/>
          </a:ln>
        </p:spPr>
      </p:sp>
      <p:sp>
        <p:nvSpPr>
          <p:cNvPr id="5" name="Text 3"/>
          <p:cNvSpPr txBox="1"/>
          <p:nvPr/>
        </p:nvSpPr>
        <p:spPr>
          <a:xfrm>
            <a:off x="868680" y="1783080"/>
            <a:ext cx="5943600" cy="448056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1A1E22"/>
                </a:solidFill>
                <a:latin typeface="Calibri" pitchFamily="34" charset="0"/>
                <a:ea typeface="Calibri" pitchFamily="34" charset="-122"/>
                <a:cs typeface="Calibri" pitchFamily="34" charset="-120"/>
              </a:rPr>
              <a:t>Read the sample input near the bottom of example.py.</a:t>
            </a:r>
            <a:endParaRPr lang="en-US" sz="1250" dirty="0"/>
          </a:p>
          <a:p>
            <a:pPr marL="342900" indent="-342900">
              <a:spcAft>
                <a:spcPts val="900"/>
              </a:spcAft>
              <a:buSzPct val="100000"/>
              <a:buChar char="→"/>
            </a:pPr>
            <a:r>
              <a:rPr lang="en-US" sz="1250" dirty="0">
                <a:solidFill>
                  <a:srgbClr val="1A1E22"/>
                </a:solidFill>
                <a:latin typeface="Calibri" pitchFamily="34" charset="0"/>
                <a:ea typeface="Calibri" pitchFamily="34" charset="-122"/>
                <a:cs typeface="Calibri" pitchFamily="34" charset="-120"/>
              </a:rPr>
              <a:t>Predict the current output without running the file.</a:t>
            </a:r>
            <a:endParaRPr lang="en-US" sz="1250" dirty="0"/>
          </a:p>
          <a:p>
            <a:pPr marL="342900" indent="-342900">
              <a:spcAft>
                <a:spcPts val="900"/>
              </a:spcAft>
              <a:buSzPct val="100000"/>
              <a:buChar char="→"/>
            </a:pPr>
            <a:r>
              <a:rPr lang="en-US" sz="1250" dirty="0">
                <a:solidFill>
                  <a:srgbClr val="1A1E22"/>
                </a:solidFill>
                <a:latin typeface="Calibri" pitchFamily="34" charset="0"/>
                <a:ea typeface="Calibri" pitchFamily="34" charset="-122"/>
                <a:cs typeface="Calibri" pitchFamily="34" charset="-120"/>
              </a:rPr>
              <a:t>Run the example from the repository root.</a:t>
            </a:r>
            <a:endParaRPr lang="en-US" sz="1250" dirty="0"/>
          </a:p>
          <a:p>
            <a:pPr marL="342900" indent="-342900">
              <a:spcAft>
                <a:spcPts val="900"/>
              </a:spcAft>
              <a:buSzPct val="100000"/>
              <a:buChar char="→"/>
            </a:pPr>
            <a:r>
              <a:rPr lang="en-US" sz="1250" dirty="0">
                <a:solidFill>
                  <a:srgbClr val="1A1E22"/>
                </a:solidFill>
                <a:latin typeface="Calibri" pitchFamily="34" charset="0"/>
                <a:ea typeface="Calibri" pitchFamily="34" charset="-122"/>
                <a:cs typeface="Calibri" pitchFamily="34" charset="-120"/>
              </a:rPr>
              <a:t>Change only one input value or short sentence.</a:t>
            </a:r>
            <a:endParaRPr lang="en-US" sz="1250" dirty="0"/>
          </a:p>
          <a:p>
            <a:pPr marL="342900" indent="-342900">
              <a:spcAft>
                <a:spcPts val="900"/>
              </a:spcAft>
              <a:buSzPct val="100000"/>
              <a:buChar char="→"/>
            </a:pPr>
            <a:r>
              <a:rPr lang="en-US" sz="1250" dirty="0">
                <a:solidFill>
                  <a:srgbClr val="1A1E22"/>
                </a:solidFill>
                <a:latin typeface="Calibri" pitchFamily="34" charset="0"/>
                <a:ea typeface="Calibri" pitchFamily="34" charset="-122"/>
                <a:cs typeface="Calibri" pitchFamily="34" charset="-120"/>
              </a:rPr>
              <a:t>Predict the new route or output, then run again to confirm.</a:t>
            </a:r>
            <a:endParaRPr lang="en-US" sz="1250" dirty="0"/>
          </a:p>
          <a:p>
            <a:pPr marL="342900" indent="-342900">
              <a:spcAft>
                <a:spcPts val="900"/>
              </a:spcAft>
              <a:buSzPct val="100000"/>
              <a:buChar char="→"/>
            </a:pPr>
            <a:r>
              <a:rPr lang="en-US" sz="1250" dirty="0">
                <a:solidFill>
                  <a:srgbClr val="1A1E22"/>
                </a:solidFill>
                <a:latin typeface="Calibri" pitchFamily="34" charset="0"/>
                <a:ea typeface="Calibri" pitchFamily="34" charset="-122"/>
                <a:cs typeface="Calibri" pitchFamily="34" charset="-120"/>
              </a:rPr>
              <a:t>Write three sentences: what changed, what happened, why.</a:t>
            </a:r>
            <a:endParaRPr lang="en-US" sz="1250" dirty="0"/>
          </a:p>
        </p:txBody>
      </p:sp>
      <p:sp>
        <p:nvSpPr>
          <p:cNvPr id="6" name="Shape 4"/>
          <p:cNvSpPr/>
          <p:nvPr/>
        </p:nvSpPr>
        <p:spPr>
          <a:xfrm>
            <a:off x="7269480" y="1600200"/>
            <a:ext cx="4251960" cy="4846320"/>
          </a:xfrm>
          <a:prstGeom prst="roundRect">
            <a:avLst>
              <a:gd name="adj" fmla="val 1290"/>
            </a:avLst>
          </a:prstGeom>
          <a:solidFill>
            <a:srgbClr val="3E5064"/>
          </a:solidFill>
          <a:ln/>
        </p:spPr>
      </p:sp>
      <p:sp>
        <p:nvSpPr>
          <p:cNvPr id="7" name="Text 5"/>
          <p:cNvSpPr txBox="1"/>
          <p:nvPr/>
        </p:nvSpPr>
        <p:spPr>
          <a:xfrm>
            <a:off x="7498080" y="1783080"/>
            <a:ext cx="3840480" cy="320040"/>
          </a:xfrm>
          <a:prstGeom prst="rect">
            <a:avLst/>
          </a:prstGeom>
          <a:noFill/>
          <a:ln/>
        </p:spPr>
        <p:txBody>
          <a:bodyPr wrap="square" lIns="0" tIns="0" rIns="0" bIns="0" rtlCol="0" anchor="ctr"/>
          <a:lstStyle/>
          <a:p>
            <a:pPr indent="0" marL="0">
              <a:buNone/>
            </a:pPr>
            <a:r>
              <a:rPr lang="en-US" sz="1100" b="1" spc="100" kern="0" dirty="0">
                <a:solidFill>
                  <a:srgbClr val="D9932B"/>
                </a:solidFill>
                <a:latin typeface="Consolas" pitchFamily="34" charset="0"/>
                <a:ea typeface="Consolas" pitchFamily="34" charset="-122"/>
                <a:cs typeface="Consolas" pitchFamily="34" charset="-120"/>
              </a:rPr>
              <a:t>RULES</a:t>
            </a:r>
            <a:endParaRPr lang="en-US" sz="1100" dirty="0"/>
          </a:p>
        </p:txBody>
      </p:sp>
      <p:sp>
        <p:nvSpPr>
          <p:cNvPr id="8" name="Text 6"/>
          <p:cNvSpPr txBox="1"/>
          <p:nvPr/>
        </p:nvSpPr>
        <p:spPr>
          <a:xfrm>
            <a:off x="7498080" y="2148840"/>
            <a:ext cx="3886200" cy="420624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F5F7F3"/>
                </a:solidFill>
                <a:latin typeface="Calibri" pitchFamily="34" charset="0"/>
                <a:ea typeface="Calibri" pitchFamily="34" charset="-122"/>
                <a:cs typeface="Calibri" pitchFamily="34" charset="-120"/>
              </a:rPr>
              <a:t>Keep the example in one Python file.</a:t>
            </a:r>
            <a:endParaRPr lang="en-US" sz="1150" dirty="0"/>
          </a:p>
          <a:p>
            <a:pPr marL="342900" indent="-342900">
              <a:spcAft>
                <a:spcPts val="700"/>
              </a:spcAft>
              <a:buSzPct val="100000"/>
              <a:buChar char="•"/>
            </a:pPr>
            <a:r>
              <a:rPr lang="en-US" sz="1150" dirty="0">
                <a:solidFill>
                  <a:srgbClr val="F5F7F3"/>
                </a:solidFill>
                <a:latin typeface="Calibri" pitchFamily="34" charset="0"/>
                <a:ea typeface="Calibri" pitchFamily="34" charset="-122"/>
                <a:cs typeface="Calibri" pitchFamily="34" charset="-120"/>
              </a:rPr>
              <a:t>Use LangGraph directly.</a:t>
            </a:r>
            <a:endParaRPr lang="en-US" sz="1150" dirty="0"/>
          </a:p>
          <a:p>
            <a:pPr marL="342900" indent="-342900">
              <a:spcAft>
                <a:spcPts val="700"/>
              </a:spcAft>
              <a:buSzPct val="100000"/>
              <a:buChar char="•"/>
            </a:pPr>
            <a:r>
              <a:rPr lang="en-US" sz="1150" dirty="0">
                <a:solidFill>
                  <a:srgbClr val="F5F7F3"/>
                </a:solidFill>
                <a:latin typeface="Calibri" pitchFamily="34" charset="0"/>
                <a:ea typeface="Calibri" pitchFamily="34" charset="-122"/>
                <a:cs typeface="Calibri" pitchFamily="34" charset="-120"/>
              </a:rPr>
              <a:t>No test folder or helper package.</a:t>
            </a:r>
            <a:endParaRPr lang="en-US" sz="1150" dirty="0"/>
          </a:p>
          <a:p>
            <a:pPr marL="342900" indent="-342900">
              <a:spcAft>
                <a:spcPts val="700"/>
              </a:spcAft>
              <a:buSzPct val="100000"/>
              <a:buChar char="•"/>
            </a:pPr>
            <a:r>
              <a:rPr lang="en-US" sz="1150" dirty="0">
                <a:solidFill>
                  <a:srgbClr val="F5F7F3"/>
                </a:solidFill>
                <a:latin typeface="Calibri" pitchFamily="34" charset="0"/>
                <a:ea typeface="Calibri" pitchFamily="34" charset="-122"/>
                <a:cs typeface="Calibri" pitchFamily="34" charset="-120"/>
              </a:rPr>
              <a:t>Use the uv commands shown — no other package manager.</a:t>
            </a:r>
            <a:endParaRPr lang="en-US" sz="1150" dirty="0"/>
          </a:p>
          <a:p>
            <a:pPr marL="342900" indent="-342900">
              <a:spcAft>
                <a:spcPts val="700"/>
              </a:spcAft>
              <a:buSzPct val="100000"/>
              <a:buChar char="•"/>
            </a:pPr>
            <a:r>
              <a:rPr lang="en-US" sz="1150" dirty="0">
                <a:solidFill>
                  <a:srgbClr val="F5F7F3"/>
                </a:solidFill>
                <a:latin typeface="Calibri" pitchFamily="34" charset="0"/>
                <a:ea typeface="Calibri" pitchFamily="34" charset="-122"/>
                <a:cs typeface="Calibri" pitchFamily="34" charset="-120"/>
              </a:rPr>
              <a:t>No Ollama call — this session is intentionally deterministic.</a:t>
            </a:r>
            <a:endParaRPr lang="en-US" sz="1150" dirty="0"/>
          </a:p>
        </p:txBody>
      </p:sp>
      <p:sp>
        <p:nvSpPr>
          <p:cNvPr id="9" name="Text 7"/>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14  ·  TOKEN TAXONOMY &amp; ECONOMICS</a:t>
            </a:r>
            <a:endParaRPr lang="en-US" sz="900" dirty="0"/>
          </a:p>
        </p:txBody>
      </p:sp>
      <p:sp>
        <p:nvSpPr>
          <p:cNvPr id="10" name="Text 8"/>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71B"/>
        </a:solidFill>
      </p:bgPr>
    </p:bg>
    <p:spTree>
      <p:nvGrpSpPr>
        <p:cNvPr id="1" name=""/>
        <p:cNvGrpSpPr/>
        <p:nvPr/>
      </p:nvGrpSpPr>
      <p:grpSpPr>
        <a:xfrm>
          <a:off x="0" y="0"/>
          <a:ext cx="0" cy="0"/>
          <a:chOff x="0" y="0"/>
          <a:chExt cx="0" cy="0"/>
        </a:xfrm>
      </p:grpSpPr>
      <p:sp>
        <p:nvSpPr>
          <p:cNvPr id="2" name="Text 0"/>
          <p:cNvSpPr txBox="1"/>
          <p:nvPr/>
        </p:nvSpPr>
        <p:spPr>
          <a:xfrm>
            <a:off x="640080" y="502920"/>
            <a:ext cx="9144000" cy="548640"/>
          </a:xfrm>
          <a:prstGeom prst="rect">
            <a:avLst/>
          </a:prstGeom>
          <a:noFill/>
          <a:ln/>
        </p:spPr>
        <p:txBody>
          <a:bodyPr wrap="square" lIns="0" tIns="0" rIns="0" bIns="0" rtlCol="0" anchor="ctr"/>
          <a:lstStyle/>
          <a:p>
            <a:pPr indent="0" marL="0">
              <a:buNone/>
            </a:pPr>
            <a:r>
              <a:rPr lang="en-US" sz="2600" b="1" dirty="0">
                <a:solidFill>
                  <a:srgbClr val="FFFFFF"/>
                </a:solidFill>
                <a:latin typeface="Consolas" pitchFamily="34" charset="0"/>
                <a:ea typeface="Consolas" pitchFamily="34" charset="-122"/>
                <a:cs typeface="Consolas" pitchFamily="34" charset="-120"/>
              </a:rPr>
              <a:t>Before You Move On</a:t>
            </a:r>
            <a:endParaRPr lang="en-US" sz="2600" dirty="0"/>
          </a:p>
        </p:txBody>
      </p:sp>
      <p:sp>
        <p:nvSpPr>
          <p:cNvPr id="3" name="Text 1"/>
          <p:cNvSpPr txBox="1"/>
          <p:nvPr/>
        </p:nvSpPr>
        <p:spPr>
          <a:xfrm>
            <a:off x="685800" y="1280160"/>
            <a:ext cx="7498080" cy="4572000"/>
          </a:xfrm>
          <a:prstGeom prst="rect">
            <a:avLst/>
          </a:prstGeom>
          <a:noFill/>
          <a:ln/>
        </p:spPr>
        <p:txBody>
          <a:bodyPr wrap="square" lIns="0" tIns="0" rIns="0" bIns="0" rtlCol="0" anchor="t"/>
          <a:lstStyle/>
          <a:p>
            <a:pPr marL="342900" indent="-342900">
              <a:spcAft>
                <a:spcPts val="1000"/>
              </a:spcAft>
              <a:buSzPct val="100000"/>
              <a:buChar char="✓"/>
            </a:pPr>
            <a:r>
              <a:rPr lang="en-US" sz="1350" dirty="0">
                <a:solidFill>
                  <a:srgbClr val="E8ECEF"/>
                </a:solidFill>
                <a:latin typeface="Calibri" pitchFamily="34" charset="0"/>
                <a:ea typeface="Calibri" pitchFamily="34" charset="-122"/>
                <a:cs typeface="Calibri" pitchFamily="34" charset="-120"/>
              </a:rPr>
              <a:t>The file runs without errors.</a:t>
            </a:r>
            <a:endParaRPr lang="en-US" sz="1350" dirty="0"/>
          </a:p>
          <a:p>
            <a:pPr marL="342900" indent="-342900">
              <a:spcAft>
                <a:spcPts val="1000"/>
              </a:spcAft>
              <a:buSzPct val="100000"/>
              <a:buChar char="✓"/>
            </a:pPr>
            <a:r>
              <a:rPr lang="en-US" sz="1350" dirty="0">
                <a:solidFill>
                  <a:srgbClr val="E8ECEF"/>
                </a:solidFill>
                <a:latin typeface="Calibri" pitchFamily="34" charset="0"/>
                <a:ea typeface="Calibri" pitchFamily="34" charset="-122"/>
                <a:cs typeface="Calibri" pitchFamily="34" charset="-120"/>
              </a:rPr>
              <a:t>You can name the state, nodes, and edges.</a:t>
            </a:r>
            <a:endParaRPr lang="en-US" sz="1350" dirty="0"/>
          </a:p>
          <a:p>
            <a:pPr marL="342900" indent="-342900">
              <a:spcAft>
                <a:spcPts val="1000"/>
              </a:spcAft>
              <a:buSzPct val="100000"/>
              <a:buChar char="✓"/>
            </a:pPr>
            <a:r>
              <a:rPr lang="en-US" sz="1350" dirty="0">
                <a:solidFill>
                  <a:srgbClr val="E8ECEF"/>
                </a:solidFill>
                <a:latin typeface="Calibri" pitchFamily="34" charset="0"/>
                <a:ea typeface="Calibri" pitchFamily="34" charset="-122"/>
                <a:cs typeface="Calibri" pitchFamily="34" charset="-120"/>
              </a:rPr>
              <a:t>You can explain where each word count comes from.</a:t>
            </a:r>
            <a:endParaRPr lang="en-US" sz="1350" dirty="0"/>
          </a:p>
          <a:p>
            <a:pPr marL="342900" indent="-342900">
              <a:spcAft>
                <a:spcPts val="1000"/>
              </a:spcAft>
              <a:buSzPct val="100000"/>
              <a:buChar char="✓"/>
            </a:pPr>
            <a:r>
              <a:rPr lang="en-US" sz="1350" dirty="0">
                <a:solidFill>
                  <a:srgbClr val="E8ECEF"/>
                </a:solidFill>
                <a:latin typeface="Calibri" pitchFamily="34" charset="0"/>
                <a:ea typeface="Calibri" pitchFamily="34" charset="-122"/>
                <a:cs typeface="Calibri" pitchFamily="34" charset="-120"/>
              </a:rPr>
              <a:t>You made one small change, prediction first.</a:t>
            </a:r>
            <a:endParaRPr lang="en-US" sz="1350" dirty="0"/>
          </a:p>
        </p:txBody>
      </p:sp>
      <p:sp>
        <p:nvSpPr>
          <p:cNvPr id="4" name="Shape 2"/>
          <p:cNvSpPr/>
          <p:nvPr/>
        </p:nvSpPr>
        <p:spPr>
          <a:xfrm>
            <a:off x="8503920" y="1280160"/>
            <a:ext cx="3017520" cy="4572000"/>
          </a:xfrm>
          <a:prstGeom prst="roundRect">
            <a:avLst>
              <a:gd name="adj" fmla="val 1818"/>
            </a:avLst>
          </a:prstGeom>
          <a:solidFill>
            <a:srgbClr val="1E232A"/>
          </a:solidFill>
          <a:ln w="12700">
            <a:solidFill>
              <a:srgbClr val="2E353D"/>
            </a:solidFill>
            <a:prstDash val="solid"/>
          </a:ln>
        </p:spPr>
      </p:sp>
      <p:sp>
        <p:nvSpPr>
          <p:cNvPr id="5" name="Text 3"/>
          <p:cNvSpPr txBox="1"/>
          <p:nvPr/>
        </p:nvSpPr>
        <p:spPr>
          <a:xfrm>
            <a:off x="8732520" y="1463040"/>
            <a:ext cx="2560320" cy="274320"/>
          </a:xfrm>
          <a:prstGeom prst="rect">
            <a:avLst/>
          </a:prstGeom>
          <a:noFill/>
          <a:ln/>
        </p:spPr>
        <p:txBody>
          <a:bodyPr wrap="square" lIns="0" tIns="0" rIns="0" bIns="0" rtlCol="0" anchor="ctr"/>
          <a:lstStyle/>
          <a:p>
            <a:pPr indent="0" marL="0">
              <a:buNone/>
            </a:pPr>
            <a:r>
              <a:rPr lang="en-US" sz="1000" b="1" spc="100" kern="0" dirty="0">
                <a:solidFill>
                  <a:srgbClr val="D9932B"/>
                </a:solidFill>
                <a:latin typeface="Consolas" pitchFamily="34" charset="0"/>
                <a:ea typeface="Consolas" pitchFamily="34" charset="-122"/>
                <a:cs typeface="Consolas" pitchFamily="34" charset="-120"/>
              </a:rPr>
              <a:t>USEFUL LINKS</a:t>
            </a:r>
            <a:endParaRPr lang="en-US" sz="1000" dirty="0"/>
          </a:p>
        </p:txBody>
      </p:sp>
      <p:sp>
        <p:nvSpPr>
          <p:cNvPr id="6" name="Text 4">
            <a:hlinkClick r:id="rId1" tooltip=""/>
          </p:cNvPr>
          <p:cNvSpPr txBox="1"/>
          <p:nvPr/>
        </p:nvSpPr>
        <p:spPr>
          <a:xfrm>
            <a:off x="8732520" y="1828800"/>
            <a:ext cx="2560320" cy="411480"/>
          </a:xfrm>
          <a:prstGeom prst="rect">
            <a:avLst/>
          </a:prstGeom>
          <a:noFill/>
          <a:ln/>
        </p:spPr>
        <p:txBody>
          <a:bodyPr wrap="square" lIns="0" tIns="0" rIns="0" bIns="0" rtlCol="0" anchor="ctr"/>
          <a:lstStyle/>
          <a:p>
            <a:pPr indent="0" marL="0">
              <a:buNone/>
            </a:pPr>
            <a:r>
              <a:rPr lang="en-US" sz="1150" u="sng" dirty="0">
                <a:solidFill>
                  <a:srgbClr val="CFE8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Day 14 README</a:t>
            </a:r>
            <a:endParaRPr lang="en-US" sz="1150" dirty="0"/>
          </a:p>
        </p:txBody>
      </p:sp>
      <p:sp>
        <p:nvSpPr>
          <p:cNvPr id="7" name="Text 5">
            <a:hlinkClick r:id="rId2" tooltip="" action="ppaction://hlinksldjump"/>
          </p:cNvPr>
          <p:cNvSpPr txBox="1"/>
          <p:nvPr/>
        </p:nvSpPr>
        <p:spPr>
          <a:xfrm>
            <a:off x="685800" y="6126480"/>
            <a:ext cx="1828800" cy="320040"/>
          </a:xfrm>
          <a:prstGeom prst="rect">
            <a:avLst/>
          </a:prstGeom>
          <a:noFill/>
          <a:ln/>
        </p:spPr>
        <p:txBody>
          <a:bodyPr wrap="square" lIns="0" tIns="0" rIns="0" bIns="0" rtlCol="0" anchor="ctr"/>
          <a:lstStyle/>
          <a:p>
            <a:pPr indent="0" marL="0">
              <a:buNone/>
            </a:pPr>
            <a:r>
              <a:rPr lang="en-US" sz="1100" u="sng" dirty="0">
                <a:solidFill>
                  <a:srgbClr val="8A939A"/>
                </a:solidFill>
                <a:latin typeface="Consolas" pitchFamily="34" charset="0"/>
                <a:ea typeface="Consolas" pitchFamily="34" charset="-122"/>
                <a:cs typeface="Consolas" pitchFamily="34" charset="-120"/>
                <a:hlinkClick r:id="rId2" action="ppaction://hlinksldjump" tooltip="">
                  <a:extLst>
                    <a:ext uri="{A12FA001-AC4F-418D-AE19-62706E023703}">
                      <ahyp:hlinkClr xmlns:ahyp="http://schemas.microsoft.com/office/drawing/2018/hyperlinkcolor" val="tx"/>
                    </a:ext>
                  </a:extLst>
                </a:hlinkClick>
              </a:rPr>
              <a:t>↑ agenda</a:t>
            </a:r>
            <a:endParaRPr lang="en-US" sz="1100" dirty="0"/>
          </a:p>
        </p:txBody>
      </p:sp>
      <p:sp>
        <p:nvSpPr>
          <p:cNvPr id="8" name="Shape 6"/>
          <p:cNvSpPr/>
          <p:nvPr/>
        </p:nvSpPr>
        <p:spPr>
          <a:xfrm>
            <a:off x="8503920" y="5989320"/>
            <a:ext cx="3017520" cy="548640"/>
          </a:xfrm>
          <a:prstGeom prst="roundRect">
            <a:avLst>
              <a:gd name="adj" fmla="val 50000"/>
            </a:avLst>
          </a:prstGeom>
          <a:solidFill>
            <a:srgbClr val="D9932B"/>
          </a:solidFill>
          <a:ln/>
        </p:spPr>
      </p:sp>
      <p:sp>
        <p:nvSpPr>
          <p:cNvPr id="9" name="Text 7">
            <a:hlinkClick r:id="rId3" tooltip=""/>
          </p:cNvPr>
          <p:cNvSpPr txBox="1"/>
          <p:nvPr/>
        </p:nvSpPr>
        <p:spPr>
          <a:xfrm>
            <a:off x="8503920" y="5989320"/>
            <a:ext cx="3017520" cy="548640"/>
          </a:xfrm>
          <a:prstGeom prst="rect">
            <a:avLst/>
          </a:prstGeom>
          <a:noFill/>
          <a:ln/>
        </p:spPr>
        <p:txBody>
          <a:bodyPr wrap="square" lIns="0" tIns="0" rIns="0" bIns="0" rtlCol="0" anchor="ctr"/>
          <a:lstStyle/>
          <a:p>
            <a:pPr algn="ctr" indent="0" marL="0">
              <a:buNone/>
            </a:pPr>
            <a:r>
              <a:rPr lang="en-US" sz="1200" b="1" u="sng" dirty="0">
                <a:solidFill>
                  <a:srgbClr val="241A0A"/>
                </a:solidFill>
                <a:latin typeface="Consolas" pitchFamily="34" charset="0"/>
                <a:ea typeface="Consolas" pitchFamily="34" charset="-122"/>
                <a:cs typeface="Consolas" pitchFamily="34" charset="-120"/>
                <a:hlinkClick r:id="rId3" invalidUrl="" action="" tgtFrame="" tooltip="" history="1" highlightClick="0" endSnd="0">
                  <a:extLst>
                    <a:ext uri="{A12FA001-AC4F-418D-AE19-62706E023703}">
                      <ahyp:hlinkClr xmlns:ahyp="http://schemas.microsoft.com/office/drawing/2018/hyperlinkcolor" val="tx"/>
                    </a:ext>
                  </a:extLst>
                </a:hlinkClick>
              </a:rPr>
              <a:t>Next: Day 15  →</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L2 Agent Engineering</dc:creator>
  <cp:lastModifiedBy>L2 Agent Engineering</cp:lastModifiedBy>
  <cp:revision>1</cp:revision>
  <dcterms:created xsi:type="dcterms:W3CDTF">2026-09-07T10:04:29Z</dcterms:created>
  <dcterms:modified xsi:type="dcterms:W3CDTF">2026-09-07T10:04:29Z</dcterms:modified>
</cp:coreProperties>
</file>