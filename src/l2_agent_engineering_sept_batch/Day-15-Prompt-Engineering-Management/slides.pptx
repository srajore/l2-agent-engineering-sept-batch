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selects between two versioned prompts before calling the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any row to jump straight to that section.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selects between two versioned prompts before calling the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selects between two versioned prompts before calling the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selects between two versioned prompts before calling the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selects between two versioned prompts before calling the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selects between two versioned prompts before calling the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selects between two versioned prompts before calling the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selects between two versioned prompts before calling the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selects between two versioned prompts before calling the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selects between two versioned prompts before calling the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../Day-14-Token-Taxonomy-Economics/slides.pptx" TargetMode="External"/><Relationship Id="rId2" Type="http://schemas.openxmlformats.org/officeDocument/2006/relationships/slide" Target="slide2.xml"/><Relationship Id="rId3" Type="http://schemas.openxmlformats.org/officeDocument/2006/relationships/hyperlink" Target="../Day-16-Claude-Code-Fundamentals/slides.pptx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4.xml"/><Relationship Id="rId3" Type="http://schemas.openxmlformats.org/officeDocument/2006/relationships/slide" Target="slide6.xml"/><Relationship Id="rId4" Type="http://schemas.openxmlformats.org/officeDocument/2006/relationships/slide" Target="slide7.xml"/><Relationship Id="rId5" Type="http://schemas.openxmlformats.org/officeDocument/2006/relationships/slide" Target="slide9.xml"/><Relationship Id="rId6" Type="http://schemas.openxmlformats.org/officeDocument/2006/relationships/slide" Target="slide10.xml"/><Relationship Id="rId7" Type="http://schemas.openxmlformats.org/officeDocument/2006/relationships/slide" Target="slide11.xml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example.py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example.py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README.md" TargetMode="External"/><Relationship Id="rId2" Type="http://schemas.openxmlformats.org/officeDocument/2006/relationships/slide" Target="slide2.xml"/><Relationship Id="rId3" Type="http://schemas.openxmlformats.org/officeDocument/2006/relationships/hyperlink" Target="../Day-16-Claude-Code-Fundamentals/slides.pptx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7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9692640" y="685800"/>
            <a:ext cx="1188720" cy="411480"/>
          </a:xfrm>
          <a:prstGeom prst="line">
            <a:avLst/>
          </a:prstGeom>
          <a:noFill/>
          <a:ln w="15875">
            <a:solidFill>
              <a:srgbClr val="8A9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81360" y="685800"/>
            <a:ext cx="548640" cy="1051560"/>
          </a:xfrm>
          <a:prstGeom prst="line">
            <a:avLst/>
          </a:prstGeom>
          <a:noFill/>
          <a:ln w="15875">
            <a:solidFill>
              <a:srgbClr val="8A9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1097280"/>
            <a:ext cx="685800" cy="1234440"/>
          </a:xfrm>
          <a:prstGeom prst="line">
            <a:avLst/>
          </a:prstGeom>
          <a:noFill/>
          <a:ln w="15875">
            <a:solidFill>
              <a:srgbClr val="8A9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0378440" y="1737360"/>
            <a:ext cx="1051560" cy="594360"/>
          </a:xfrm>
          <a:prstGeom prst="line">
            <a:avLst/>
          </a:prstGeom>
          <a:noFill/>
          <a:ln w="15875">
            <a:solidFill>
              <a:srgbClr val="8A9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78440" y="2331720"/>
            <a:ext cx="914400" cy="548640"/>
          </a:xfrm>
          <a:prstGeom prst="line">
            <a:avLst/>
          </a:prstGeom>
          <a:noFill/>
          <a:ln w="15875">
            <a:solidFill>
              <a:srgbClr val="8A939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>
            <a:off x="11292840" y="1737360"/>
            <a:ext cx="137160" cy="1143000"/>
          </a:xfrm>
          <a:prstGeom prst="line">
            <a:avLst/>
          </a:prstGeom>
          <a:noFill/>
          <a:ln w="15875">
            <a:solidFill>
              <a:srgbClr val="8A93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08592" y="713232"/>
            <a:ext cx="768096" cy="768096"/>
          </a:xfrm>
          <a:prstGeom prst="ellipse">
            <a:avLst/>
          </a:prstGeom>
          <a:solidFill>
            <a:srgbClr val="3E5064"/>
          </a:solidFill>
          <a:ln/>
        </p:spPr>
      </p:sp>
      <p:sp>
        <p:nvSpPr>
          <p:cNvPr id="9" name="Shape 7"/>
          <p:cNvSpPr/>
          <p:nvPr/>
        </p:nvSpPr>
        <p:spPr>
          <a:xfrm>
            <a:off x="10625328" y="429768"/>
            <a:ext cx="512064" cy="512064"/>
          </a:xfrm>
          <a:prstGeom prst="ellipse">
            <a:avLst/>
          </a:prstGeom>
          <a:solidFill>
            <a:srgbClr val="D9932B"/>
          </a:solidFill>
          <a:ln/>
        </p:spPr>
      </p:sp>
      <p:sp>
        <p:nvSpPr>
          <p:cNvPr id="10" name="Shape 8"/>
          <p:cNvSpPr/>
          <p:nvPr/>
        </p:nvSpPr>
        <p:spPr>
          <a:xfrm>
            <a:off x="11009376" y="1316736"/>
            <a:ext cx="841248" cy="841248"/>
          </a:xfrm>
          <a:prstGeom prst="ellipse">
            <a:avLst/>
          </a:prstGeom>
          <a:solidFill>
            <a:srgbClr val="3E5064"/>
          </a:solidFill>
          <a:ln/>
        </p:spPr>
      </p:sp>
      <p:sp>
        <p:nvSpPr>
          <p:cNvPr id="11" name="Shape 9"/>
          <p:cNvSpPr/>
          <p:nvPr/>
        </p:nvSpPr>
        <p:spPr>
          <a:xfrm>
            <a:off x="10076688" y="2029968"/>
            <a:ext cx="603504" cy="603504"/>
          </a:xfrm>
          <a:prstGeom prst="ellipse">
            <a:avLst/>
          </a:prstGeom>
          <a:solidFill>
            <a:srgbClr val="57646F"/>
          </a:solidFill>
          <a:ln/>
        </p:spPr>
      </p:sp>
      <p:sp>
        <p:nvSpPr>
          <p:cNvPr id="12" name="Shape 10"/>
          <p:cNvSpPr/>
          <p:nvPr/>
        </p:nvSpPr>
        <p:spPr>
          <a:xfrm>
            <a:off x="11055096" y="2642616"/>
            <a:ext cx="475488" cy="475488"/>
          </a:xfrm>
          <a:prstGeom prst="ellipse">
            <a:avLst/>
          </a:prstGeom>
          <a:solidFill>
            <a:srgbClr val="D9932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502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15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8A9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ENGINEER IT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2606040"/>
            <a:ext cx="8778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Engineering &amp; Management</a:t>
            </a:r>
            <a:endParaRPr lang="en-US" sz="40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4348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A9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prompt deserves the same version discipline as code.</a:t>
            </a:r>
            <a:endParaRPr lang="en-US" sz="1500" dirty="0"/>
          </a:p>
        </p:txBody>
      </p:sp>
      <p:sp>
        <p:nvSpPr>
          <p:cNvPr id="17" name="Text 15">
            <a:hlinkClick r:id="rId1" tooltip=""/>
          </p:cNvPr>
          <p:cNvSpPr txBox="1"/>
          <p:nvPr/>
        </p:nvSpPr>
        <p:spPr>
          <a:xfrm>
            <a:off x="640080" y="5989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8A9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 Day 14</a:t>
            </a:r>
            <a:endParaRPr lang="en-US" sz="1100" dirty="0"/>
          </a:p>
        </p:txBody>
      </p:sp>
      <p:sp>
        <p:nvSpPr>
          <p:cNvPr id="18" name="Text 16">
            <a:hlinkClick r:id="rId2" tooltip="" action="ppaction://hlinksldjump"/>
          </p:cNvPr>
          <p:cNvSpPr txBox="1"/>
          <p:nvPr/>
        </p:nvSpPr>
        <p:spPr>
          <a:xfrm>
            <a:off x="5029200" y="59893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u="sng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↓  agenda</a:t>
            </a:r>
            <a:endParaRPr lang="en-US" sz="1100" dirty="0"/>
          </a:p>
        </p:txBody>
      </p:sp>
      <p:sp>
        <p:nvSpPr>
          <p:cNvPr id="19" name="Text 17">
            <a:hlinkClick r:id="rId3" tooltip=""/>
          </p:cNvPr>
          <p:cNvSpPr txBox="1"/>
          <p:nvPr/>
        </p:nvSpPr>
        <p:spPr>
          <a:xfrm>
            <a:off x="7680960" y="5989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u="sng" dirty="0">
                <a:solidFill>
                  <a:srgbClr val="8A9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Day 16  →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python Day-15-Prompt-Engineering-Management\example.py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What's Inside Today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&amp; Management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178308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>
            <a:hlinkClick r:id="rId1" tooltip="" action="ppaction://hlinksldjump"/>
          </p:cNvPr>
          <p:cNvSpPr txBox="1"/>
          <p:nvPr/>
        </p:nvSpPr>
        <p:spPr>
          <a:xfrm>
            <a:off x="1417320" y="178308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Why This Matters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178308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82512" y="178308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>
            <a:hlinkClick r:id="rId2" tooltip="" action="ppaction://hlinksldjump"/>
          </p:cNvPr>
          <p:cNvSpPr txBox="1"/>
          <p:nvPr/>
        </p:nvSpPr>
        <p:spPr>
          <a:xfrm>
            <a:off x="6995160" y="178308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Key Concepts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265176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4672" y="265176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600" dirty="0"/>
          </a:p>
        </p:txBody>
      </p:sp>
      <p:sp>
        <p:nvSpPr>
          <p:cNvPr id="12" name="Text 10">
            <a:hlinkClick r:id="rId3" tooltip="" action="ppaction://hlinksldjump"/>
          </p:cNvPr>
          <p:cNvSpPr txBox="1"/>
          <p:nvPr/>
        </p:nvSpPr>
        <p:spPr>
          <a:xfrm>
            <a:off x="1417320" y="265176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It's Built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17920" y="265176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82512" y="265176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600" dirty="0"/>
          </a:p>
        </p:txBody>
      </p:sp>
      <p:sp>
        <p:nvSpPr>
          <p:cNvPr id="15" name="Text 13">
            <a:hlinkClick r:id="rId4" tooltip="" action="ppaction://hlinksldjump"/>
          </p:cNvPr>
          <p:cNvSpPr txBox="1"/>
          <p:nvPr/>
        </p:nvSpPr>
        <p:spPr>
          <a:xfrm>
            <a:off x="6995160" y="265176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Code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352044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4672" y="352044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600" dirty="0"/>
          </a:p>
        </p:txBody>
      </p:sp>
      <p:sp>
        <p:nvSpPr>
          <p:cNvPr id="18" name="Text 16">
            <a:hlinkClick r:id="rId5" tooltip="" action="ppaction://hlinksldjump"/>
          </p:cNvPr>
          <p:cNvSpPr txBox="1"/>
          <p:nvPr/>
        </p:nvSpPr>
        <p:spPr>
          <a:xfrm>
            <a:off x="1417320" y="352044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Hands-On Lab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17920" y="352044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82512" y="352044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600" dirty="0"/>
          </a:p>
        </p:txBody>
      </p:sp>
      <p:sp>
        <p:nvSpPr>
          <p:cNvPr id="21" name="Text 19">
            <a:hlinkClick r:id="rId6" tooltip="" action="ppaction://hlinksldjump"/>
          </p:cNvPr>
          <p:cNvSpPr txBox="1"/>
          <p:nvPr/>
        </p:nvSpPr>
        <p:spPr>
          <a:xfrm>
            <a:off x="6995160" y="352044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Assignment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40080" y="438912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04672" y="438912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600" dirty="0"/>
          </a:p>
        </p:txBody>
      </p:sp>
      <p:sp>
        <p:nvSpPr>
          <p:cNvPr id="24" name="Text 22">
            <a:hlinkClick r:id="rId7" tooltip="" action="ppaction://hlinksldjump"/>
          </p:cNvPr>
          <p:cNvSpPr txBox="1"/>
          <p:nvPr/>
        </p:nvSpPr>
        <p:spPr>
          <a:xfrm>
            <a:off x="1417320" y="438912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Wrap-Up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15  ·  PROMPT ENGINEERING &amp; MANAGEMENT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3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486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This Matters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22960" y="1371600"/>
            <a:ext cx="1042416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7DCD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188720" y="1691640"/>
            <a:ext cx="96926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 to the model have been short strings embedded next to the call — fine at first, but harder to compare and improve as behavior evolves. Today treats a prompt as something worth managing on its own: named, versioned, tested, and switchable, comparing v1 (brief) against v2 (grounded, abstains, strict format).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15  ·  PROMPT ENGINEERING &amp; MANAGEMENT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Concepts  ·  Part 1 of 2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435608"/>
            <a:ext cx="457200" cy="457200"/>
          </a:xfrm>
          <a:prstGeom prst="ellipse">
            <a:avLst/>
          </a:prstGeom>
          <a:solidFill>
            <a:srgbClr val="D9932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1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32588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parts of a prompt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09928"/>
            <a:ext cx="9966960" cy="1988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constrains what's allowed. Objective describes one measurable outcome. Constraints rule out bad behavior (don't invent facts, abstain without context). An output contract defines a machine-checkable format.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762756"/>
            <a:ext cx="10515600" cy="914"/>
          </a:xfrm>
          <a:prstGeom prst="line">
            <a:avLst/>
          </a:prstGeom>
          <a:noFill/>
          <a:ln w="12700">
            <a:solidFill>
              <a:srgbClr val="D7DC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927348"/>
            <a:ext cx="457200" cy="457200"/>
          </a:xfrm>
          <a:prstGeom prst="ellipse">
            <a:avLst/>
          </a:prstGeom>
          <a:solidFill>
            <a:srgbClr val="3E506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9273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81762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Templates and variables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4201668"/>
            <a:ext cx="9966960" cy="1988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template has runtime variables like {question} and {context}. Rendering is a text-assembly step you can inspect before anything is sent — it doesn't call the model by itself.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15  ·  PROMPT ENGINEERING &amp; MANAGEMENT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Concepts  ·  Part 2 of 2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435608"/>
            <a:ext cx="457200" cy="457200"/>
          </a:xfrm>
          <a:prstGeom prst="ellipse">
            <a:avLst/>
          </a:prstGeom>
          <a:solidFill>
            <a:srgbClr val="3E506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32588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Naming, versions, and evidence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09928"/>
            <a:ext cx="9966960" cy="1988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stable identifier names what the prompt is for; version labels describe revisions. A registry and changelog make the current choice and its history visible, so you never overwrite or lose an earlier version.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762756"/>
            <a:ext cx="10515600" cy="914"/>
          </a:xfrm>
          <a:prstGeom prst="line">
            <a:avLst/>
          </a:prstGeom>
          <a:noFill/>
          <a:ln w="12700">
            <a:solidFill>
              <a:srgbClr val="D7DC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927348"/>
            <a:ext cx="457200" cy="457200"/>
          </a:xfrm>
          <a:prstGeom prst="ellipse">
            <a:avLst/>
          </a:prstGeom>
          <a:solidFill>
            <a:srgbClr val="3E506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9273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81762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Testing before promoting, and rolling back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4201668"/>
            <a:ext cx="9966960" cy="1988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a fixed set of test cases, run both versions, check with a simple deterministic rule. Only once a version clears that bar does it get promoted — and rollback to a retained version must always stay possible.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15  ·  PROMPT ENGINEERING &amp; MANAGEMENT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It's Built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875020" y="1988820"/>
            <a:ext cx="9144" cy="1143000"/>
          </a:xfrm>
          <a:prstGeom prst="line">
            <a:avLst/>
          </a:prstGeom>
          <a:noFill/>
          <a:ln w="22225">
            <a:solidFill>
              <a:srgbClr val="5B64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5792724" y="3031236"/>
            <a:ext cx="164592" cy="164592"/>
          </a:xfrm>
          <a:prstGeom prst="triangle">
            <a:avLst/>
          </a:prstGeom>
          <a:solidFill>
            <a:srgbClr val="5B646B"/>
          </a:solidFill>
          <a:ln/>
        </p:spPr>
      </p:sp>
      <p:sp>
        <p:nvSpPr>
          <p:cNvPr id="5" name="Shape 3"/>
          <p:cNvSpPr/>
          <p:nvPr/>
        </p:nvSpPr>
        <p:spPr>
          <a:xfrm>
            <a:off x="5875020" y="3131820"/>
            <a:ext cx="9144" cy="1143000"/>
          </a:xfrm>
          <a:prstGeom prst="line">
            <a:avLst/>
          </a:prstGeom>
          <a:noFill/>
          <a:ln w="22225">
            <a:solidFill>
              <a:srgbClr val="5B64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5792724" y="4174236"/>
            <a:ext cx="164592" cy="164592"/>
          </a:xfrm>
          <a:prstGeom prst="triangle">
            <a:avLst/>
          </a:prstGeom>
          <a:solidFill>
            <a:srgbClr val="5B646B"/>
          </a:solidFill>
          <a:ln/>
        </p:spPr>
      </p:sp>
      <p:sp>
        <p:nvSpPr>
          <p:cNvPr id="7" name="Shape 5"/>
          <p:cNvSpPr/>
          <p:nvPr/>
        </p:nvSpPr>
        <p:spPr>
          <a:xfrm>
            <a:off x="5875020" y="4274820"/>
            <a:ext cx="9144" cy="1143000"/>
          </a:xfrm>
          <a:prstGeom prst="line">
            <a:avLst/>
          </a:prstGeom>
          <a:noFill/>
          <a:ln w="22225">
            <a:solidFill>
              <a:srgbClr val="5B64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0800000">
            <a:off x="5792724" y="5317236"/>
            <a:ext cx="164592" cy="164592"/>
          </a:xfrm>
          <a:prstGeom prst="triangle">
            <a:avLst/>
          </a:prstGeom>
          <a:solidFill>
            <a:srgbClr val="5B646B"/>
          </a:solidFill>
          <a:ln/>
        </p:spPr>
      </p:sp>
      <p:sp>
        <p:nvSpPr>
          <p:cNvPr id="9" name="Shape 7"/>
          <p:cNvSpPr/>
          <p:nvPr/>
        </p:nvSpPr>
        <p:spPr>
          <a:xfrm>
            <a:off x="5728716" y="1842516"/>
            <a:ext cx="292608" cy="292608"/>
          </a:xfrm>
          <a:prstGeom prst="ellipse">
            <a:avLst/>
          </a:prstGeom>
          <a:solidFill>
            <a:srgbClr val="1A1E2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69180" y="21717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2848356"/>
            <a:ext cx="2423160" cy="566928"/>
          </a:xfrm>
          <a:prstGeom prst="roundRect">
            <a:avLst>
              <a:gd name="adj" fmla="val 8065"/>
            </a:avLst>
          </a:prstGeom>
          <a:solidFill>
            <a:srgbClr val="3E5064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736592" y="2848356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create_prompt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663440" y="3991356"/>
            <a:ext cx="2423160" cy="566928"/>
          </a:xfrm>
          <a:prstGeom prst="roundRect">
            <a:avLst>
              <a:gd name="adj" fmla="val 8065"/>
            </a:avLst>
          </a:prstGeom>
          <a:solidFill>
            <a:srgbClr val="3E5064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4736592" y="3991356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ask_model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4777740" y="45948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 CALL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728716" y="5271516"/>
            <a:ext cx="292608" cy="292608"/>
          </a:xfrm>
          <a:prstGeom prst="ellipse">
            <a:avLst/>
          </a:prstGeom>
          <a:solidFill>
            <a:srgbClr val="1A1E2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869180" y="56007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prompt is fully assembled from a chosen, named version before the model is ever called.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15  ·  PROMPT ENGINEERING &amp; MANAGEMENT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7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Code  ·  Part 1 of 2</a:t>
            </a:r>
            <a:endParaRPr lang="en-US" sz="2000" dirty="0"/>
          </a:p>
        </p:txBody>
      </p:sp>
      <p:sp>
        <p:nvSpPr>
          <p:cNvPr id="3" name="Text 1">
            <a:hlinkClick r:id="rId1" tooltip=""/>
          </p:cNvPr>
          <p:cNvSpPr txBox="1"/>
          <p:nvPr/>
        </p:nvSpPr>
        <p:spPr>
          <a:xfrm>
            <a:off x="8595360" y="365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example.py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914400"/>
            <a:ext cx="10881360" cy="5166360"/>
          </a:xfrm>
          <a:prstGeom prst="roundRect">
            <a:avLst>
              <a:gd name="adj" fmla="val 1062"/>
            </a:avLst>
          </a:prstGeom>
          <a:solidFill>
            <a:srgbClr val="1E232A"/>
          </a:solidFill>
          <a:ln w="12700">
            <a:solidFill>
              <a:srgbClr val="2E35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078992"/>
            <a:ext cx="104241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"""Session 15: select and use a clearly versioned prompt."""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import sys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 import ollama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 from langgraph.graph import END, START, StateGraph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 sys.stdout.reconfigure(encoding="utf-8")  # the model may answer with punctuation Command Prompt cannot print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 MODEL = "gpt-oss:120b-cloud"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 PROMPTS = {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     "v1": "Answer the IT request.",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     "v2": "Answer the IT request in one short sentence. Do not guess.",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 }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 def create_prompt(state):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     instruction = PROMPTS[state["version"]]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     return {"prompt": f"{instruction}\nRequest: {state['request']}"}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15  ·  PROMPT ENGINEERING &amp; MANAGEMENT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7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Code  ·  Part 2 of 2</a:t>
            </a:r>
            <a:endParaRPr lang="en-US" sz="2000" dirty="0"/>
          </a:p>
        </p:txBody>
      </p:sp>
      <p:sp>
        <p:nvSpPr>
          <p:cNvPr id="3" name="Text 1">
            <a:hlinkClick r:id="rId1" tooltip=""/>
          </p:cNvPr>
          <p:cNvSpPr txBox="1"/>
          <p:nvPr/>
        </p:nvSpPr>
        <p:spPr>
          <a:xfrm>
            <a:off x="8595360" y="365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example.py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914400"/>
            <a:ext cx="10881360" cy="5166360"/>
          </a:xfrm>
          <a:prstGeom prst="roundRect">
            <a:avLst>
              <a:gd name="adj" fmla="val 1062"/>
            </a:avLst>
          </a:prstGeom>
          <a:solidFill>
            <a:srgbClr val="1E232A"/>
          </a:solidFill>
          <a:ln w="12700">
            <a:solidFill>
              <a:srgbClr val="2E35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078992"/>
            <a:ext cx="104241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 def ask_model(state):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     response = ollama.chat(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         model=MODEL,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          messages=[{"role": "user", "content": state["prompt"]}],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27      )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      return {"answer": response["message"]["content"]}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 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 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  graph_builder = StateGraph(dict)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  graph_builder.add_node("create_prompt", create_prompt)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33  graph_builder.add_node("ask_model", ask_model)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  graph_builder.add_edge(START, "create_prompt")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  graph_builder.add_edge("create_prompt", "ask_model")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  graph_builder.add_edge("ask_model", END)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37  graph = graph_builder.compile()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 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39  result = graph.invoke({"version": "v2", "request": "The VPN is down."})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  print("Prompt version: v2")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41  print(result["answer"])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1539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Model-backed — needs Ollama running locally.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15  ·  PROMPT ENGINEERING &amp; MANAGEMENT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Hands-On Lab  ·  ~30 min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6400800" cy="5394960"/>
          </a:xfrm>
          <a:prstGeom prst="roundRect">
            <a:avLst>
              <a:gd name="adj" fmla="val 1017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1887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 to draw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150876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 -&gt; create_prompt -&gt; ask_model -&gt; END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48840"/>
            <a:ext cx="59436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example.py and find each node.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edges from START to END.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with version v1, then v2, same request — compare answers.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269480" y="1051560"/>
            <a:ext cx="4251960" cy="5394960"/>
          </a:xfrm>
          <a:prstGeom prst="roundRect">
            <a:avLst>
              <a:gd name="adj" fmla="val 1290"/>
            </a:avLst>
          </a:prstGeom>
          <a:solidFill>
            <a:srgbClr val="14171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0" y="1234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 QUESTION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498080" y="1600200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graph selects an approved prompt version — the choice is explicit in state, not hidden.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498080" y="36576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IT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498080" y="40233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python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Day-15-Prompt-Engineering-Management\example.py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489204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8A9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Ollama running locally with gpt-oss:120b-cloud available.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15  ·  PROMPT ENGINEERING &amp; MANAGEMENT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Assignment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012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one small change to example.py and explain how the result changes.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6400800" cy="4846320"/>
          </a:xfrm>
          <a:prstGeom prst="roundRect">
            <a:avLst>
              <a:gd name="adj" fmla="val 1132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783080"/>
            <a:ext cx="59436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→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sample input near the bottom of example.py.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→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current output without running the file.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→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example from the repository root.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→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only one input value or short sentence.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→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new route or output, then run again to confirm.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→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three sentences: what changed, what happened, why.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269480" y="1600200"/>
            <a:ext cx="4251960" cy="4846320"/>
          </a:xfrm>
          <a:prstGeom prst="roundRect">
            <a:avLst>
              <a:gd name="adj" fmla="val 1290"/>
            </a:avLst>
          </a:prstGeom>
          <a:solidFill>
            <a:srgbClr val="3E506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0" y="17830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498080" y="2148840"/>
            <a:ext cx="38862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example in one Python file.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LangGraph directly.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test folder or helper package.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uv commands shown — no other package manager.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MODEL = "gpt-oss:120b-cloud" unchanged.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15  ·  PROMPT ENGINEERING &amp; MANAGEMENT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7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 You Move 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280160"/>
            <a:ext cx="74980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file runs without errors (Ollama available).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name the state, nodes, and edges.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say which prompt version was actually used.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made one small change, prediction first.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8503920" y="1280160"/>
            <a:ext cx="3017520" cy="4572000"/>
          </a:xfrm>
          <a:prstGeom prst="roundRect">
            <a:avLst>
              <a:gd name="adj" fmla="val 1818"/>
            </a:avLst>
          </a:prstGeom>
          <a:solidFill>
            <a:srgbClr val="1E232A"/>
          </a:solidFill>
          <a:ln w="12700">
            <a:solidFill>
              <a:srgbClr val="2E35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732520" y="1463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USEFUL LINKS</a:t>
            </a:r>
            <a:endParaRPr lang="en-US" sz="1000" dirty="0"/>
          </a:p>
        </p:txBody>
      </p:sp>
      <p:sp>
        <p:nvSpPr>
          <p:cNvPr id="6" name="Text 4">
            <a:hlinkClick r:id="rId1" tooltip=""/>
          </p:cNvPr>
          <p:cNvSpPr txBox="1"/>
          <p:nvPr/>
        </p:nvSpPr>
        <p:spPr>
          <a:xfrm>
            <a:off x="8732520" y="18288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u="sng" dirty="0">
                <a:solidFill>
                  <a:srgbClr val="CFE8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Day 15 README</a:t>
            </a:r>
            <a:endParaRPr lang="en-US" sz="1150" dirty="0"/>
          </a:p>
        </p:txBody>
      </p:sp>
      <p:sp>
        <p:nvSpPr>
          <p:cNvPr id="7" name="Text 5">
            <a:hlinkClick r:id="rId2" tooltip="" action="ppaction://hlinksldjump"/>
          </p:cNvPr>
          <p:cNvSpPr txBox="1"/>
          <p:nvPr/>
        </p:nvSpPr>
        <p:spPr>
          <a:xfrm>
            <a:off x="685800" y="6126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8A9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agenda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503920" y="5989320"/>
            <a:ext cx="3017520" cy="548640"/>
          </a:xfrm>
          <a:prstGeom prst="roundRect">
            <a:avLst>
              <a:gd name="adj" fmla="val 50000"/>
            </a:avLst>
          </a:prstGeom>
          <a:solidFill>
            <a:srgbClr val="D9932B"/>
          </a:solidFill>
          <a:ln/>
        </p:spPr>
      </p:sp>
      <p:sp>
        <p:nvSpPr>
          <p:cNvPr id="9" name="Text 7">
            <a:hlinkClick r:id="rId3" tooltip=""/>
          </p:cNvPr>
          <p:cNvSpPr txBox="1"/>
          <p:nvPr/>
        </p:nvSpPr>
        <p:spPr>
          <a:xfrm>
            <a:off x="8503920" y="59893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241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Next: Day 16  →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L2 Agent Engineering</dc:creator>
  <cp:lastModifiedBy>L2 Agent Engineering</cp:lastModifiedBy>
  <cp:revision>1</cp:revision>
  <dcterms:created xsi:type="dcterms:W3CDTF">2026-09-07T10:04:29Z</dcterms:created>
  <dcterms:modified xsi:type="dcterms:W3CDTF">2026-09-07T10:04:29Z</dcterms:modified>
</cp:coreProperties>
</file>