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pauses a graph with interrupt and resumes it with Command(resume=...).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any row to jump straight to that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pauses a graph with interrupt and resumes it with Command(resume=...).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pauses a graph with interrupt and resumes it with Command(resume=...).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pauses a graph with interrupt and resumes it with Command(resume=...).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pauses a graph with interrupt and resumes it with Command(resume=...).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pauses a graph with interrupt and resumes it with Command(resume=...).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pauses a graph with interrupt and resumes it with Command(resume=...).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pauses a graph with interrupt and resumes it with Command(resume=...).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pauses a graph with interrupt and resumes it with Command(resume=...).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Day-07-State-Memory-Persistence/slides.pptx" TargetMode="External"/><Relationship Id="rId2" Type="http://schemas.openxmlformats.org/officeDocument/2006/relationships/slide" Target="slide2.xml"/><Relationship Id="rId3" Type="http://schemas.openxmlformats.org/officeDocument/2006/relationships/hyperlink" Target="../Day-09-RAG-Engineering/slides.pptx" TargetMode="External"/><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7.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example.py"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README.md" TargetMode="External"/><Relationship Id="rId2" Type="http://schemas.openxmlformats.org/officeDocument/2006/relationships/slide" Target="slide2.xml"/><Relationship Id="rId3" Type="http://schemas.openxmlformats.org/officeDocument/2006/relationships/hyperlink" Target="../Day-09-RAG-Engineering/slides.pptx" TargetMode="External"/><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B"/>
        </a:solidFill>
      </p:bgPr>
    </p:bg>
    <p:spTree>
      <p:nvGrpSpPr>
        <p:cNvPr id="1" name=""/>
        <p:cNvGrpSpPr/>
        <p:nvPr/>
      </p:nvGrpSpPr>
      <p:grpSpPr>
        <a:xfrm>
          <a:off x="0" y="0"/>
          <a:ext cx="0" cy="0"/>
          <a:chOff x="0" y="0"/>
          <a:chExt cx="0" cy="0"/>
        </a:xfrm>
      </p:grpSpPr>
      <p:sp>
        <p:nvSpPr>
          <p:cNvPr id="2" name="Shape 0"/>
          <p:cNvSpPr/>
          <p:nvPr/>
        </p:nvSpPr>
        <p:spPr>
          <a:xfrm flipV="1">
            <a:off x="9692640" y="685800"/>
            <a:ext cx="1188720" cy="411480"/>
          </a:xfrm>
          <a:prstGeom prst="line">
            <a:avLst/>
          </a:prstGeom>
          <a:noFill/>
          <a:ln w="15875">
            <a:solidFill>
              <a:srgbClr val="8A939A"/>
            </a:solidFill>
            <a:prstDash val="solid"/>
          </a:ln>
        </p:spPr>
      </p:sp>
      <p:sp>
        <p:nvSpPr>
          <p:cNvPr id="3" name="Shape 1"/>
          <p:cNvSpPr/>
          <p:nvPr/>
        </p:nvSpPr>
        <p:spPr>
          <a:xfrm>
            <a:off x="10881360" y="685800"/>
            <a:ext cx="548640" cy="1051560"/>
          </a:xfrm>
          <a:prstGeom prst="line">
            <a:avLst/>
          </a:prstGeom>
          <a:noFill/>
          <a:ln w="15875">
            <a:solidFill>
              <a:srgbClr val="8A939A"/>
            </a:solidFill>
            <a:prstDash val="solid"/>
          </a:ln>
        </p:spPr>
      </p:sp>
      <p:sp>
        <p:nvSpPr>
          <p:cNvPr id="4" name="Shape 2"/>
          <p:cNvSpPr/>
          <p:nvPr/>
        </p:nvSpPr>
        <p:spPr>
          <a:xfrm>
            <a:off x="9692640" y="1097280"/>
            <a:ext cx="685800" cy="1234440"/>
          </a:xfrm>
          <a:prstGeom prst="line">
            <a:avLst/>
          </a:prstGeom>
          <a:noFill/>
          <a:ln w="15875">
            <a:solidFill>
              <a:srgbClr val="8A939A"/>
            </a:solidFill>
            <a:prstDash val="solid"/>
          </a:ln>
        </p:spPr>
      </p:sp>
      <p:sp>
        <p:nvSpPr>
          <p:cNvPr id="5" name="Shape 3"/>
          <p:cNvSpPr/>
          <p:nvPr/>
        </p:nvSpPr>
        <p:spPr>
          <a:xfrm flipV="1">
            <a:off x="10378440" y="1737360"/>
            <a:ext cx="1051560" cy="594360"/>
          </a:xfrm>
          <a:prstGeom prst="line">
            <a:avLst/>
          </a:prstGeom>
          <a:noFill/>
          <a:ln w="15875">
            <a:solidFill>
              <a:srgbClr val="8A939A"/>
            </a:solidFill>
            <a:prstDash val="solid"/>
          </a:ln>
        </p:spPr>
      </p:sp>
      <p:sp>
        <p:nvSpPr>
          <p:cNvPr id="6" name="Shape 4"/>
          <p:cNvSpPr/>
          <p:nvPr/>
        </p:nvSpPr>
        <p:spPr>
          <a:xfrm>
            <a:off x="10378440" y="2331720"/>
            <a:ext cx="914400" cy="548640"/>
          </a:xfrm>
          <a:prstGeom prst="line">
            <a:avLst/>
          </a:prstGeom>
          <a:noFill/>
          <a:ln w="15875">
            <a:solidFill>
              <a:srgbClr val="8A939A"/>
            </a:solidFill>
            <a:prstDash val="solid"/>
          </a:ln>
        </p:spPr>
      </p:sp>
      <p:sp>
        <p:nvSpPr>
          <p:cNvPr id="7" name="Shape 5"/>
          <p:cNvSpPr/>
          <p:nvPr/>
        </p:nvSpPr>
        <p:spPr>
          <a:xfrm flipH="1">
            <a:off x="11292840" y="1737360"/>
            <a:ext cx="137160" cy="1143000"/>
          </a:xfrm>
          <a:prstGeom prst="line">
            <a:avLst/>
          </a:prstGeom>
          <a:noFill/>
          <a:ln w="15875">
            <a:solidFill>
              <a:srgbClr val="8A939A"/>
            </a:solidFill>
            <a:prstDash val="solid"/>
          </a:ln>
        </p:spPr>
      </p:sp>
      <p:sp>
        <p:nvSpPr>
          <p:cNvPr id="8" name="Shape 6"/>
          <p:cNvSpPr/>
          <p:nvPr/>
        </p:nvSpPr>
        <p:spPr>
          <a:xfrm>
            <a:off x="9308592" y="713232"/>
            <a:ext cx="768096" cy="768096"/>
          </a:xfrm>
          <a:prstGeom prst="ellipse">
            <a:avLst/>
          </a:prstGeom>
          <a:solidFill>
            <a:srgbClr val="3E5064"/>
          </a:solidFill>
          <a:ln/>
        </p:spPr>
      </p:sp>
      <p:sp>
        <p:nvSpPr>
          <p:cNvPr id="9" name="Shape 7"/>
          <p:cNvSpPr/>
          <p:nvPr/>
        </p:nvSpPr>
        <p:spPr>
          <a:xfrm>
            <a:off x="10625328" y="429768"/>
            <a:ext cx="512064" cy="512064"/>
          </a:xfrm>
          <a:prstGeom prst="ellipse">
            <a:avLst/>
          </a:prstGeom>
          <a:solidFill>
            <a:srgbClr val="D9932B"/>
          </a:solidFill>
          <a:ln/>
        </p:spPr>
      </p:sp>
      <p:sp>
        <p:nvSpPr>
          <p:cNvPr id="10" name="Shape 8"/>
          <p:cNvSpPr/>
          <p:nvPr/>
        </p:nvSpPr>
        <p:spPr>
          <a:xfrm>
            <a:off x="11009376" y="1316736"/>
            <a:ext cx="841248" cy="841248"/>
          </a:xfrm>
          <a:prstGeom prst="ellipse">
            <a:avLst/>
          </a:prstGeom>
          <a:solidFill>
            <a:srgbClr val="3E5064"/>
          </a:solidFill>
          <a:ln/>
        </p:spPr>
      </p:sp>
      <p:sp>
        <p:nvSpPr>
          <p:cNvPr id="11" name="Shape 9"/>
          <p:cNvSpPr/>
          <p:nvPr/>
        </p:nvSpPr>
        <p:spPr>
          <a:xfrm>
            <a:off x="10076688" y="2029968"/>
            <a:ext cx="603504" cy="603504"/>
          </a:xfrm>
          <a:prstGeom prst="ellipse">
            <a:avLst/>
          </a:prstGeom>
          <a:solidFill>
            <a:srgbClr val="57646F"/>
          </a:solidFill>
          <a:ln/>
        </p:spPr>
      </p:sp>
      <p:sp>
        <p:nvSpPr>
          <p:cNvPr id="12" name="Shape 10"/>
          <p:cNvSpPr/>
          <p:nvPr/>
        </p:nvSpPr>
        <p:spPr>
          <a:xfrm>
            <a:off x="11055096" y="2642616"/>
            <a:ext cx="475488" cy="475488"/>
          </a:xfrm>
          <a:prstGeom prst="ellipse">
            <a:avLst/>
          </a:prstGeom>
          <a:solidFill>
            <a:srgbClr val="D9932B"/>
          </a:solidFill>
          <a:ln/>
        </p:spPr>
      </p:sp>
      <p:sp>
        <p:nvSpPr>
          <p:cNvPr id="13" name="Text 11"/>
          <p:cNvSpPr txBox="1"/>
          <p:nvPr/>
        </p:nvSpPr>
        <p:spPr>
          <a:xfrm>
            <a:off x="640080" y="502920"/>
            <a:ext cx="5486400" cy="457200"/>
          </a:xfrm>
          <a:prstGeom prst="rect">
            <a:avLst/>
          </a:prstGeom>
          <a:noFill/>
          <a:ln/>
        </p:spPr>
        <p:txBody>
          <a:bodyPr wrap="square" lIns="0" tIns="0" rIns="0" bIns="0" rtlCol="0" anchor="ctr"/>
          <a:lstStyle/>
          <a:p>
            <a:pPr indent="0" marL="0">
              <a:buNone/>
            </a:pPr>
            <a:r>
              <a:rPr lang="en-US" sz="1600" b="1" spc="200" kern="0" dirty="0">
                <a:solidFill>
                  <a:srgbClr val="D9932B"/>
                </a:solidFill>
                <a:latin typeface="Consolas" pitchFamily="34" charset="0"/>
                <a:ea typeface="Consolas" pitchFamily="34" charset="-122"/>
                <a:cs typeface="Consolas" pitchFamily="34" charset="-120"/>
              </a:rPr>
              <a:t>DAY 08</a:t>
            </a:r>
            <a:endParaRPr lang="en-US" sz="1600" dirty="0"/>
          </a:p>
        </p:txBody>
      </p:sp>
      <p:sp>
        <p:nvSpPr>
          <p:cNvPr id="14" name="Text 12"/>
          <p:cNvSpPr txBox="1"/>
          <p:nvPr/>
        </p:nvSpPr>
        <p:spPr>
          <a:xfrm>
            <a:off x="640080" y="914400"/>
            <a:ext cx="7315200" cy="365760"/>
          </a:xfrm>
          <a:prstGeom prst="rect">
            <a:avLst/>
          </a:prstGeom>
          <a:noFill/>
          <a:ln/>
        </p:spPr>
        <p:txBody>
          <a:bodyPr wrap="square" lIns="0" tIns="0" rIns="0" bIns="0" rtlCol="0" anchor="ctr"/>
          <a:lstStyle/>
          <a:p>
            <a:pPr indent="0" marL="0">
              <a:buNone/>
            </a:pPr>
            <a:r>
              <a:rPr lang="en-US" sz="1200" spc="150" kern="0" dirty="0">
                <a:solidFill>
                  <a:srgbClr val="8A939A"/>
                </a:solidFill>
                <a:latin typeface="Consolas" pitchFamily="34" charset="0"/>
                <a:ea typeface="Consolas" pitchFamily="34" charset="-122"/>
                <a:cs typeface="Consolas" pitchFamily="34" charset="-120"/>
              </a:rPr>
              <a:t>BUILD THE AGENT</a:t>
            </a:r>
            <a:endParaRPr lang="en-US" sz="1200" dirty="0"/>
          </a:p>
        </p:txBody>
      </p:sp>
      <p:sp>
        <p:nvSpPr>
          <p:cNvPr id="15" name="Text 13"/>
          <p:cNvSpPr txBox="1"/>
          <p:nvPr/>
        </p:nvSpPr>
        <p:spPr>
          <a:xfrm>
            <a:off x="594360" y="2606040"/>
            <a:ext cx="8778240" cy="1737360"/>
          </a:xfrm>
          <a:prstGeom prst="rect">
            <a:avLst/>
          </a:prstGeom>
          <a:noFill/>
          <a:ln/>
        </p:spPr>
        <p:txBody>
          <a:bodyPr wrap="square" lIns="0" tIns="0" rIns="0" bIns="0" rtlCol="0" anchor="b"/>
          <a:lstStyle/>
          <a:p>
            <a:pPr indent="0" marL="0">
              <a:buNone/>
            </a:pPr>
            <a:r>
              <a:rPr lang="en-US" sz="4000" b="1" dirty="0">
                <a:solidFill>
                  <a:srgbClr val="FFFFFF"/>
                </a:solidFill>
                <a:latin typeface="Consolas" pitchFamily="34" charset="0"/>
                <a:ea typeface="Consolas" pitchFamily="34" charset="-122"/>
                <a:cs typeface="Consolas" pitchFamily="34" charset="-120"/>
              </a:rPr>
              <a:t>Human in the Loop</a:t>
            </a:r>
            <a:endParaRPr lang="en-US" sz="4000" dirty="0"/>
          </a:p>
        </p:txBody>
      </p:sp>
      <p:sp>
        <p:nvSpPr>
          <p:cNvPr id="16" name="Text 14"/>
          <p:cNvSpPr txBox="1"/>
          <p:nvPr/>
        </p:nvSpPr>
        <p:spPr>
          <a:xfrm>
            <a:off x="640080" y="4434840"/>
            <a:ext cx="7863840" cy="822960"/>
          </a:xfrm>
          <a:prstGeom prst="rect">
            <a:avLst/>
          </a:prstGeom>
          <a:noFill/>
          <a:ln/>
        </p:spPr>
        <p:txBody>
          <a:bodyPr wrap="square" lIns="0" tIns="0" rIns="0" bIns="0" rtlCol="0" anchor="ctr"/>
          <a:lstStyle/>
          <a:p>
            <a:pPr indent="0" marL="0">
              <a:buNone/>
            </a:pPr>
            <a:r>
              <a:rPr lang="en-US" sz="1500" i="1" dirty="0">
                <a:solidFill>
                  <a:srgbClr val="8A939A"/>
                </a:solidFill>
                <a:latin typeface="Calibri" pitchFamily="34" charset="0"/>
                <a:ea typeface="Calibri" pitchFamily="34" charset="-122"/>
                <a:cs typeface="Calibri" pitchFamily="34" charset="-120"/>
              </a:rPr>
              <a:t>Never act, then ask — always ask, then act.</a:t>
            </a:r>
            <a:endParaRPr lang="en-US" sz="1500" dirty="0"/>
          </a:p>
        </p:txBody>
      </p:sp>
      <p:sp>
        <p:nvSpPr>
          <p:cNvPr id="17" name="Text 15">
            <a:hlinkClick r:id="rId1" tooltip=""/>
          </p:cNvPr>
          <p:cNvSpPr txBox="1"/>
          <p:nvPr/>
        </p:nvSpPr>
        <p:spPr>
          <a:xfrm>
            <a:off x="640080" y="5989320"/>
            <a:ext cx="3840480" cy="365760"/>
          </a:xfrm>
          <a:prstGeom prst="rect">
            <a:avLst/>
          </a:prstGeom>
          <a:noFill/>
          <a:ln/>
        </p:spPr>
        <p:txBody>
          <a:bodyPr wrap="square" lIns="0" tIns="0" rIns="0" bIns="0" rtlCol="0" anchor="ctr"/>
          <a:lstStyle/>
          <a:p>
            <a:pPr indent="0" marL="0">
              <a:buNone/>
            </a:pPr>
            <a:r>
              <a:rPr lang="en-US" sz="1100" u="sng" dirty="0">
                <a:solidFill>
                  <a:srgbClr val="8A939A"/>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  Day 7</a:t>
            </a:r>
            <a:endParaRPr lang="en-US" sz="1100" dirty="0"/>
          </a:p>
        </p:txBody>
      </p:sp>
      <p:sp>
        <p:nvSpPr>
          <p:cNvPr id="18" name="Text 16">
            <a:hlinkClick r:id="rId2" tooltip="" action="ppaction://hlinksldjump"/>
          </p:cNvPr>
          <p:cNvSpPr txBox="1"/>
          <p:nvPr/>
        </p:nvSpPr>
        <p:spPr>
          <a:xfrm>
            <a:off x="5029200" y="5989320"/>
            <a:ext cx="2103120" cy="365760"/>
          </a:xfrm>
          <a:prstGeom prst="rect">
            <a:avLst/>
          </a:prstGeom>
          <a:noFill/>
          <a:ln/>
        </p:spPr>
        <p:txBody>
          <a:bodyPr wrap="square" lIns="0" tIns="0" rIns="0" bIns="0" rtlCol="0" anchor="ctr"/>
          <a:lstStyle/>
          <a:p>
            <a:pPr algn="ctr" indent="0" marL="0">
              <a:buNone/>
            </a:pPr>
            <a:r>
              <a:rPr lang="en-US" sz="1100" u="sng" dirty="0">
                <a:solidFill>
                  <a:srgbClr val="D9932B"/>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100" dirty="0"/>
          </a:p>
        </p:txBody>
      </p:sp>
      <p:sp>
        <p:nvSpPr>
          <p:cNvPr id="19" name="Text 17">
            <a:hlinkClick r:id="rId3" tooltip=""/>
          </p:cNvPr>
          <p:cNvSpPr txBox="1"/>
          <p:nvPr/>
        </p:nvSpPr>
        <p:spPr>
          <a:xfrm>
            <a:off x="7680960" y="5989320"/>
            <a:ext cx="3840480" cy="365760"/>
          </a:xfrm>
          <a:prstGeom prst="rect">
            <a:avLst/>
          </a:prstGeom>
          <a:noFill/>
          <a:ln/>
        </p:spPr>
        <p:txBody>
          <a:bodyPr wrap="square" lIns="0" tIns="0" rIns="0" bIns="0" rtlCol="0" anchor="ctr"/>
          <a:lstStyle/>
          <a:p>
            <a:pPr algn="r" indent="0" marL="0">
              <a:buNone/>
            </a:pPr>
            <a:r>
              <a:rPr lang="en-US" sz="1100" u="sng" dirty="0">
                <a:solidFill>
                  <a:srgbClr val="8A939A"/>
                </a:solidFill>
                <a:latin typeface="Consolas" pitchFamily="34" charset="0"/>
                <a:ea typeface="Consolas" pitchFamily="34" charset="-122"/>
                <a:cs typeface="Consolas" pitchFamily="34" charset="-120"/>
                <a:hlinkClick r:id="rId3" invalidUrl="" action="" tgtFrame="" tooltip="" history="1" highlightClick="0" endSnd="0">
                  <a:extLst>
                    <a:ext uri="{A12FA001-AC4F-418D-AE19-62706E023703}">
                      <ahyp:hlinkClr xmlns:ahyp="http://schemas.microsoft.com/office/drawing/2018/hyperlinkcolor" val="tx"/>
                    </a:ext>
                  </a:extLst>
                </a:hlinkClick>
              </a:rPr>
              <a:t>Day 9  →</a:t>
            </a:r>
            <a:endParaRPr lang="en-US" sz="1100" dirty="0"/>
          </a:p>
        </p:txBody>
      </p:sp>
      <p:sp>
        <p:nvSpPr>
          <p:cNvPr id="20" name="Text 18"/>
          <p:cNvSpPr txBox="1"/>
          <p:nvPr/>
        </p:nvSpPr>
        <p:spPr>
          <a:xfrm>
            <a:off x="640080" y="6419088"/>
            <a:ext cx="7315200" cy="320040"/>
          </a:xfrm>
          <a:prstGeom prst="rect">
            <a:avLst/>
          </a:prstGeom>
          <a:noFill/>
          <a:ln/>
        </p:spPr>
        <p:txBody>
          <a:bodyPr wrap="square" lIns="0" tIns="0" rIns="0" bIns="0" rtlCol="0" anchor="ctr"/>
          <a:lstStyle/>
          <a:p>
            <a:pPr indent="0" marL="0">
              <a:buNone/>
            </a:pPr>
            <a:r>
              <a:rPr lang="en-US" sz="1050" dirty="0">
                <a:solidFill>
                  <a:srgbClr val="8A939A"/>
                </a:solidFill>
                <a:latin typeface="Consolas" pitchFamily="34" charset="0"/>
                <a:ea typeface="Consolas" pitchFamily="34" charset="-122"/>
                <a:cs typeface="Consolas" pitchFamily="34" charset="-120"/>
              </a:rPr>
              <a:t>uv run python Day-08-Human-In-The-Loop\example.py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640080"/>
          </a:xfrm>
          <a:prstGeom prst="rect">
            <a:avLst/>
          </a:prstGeom>
          <a:noFill/>
          <a:ln/>
        </p:spPr>
        <p:txBody>
          <a:bodyPr wrap="square" lIns="0" tIns="0" rIns="0" bIns="0" rtlCol="0" anchor="ctr"/>
          <a:lstStyle/>
          <a:p>
            <a:pPr indent="0" marL="0">
              <a:buNone/>
            </a:pPr>
            <a:r>
              <a:rPr lang="en-US" sz="2800" b="1" dirty="0">
                <a:solidFill>
                  <a:srgbClr val="1A1E22"/>
                </a:solidFill>
                <a:latin typeface="Consolas" pitchFamily="34" charset="0"/>
                <a:ea typeface="Consolas" pitchFamily="34" charset="-122"/>
                <a:cs typeface="Consolas" pitchFamily="34" charset="-120"/>
              </a:rPr>
              <a:t>What's Inside Today</a:t>
            </a:r>
            <a:endParaRPr lang="en-US" sz="2800" dirty="0"/>
          </a:p>
        </p:txBody>
      </p:sp>
      <p:sp>
        <p:nvSpPr>
          <p:cNvPr id="3" name="Text 1"/>
          <p:cNvSpPr txBox="1"/>
          <p:nvPr/>
        </p:nvSpPr>
        <p:spPr>
          <a:xfrm>
            <a:off x="640080" y="1051560"/>
            <a:ext cx="9144000" cy="365760"/>
          </a:xfrm>
          <a:prstGeom prst="rect">
            <a:avLst/>
          </a:prstGeom>
          <a:noFill/>
          <a:ln/>
        </p:spPr>
        <p:txBody>
          <a:bodyPr wrap="square" lIns="0" tIns="0" rIns="0" bIns="0" rtlCol="0" anchor="ctr"/>
          <a:lstStyle/>
          <a:p>
            <a:pPr indent="0" marL="0">
              <a:buNone/>
            </a:pPr>
            <a:r>
              <a:rPr lang="en-US" sz="1400" i="1" dirty="0">
                <a:solidFill>
                  <a:srgbClr val="5B646B"/>
                </a:solidFill>
                <a:latin typeface="Calibri" pitchFamily="34" charset="0"/>
                <a:ea typeface="Calibri" pitchFamily="34" charset="-122"/>
                <a:cs typeface="Calibri" pitchFamily="34" charset="-120"/>
              </a:rPr>
              <a:t>Human in the Loop</a:t>
            </a:r>
            <a:endParaRPr lang="en-US" sz="1400" dirty="0"/>
          </a:p>
        </p:txBody>
      </p:sp>
      <p:sp>
        <p:nvSpPr>
          <p:cNvPr id="4" name="Shape 2"/>
          <p:cNvSpPr/>
          <p:nvPr/>
        </p:nvSpPr>
        <p:spPr>
          <a:xfrm>
            <a:off x="640080" y="1783080"/>
            <a:ext cx="5120640" cy="685800"/>
          </a:xfrm>
          <a:prstGeom prst="roundRect">
            <a:avLst>
              <a:gd name="adj" fmla="val 8000"/>
            </a:avLst>
          </a:prstGeom>
          <a:solidFill>
            <a:srgbClr val="F5F7F3"/>
          </a:solidFill>
          <a:ln w="12700">
            <a:solidFill>
              <a:srgbClr val="D7DCD1"/>
            </a:solidFill>
            <a:prstDash val="solid"/>
          </a:ln>
        </p:spPr>
      </p:sp>
      <p:sp>
        <p:nvSpPr>
          <p:cNvPr id="5" name="Text 3"/>
          <p:cNvSpPr txBox="1"/>
          <p:nvPr/>
        </p:nvSpPr>
        <p:spPr>
          <a:xfrm>
            <a:off x="804672" y="178308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01</a:t>
            </a:r>
            <a:endParaRPr lang="en-US" sz="1600" dirty="0"/>
          </a:p>
        </p:txBody>
      </p:sp>
      <p:sp>
        <p:nvSpPr>
          <p:cNvPr id="6" name="Text 4">
            <a:hlinkClick r:id="rId1" tooltip="" action="ppaction://hlinksldjump"/>
          </p:cNvPr>
          <p:cNvSpPr txBox="1"/>
          <p:nvPr/>
        </p:nvSpPr>
        <p:spPr>
          <a:xfrm>
            <a:off x="1417320" y="178308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1" action="ppaction://hlinksldjump" tooltip="">
                  <a:extLst>
                    <a:ext uri="{A12FA001-AC4F-418D-AE19-62706E023703}">
                      <ahyp:hlinkClr xmlns:ahyp="http://schemas.microsoft.com/office/drawing/2018/hyperlinkcolor" val="tx"/>
                    </a:ext>
                  </a:extLst>
                </a:hlinkClick>
              </a:rPr>
              <a:t>Why This Matters</a:t>
            </a:r>
            <a:endParaRPr lang="en-US" sz="1350" dirty="0"/>
          </a:p>
        </p:txBody>
      </p:sp>
      <p:sp>
        <p:nvSpPr>
          <p:cNvPr id="7" name="Shape 5"/>
          <p:cNvSpPr/>
          <p:nvPr/>
        </p:nvSpPr>
        <p:spPr>
          <a:xfrm>
            <a:off x="6217920" y="1783080"/>
            <a:ext cx="5120640" cy="685800"/>
          </a:xfrm>
          <a:prstGeom prst="roundRect">
            <a:avLst>
              <a:gd name="adj" fmla="val 8000"/>
            </a:avLst>
          </a:prstGeom>
          <a:solidFill>
            <a:srgbClr val="F5F7F3"/>
          </a:solidFill>
          <a:ln w="12700">
            <a:solidFill>
              <a:srgbClr val="D7DCD1"/>
            </a:solidFill>
            <a:prstDash val="solid"/>
          </a:ln>
        </p:spPr>
      </p:sp>
      <p:sp>
        <p:nvSpPr>
          <p:cNvPr id="8" name="Text 6"/>
          <p:cNvSpPr txBox="1"/>
          <p:nvPr/>
        </p:nvSpPr>
        <p:spPr>
          <a:xfrm>
            <a:off x="6382512" y="178308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02</a:t>
            </a:r>
            <a:endParaRPr lang="en-US" sz="1600" dirty="0"/>
          </a:p>
        </p:txBody>
      </p:sp>
      <p:sp>
        <p:nvSpPr>
          <p:cNvPr id="9" name="Text 7">
            <a:hlinkClick r:id="rId2" tooltip="" action="ppaction://hlinksldjump"/>
          </p:cNvPr>
          <p:cNvSpPr txBox="1"/>
          <p:nvPr/>
        </p:nvSpPr>
        <p:spPr>
          <a:xfrm>
            <a:off x="6995160" y="178308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Key Concepts</a:t>
            </a:r>
            <a:endParaRPr lang="en-US" sz="1350" dirty="0"/>
          </a:p>
        </p:txBody>
      </p:sp>
      <p:sp>
        <p:nvSpPr>
          <p:cNvPr id="10" name="Shape 8"/>
          <p:cNvSpPr/>
          <p:nvPr/>
        </p:nvSpPr>
        <p:spPr>
          <a:xfrm>
            <a:off x="640080" y="2651760"/>
            <a:ext cx="5120640" cy="685800"/>
          </a:xfrm>
          <a:prstGeom prst="roundRect">
            <a:avLst>
              <a:gd name="adj" fmla="val 8000"/>
            </a:avLst>
          </a:prstGeom>
          <a:solidFill>
            <a:srgbClr val="F5F7F3"/>
          </a:solidFill>
          <a:ln w="12700">
            <a:solidFill>
              <a:srgbClr val="D7DCD1"/>
            </a:solidFill>
            <a:prstDash val="solid"/>
          </a:ln>
        </p:spPr>
      </p:sp>
      <p:sp>
        <p:nvSpPr>
          <p:cNvPr id="11" name="Text 9"/>
          <p:cNvSpPr txBox="1"/>
          <p:nvPr/>
        </p:nvSpPr>
        <p:spPr>
          <a:xfrm>
            <a:off x="804672" y="265176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03</a:t>
            </a:r>
            <a:endParaRPr lang="en-US" sz="1600" dirty="0"/>
          </a:p>
        </p:txBody>
      </p:sp>
      <p:sp>
        <p:nvSpPr>
          <p:cNvPr id="12" name="Text 10">
            <a:hlinkClick r:id="rId3" tooltip="" action="ppaction://hlinksldjump"/>
          </p:cNvPr>
          <p:cNvSpPr txBox="1"/>
          <p:nvPr/>
        </p:nvSpPr>
        <p:spPr>
          <a:xfrm>
            <a:off x="1417320" y="265176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3" action="ppaction://hlinksldjump" tooltip="">
                  <a:extLst>
                    <a:ext uri="{A12FA001-AC4F-418D-AE19-62706E023703}">
                      <ahyp:hlinkClr xmlns:ahyp="http://schemas.microsoft.com/office/drawing/2018/hyperlinkcolor" val="tx"/>
                    </a:ext>
                  </a:extLst>
                </a:hlinkClick>
              </a:rPr>
              <a:t>How It's Built</a:t>
            </a:r>
            <a:endParaRPr lang="en-US" sz="1350" dirty="0"/>
          </a:p>
        </p:txBody>
      </p:sp>
      <p:sp>
        <p:nvSpPr>
          <p:cNvPr id="13" name="Shape 11"/>
          <p:cNvSpPr/>
          <p:nvPr/>
        </p:nvSpPr>
        <p:spPr>
          <a:xfrm>
            <a:off x="6217920" y="2651760"/>
            <a:ext cx="5120640" cy="685800"/>
          </a:xfrm>
          <a:prstGeom prst="roundRect">
            <a:avLst>
              <a:gd name="adj" fmla="val 8000"/>
            </a:avLst>
          </a:prstGeom>
          <a:solidFill>
            <a:srgbClr val="F5F7F3"/>
          </a:solidFill>
          <a:ln w="12700">
            <a:solidFill>
              <a:srgbClr val="D7DCD1"/>
            </a:solidFill>
            <a:prstDash val="solid"/>
          </a:ln>
        </p:spPr>
      </p:sp>
      <p:sp>
        <p:nvSpPr>
          <p:cNvPr id="14" name="Text 12"/>
          <p:cNvSpPr txBox="1"/>
          <p:nvPr/>
        </p:nvSpPr>
        <p:spPr>
          <a:xfrm>
            <a:off x="6382512" y="265176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04</a:t>
            </a:r>
            <a:endParaRPr lang="en-US" sz="1600" dirty="0"/>
          </a:p>
        </p:txBody>
      </p:sp>
      <p:sp>
        <p:nvSpPr>
          <p:cNvPr id="15" name="Text 13">
            <a:hlinkClick r:id="rId4" tooltip="" action="ppaction://hlinksldjump"/>
          </p:cNvPr>
          <p:cNvSpPr txBox="1"/>
          <p:nvPr/>
        </p:nvSpPr>
        <p:spPr>
          <a:xfrm>
            <a:off x="6995160" y="265176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The Code</a:t>
            </a:r>
            <a:endParaRPr lang="en-US" sz="1350" dirty="0"/>
          </a:p>
        </p:txBody>
      </p:sp>
      <p:sp>
        <p:nvSpPr>
          <p:cNvPr id="16" name="Shape 14"/>
          <p:cNvSpPr/>
          <p:nvPr/>
        </p:nvSpPr>
        <p:spPr>
          <a:xfrm>
            <a:off x="640080" y="3520440"/>
            <a:ext cx="5120640" cy="685800"/>
          </a:xfrm>
          <a:prstGeom prst="roundRect">
            <a:avLst>
              <a:gd name="adj" fmla="val 8000"/>
            </a:avLst>
          </a:prstGeom>
          <a:solidFill>
            <a:srgbClr val="F5F7F3"/>
          </a:solidFill>
          <a:ln w="12700">
            <a:solidFill>
              <a:srgbClr val="D7DCD1"/>
            </a:solidFill>
            <a:prstDash val="solid"/>
          </a:ln>
        </p:spPr>
      </p:sp>
      <p:sp>
        <p:nvSpPr>
          <p:cNvPr id="17" name="Text 15"/>
          <p:cNvSpPr txBox="1"/>
          <p:nvPr/>
        </p:nvSpPr>
        <p:spPr>
          <a:xfrm>
            <a:off x="804672" y="352044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05</a:t>
            </a:r>
            <a:endParaRPr lang="en-US" sz="1600" dirty="0"/>
          </a:p>
        </p:txBody>
      </p:sp>
      <p:sp>
        <p:nvSpPr>
          <p:cNvPr id="18" name="Text 16">
            <a:hlinkClick r:id="rId5" tooltip="" action="ppaction://hlinksldjump"/>
          </p:cNvPr>
          <p:cNvSpPr txBox="1"/>
          <p:nvPr/>
        </p:nvSpPr>
        <p:spPr>
          <a:xfrm>
            <a:off x="1417320" y="352044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5" action="ppaction://hlinksldjump" tooltip="">
                  <a:extLst>
                    <a:ext uri="{A12FA001-AC4F-418D-AE19-62706E023703}">
                      <ahyp:hlinkClr xmlns:ahyp="http://schemas.microsoft.com/office/drawing/2018/hyperlinkcolor" val="tx"/>
                    </a:ext>
                  </a:extLst>
                </a:hlinkClick>
              </a:rPr>
              <a:t>Hands-On Lab</a:t>
            </a:r>
            <a:endParaRPr lang="en-US" sz="1350" dirty="0"/>
          </a:p>
        </p:txBody>
      </p:sp>
      <p:sp>
        <p:nvSpPr>
          <p:cNvPr id="19" name="Shape 17"/>
          <p:cNvSpPr/>
          <p:nvPr/>
        </p:nvSpPr>
        <p:spPr>
          <a:xfrm>
            <a:off x="6217920" y="3520440"/>
            <a:ext cx="5120640" cy="685800"/>
          </a:xfrm>
          <a:prstGeom prst="roundRect">
            <a:avLst>
              <a:gd name="adj" fmla="val 8000"/>
            </a:avLst>
          </a:prstGeom>
          <a:solidFill>
            <a:srgbClr val="F5F7F3"/>
          </a:solidFill>
          <a:ln w="12700">
            <a:solidFill>
              <a:srgbClr val="D7DCD1"/>
            </a:solidFill>
            <a:prstDash val="solid"/>
          </a:ln>
        </p:spPr>
      </p:sp>
      <p:sp>
        <p:nvSpPr>
          <p:cNvPr id="20" name="Text 18"/>
          <p:cNvSpPr txBox="1"/>
          <p:nvPr/>
        </p:nvSpPr>
        <p:spPr>
          <a:xfrm>
            <a:off x="6382512" y="352044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06</a:t>
            </a:r>
            <a:endParaRPr lang="en-US" sz="1600" dirty="0"/>
          </a:p>
        </p:txBody>
      </p:sp>
      <p:sp>
        <p:nvSpPr>
          <p:cNvPr id="21" name="Text 19">
            <a:hlinkClick r:id="rId6" tooltip="" action="ppaction://hlinksldjump"/>
          </p:cNvPr>
          <p:cNvSpPr txBox="1"/>
          <p:nvPr/>
        </p:nvSpPr>
        <p:spPr>
          <a:xfrm>
            <a:off x="6995160" y="352044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Assignment</a:t>
            </a:r>
            <a:endParaRPr lang="en-US" sz="1350" dirty="0"/>
          </a:p>
        </p:txBody>
      </p:sp>
      <p:sp>
        <p:nvSpPr>
          <p:cNvPr id="22" name="Shape 20"/>
          <p:cNvSpPr/>
          <p:nvPr/>
        </p:nvSpPr>
        <p:spPr>
          <a:xfrm>
            <a:off x="640080" y="4389120"/>
            <a:ext cx="5120640" cy="685800"/>
          </a:xfrm>
          <a:prstGeom prst="roundRect">
            <a:avLst>
              <a:gd name="adj" fmla="val 8000"/>
            </a:avLst>
          </a:prstGeom>
          <a:solidFill>
            <a:srgbClr val="F5F7F3"/>
          </a:solidFill>
          <a:ln w="12700">
            <a:solidFill>
              <a:srgbClr val="D7DCD1"/>
            </a:solidFill>
            <a:prstDash val="solid"/>
          </a:ln>
        </p:spPr>
      </p:sp>
      <p:sp>
        <p:nvSpPr>
          <p:cNvPr id="23" name="Text 21"/>
          <p:cNvSpPr txBox="1"/>
          <p:nvPr/>
        </p:nvSpPr>
        <p:spPr>
          <a:xfrm>
            <a:off x="804672" y="438912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07</a:t>
            </a:r>
            <a:endParaRPr lang="en-US" sz="1600" dirty="0"/>
          </a:p>
        </p:txBody>
      </p:sp>
      <p:sp>
        <p:nvSpPr>
          <p:cNvPr id="24" name="Text 22">
            <a:hlinkClick r:id="rId7" tooltip="" action="ppaction://hlinksldjump"/>
          </p:cNvPr>
          <p:cNvSpPr txBox="1"/>
          <p:nvPr/>
        </p:nvSpPr>
        <p:spPr>
          <a:xfrm>
            <a:off x="1417320" y="438912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7" action="ppaction://hlinksldjump" tooltip="">
                  <a:extLst>
                    <a:ext uri="{A12FA001-AC4F-418D-AE19-62706E023703}">
                      <ahyp:hlinkClr xmlns:ahyp="http://schemas.microsoft.com/office/drawing/2018/hyperlinkcolor" val="tx"/>
                    </a:ext>
                  </a:extLst>
                </a:hlinkClick>
              </a:rPr>
              <a:t>Wrap-Up</a:t>
            </a:r>
            <a:endParaRPr lang="en-US" sz="1350" dirty="0"/>
          </a:p>
        </p:txBody>
      </p:sp>
      <p:sp>
        <p:nvSpPr>
          <p:cNvPr id="25" name="Text 23"/>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08  ·  HUMAN IN THE LOOP</a:t>
            </a:r>
            <a:endParaRPr lang="en-US" sz="900" dirty="0"/>
          </a:p>
        </p:txBody>
      </p:sp>
      <p:sp>
        <p:nvSpPr>
          <p:cNvPr id="26" name="Text 24"/>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3"/>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9932B"/>
          </a:solidFill>
          <a:ln/>
        </p:spPr>
      </p:sp>
      <p:sp>
        <p:nvSpPr>
          <p:cNvPr id="3" name="Text 1"/>
          <p:cNvSpPr txBox="1"/>
          <p:nvPr/>
        </p:nvSpPr>
        <p:spPr>
          <a:xfrm>
            <a:off x="822960" y="548640"/>
            <a:ext cx="9144000" cy="54864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Why This Matters</a:t>
            </a:r>
            <a:endParaRPr lang="en-US" sz="2400" dirty="0"/>
          </a:p>
        </p:txBody>
      </p:sp>
      <p:sp>
        <p:nvSpPr>
          <p:cNvPr id="4" name="Shape 2"/>
          <p:cNvSpPr/>
          <p:nvPr/>
        </p:nvSpPr>
        <p:spPr>
          <a:xfrm>
            <a:off x="822960" y="1371600"/>
            <a:ext cx="10424160" cy="4389120"/>
          </a:xfrm>
          <a:prstGeom prst="roundRect">
            <a:avLst>
              <a:gd name="adj" fmla="val 1667"/>
            </a:avLst>
          </a:prstGeom>
          <a:solidFill>
            <a:srgbClr val="FFFFFF"/>
          </a:solidFill>
          <a:ln w="12700">
            <a:solidFill>
              <a:srgbClr val="D7DCD1"/>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1188720" y="1691640"/>
            <a:ext cx="9692640" cy="3749040"/>
          </a:xfrm>
          <a:prstGeom prst="rect">
            <a:avLst/>
          </a:prstGeom>
          <a:noFill/>
          <a:ln/>
        </p:spPr>
        <p:txBody>
          <a:bodyPr wrap="square" lIns="0" tIns="0" rIns="0" bIns="0" rtlCol="0" anchor="t"/>
          <a:lstStyle/>
          <a:p>
            <a:pPr indent="0" marL="0">
              <a:lnSpc>
                <a:spcPct val="125000"/>
              </a:lnSpc>
              <a:buNone/>
            </a:pPr>
            <a:r>
              <a:rPr lang="en-US" sz="1650" dirty="0">
                <a:solidFill>
                  <a:srgbClr val="1A1E22"/>
                </a:solidFill>
                <a:latin typeface="Calibri" pitchFamily="34" charset="0"/>
                <a:ea typeface="Calibri" pitchFamily="34" charset="-122"/>
                <a:cs typeface="Calibri" pitchFamily="34" charset="-120"/>
              </a:rPr>
              <a:t>Every graph so far has run start to finish without asking permission. But proposing an action and a human deciding whether it may continue are different things. Day 8 gives you the tool for that pause: interrupt. It saves state, hands back a review payload, and stops until someone responds — because the thread must still exist when that decision arrives, this depends directly on Day 7's checkpointer and thread ID.</a:t>
            </a:r>
            <a:endParaRPr lang="en-US" sz="1650" dirty="0"/>
          </a:p>
        </p:txBody>
      </p:sp>
      <p:sp>
        <p:nvSpPr>
          <p:cNvPr id="6" name="Text 4"/>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08  ·  HUMAN IN THE LOOP</a:t>
            </a:r>
            <a:endParaRPr lang="en-US" sz="900" dirty="0"/>
          </a:p>
        </p:txBody>
      </p:sp>
      <p:sp>
        <p:nvSpPr>
          <p:cNvPr id="7" name="Text 5"/>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548640"/>
          </a:xfrm>
          <a:prstGeom prst="rect">
            <a:avLst/>
          </a:prstGeom>
          <a:noFill/>
          <a:ln/>
        </p:spPr>
        <p:txBody>
          <a:bodyPr wrap="square" lIns="0" tIns="0" rIns="0" bIns="0" rtlCol="0" anchor="ctr"/>
          <a:lstStyle/>
          <a:p>
            <a:pPr indent="0" marL="0">
              <a:buNone/>
            </a:pPr>
            <a:r>
              <a:rPr lang="en-US" sz="2600" b="1" dirty="0">
                <a:solidFill>
                  <a:srgbClr val="1A1E22"/>
                </a:solidFill>
                <a:latin typeface="Consolas" pitchFamily="34" charset="0"/>
                <a:ea typeface="Consolas" pitchFamily="34" charset="-122"/>
                <a:cs typeface="Consolas" pitchFamily="34" charset="-120"/>
              </a:rPr>
              <a:t>Key Concepts  ·  Part 1 of 2</a:t>
            </a:r>
            <a:endParaRPr lang="en-US" sz="2600" dirty="0"/>
          </a:p>
        </p:txBody>
      </p:sp>
      <p:sp>
        <p:nvSpPr>
          <p:cNvPr id="3" name="Shape 1"/>
          <p:cNvSpPr/>
          <p:nvPr/>
        </p:nvSpPr>
        <p:spPr>
          <a:xfrm>
            <a:off x="640080" y="1435608"/>
            <a:ext cx="457200" cy="457200"/>
          </a:xfrm>
          <a:prstGeom prst="ellipse">
            <a:avLst/>
          </a:prstGeom>
          <a:solidFill>
            <a:srgbClr val="D9932B"/>
          </a:solidFill>
          <a:ln/>
        </p:spPr>
      </p:sp>
      <p:sp>
        <p:nvSpPr>
          <p:cNvPr id="4" name="Text 2"/>
          <p:cNvSpPr txBox="1"/>
          <p:nvPr/>
        </p:nvSpPr>
        <p:spPr>
          <a:xfrm>
            <a:off x="640080" y="1435608"/>
            <a:ext cx="457200" cy="457200"/>
          </a:xfrm>
          <a:prstGeom prst="rect">
            <a:avLst/>
          </a:prstGeom>
          <a:noFill/>
          <a:ln/>
        </p:spPr>
        <p:txBody>
          <a:bodyPr wrap="square" lIns="0" tIns="0" rIns="0" bIns="0" rtlCol="0" anchor="ctr"/>
          <a:lstStyle/>
          <a:p>
            <a:pPr algn="ctr" indent="0" marL="0">
              <a:buNone/>
            </a:pPr>
            <a:r>
              <a:rPr lang="en-US" sz="1500" b="1" dirty="0">
                <a:solidFill>
                  <a:srgbClr val="241A0A"/>
                </a:solidFill>
                <a:latin typeface="Consolas" pitchFamily="34" charset="0"/>
                <a:ea typeface="Consolas" pitchFamily="34" charset="-122"/>
                <a:cs typeface="Consolas" pitchFamily="34" charset="-120"/>
              </a:rPr>
              <a:t>1</a:t>
            </a:r>
            <a:endParaRPr lang="en-US" sz="1500" dirty="0"/>
          </a:p>
        </p:txBody>
      </p:sp>
      <p:sp>
        <p:nvSpPr>
          <p:cNvPr id="5" name="Text 3"/>
          <p:cNvSpPr txBox="1"/>
          <p:nvPr/>
        </p:nvSpPr>
        <p:spPr>
          <a:xfrm>
            <a:off x="1325880" y="132588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The safe graph shape</a:t>
            </a:r>
            <a:endParaRPr lang="en-US" sz="1550" dirty="0"/>
          </a:p>
        </p:txBody>
      </p:sp>
      <p:sp>
        <p:nvSpPr>
          <p:cNvPr id="6" name="Text 4"/>
          <p:cNvSpPr txBox="1"/>
          <p:nvPr/>
        </p:nvSpPr>
        <p:spPr>
          <a:xfrm>
            <a:off x="1325880" y="170992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Classify risk, pause for approval, only then act or deny. Placing approval after the action would defeat the whole point, so the shape of the graph is part of the safety design.</a:t>
            </a:r>
            <a:endParaRPr lang="en-US" sz="1300" dirty="0"/>
          </a:p>
        </p:txBody>
      </p:sp>
      <p:sp>
        <p:nvSpPr>
          <p:cNvPr id="7" name="Shape 5"/>
          <p:cNvSpPr/>
          <p:nvPr/>
        </p:nvSpPr>
        <p:spPr>
          <a:xfrm>
            <a:off x="640080" y="2932176"/>
            <a:ext cx="10515600" cy="914"/>
          </a:xfrm>
          <a:prstGeom prst="line">
            <a:avLst/>
          </a:prstGeom>
          <a:noFill/>
          <a:ln w="12700">
            <a:solidFill>
              <a:srgbClr val="D7DCD1"/>
            </a:solidFill>
            <a:prstDash val="solid"/>
          </a:ln>
        </p:spPr>
      </p:sp>
      <p:sp>
        <p:nvSpPr>
          <p:cNvPr id="8" name="Shape 6"/>
          <p:cNvSpPr/>
          <p:nvPr/>
        </p:nvSpPr>
        <p:spPr>
          <a:xfrm>
            <a:off x="640080" y="3096768"/>
            <a:ext cx="457200" cy="457200"/>
          </a:xfrm>
          <a:prstGeom prst="ellipse">
            <a:avLst/>
          </a:prstGeom>
          <a:solidFill>
            <a:srgbClr val="3E5064"/>
          </a:solidFill>
          <a:ln/>
        </p:spPr>
      </p:sp>
      <p:sp>
        <p:nvSpPr>
          <p:cNvPr id="9" name="Text 7"/>
          <p:cNvSpPr txBox="1"/>
          <p:nvPr/>
        </p:nvSpPr>
        <p:spPr>
          <a:xfrm>
            <a:off x="640080" y="309676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2</a:t>
            </a:r>
            <a:endParaRPr lang="en-US" sz="1500" dirty="0"/>
          </a:p>
        </p:txBody>
      </p:sp>
      <p:sp>
        <p:nvSpPr>
          <p:cNvPr id="10" name="Text 8"/>
          <p:cNvSpPr txBox="1"/>
          <p:nvPr/>
        </p:nvSpPr>
        <p:spPr>
          <a:xfrm>
            <a:off x="1325880" y="298704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What interrupt actually does</a:t>
            </a:r>
            <a:endParaRPr lang="en-US" sz="1550" dirty="0"/>
          </a:p>
        </p:txBody>
      </p:sp>
      <p:sp>
        <p:nvSpPr>
          <p:cNvPr id="11" name="Text 9"/>
          <p:cNvSpPr txBox="1"/>
          <p:nvPr/>
        </p:nvSpPr>
        <p:spPr>
          <a:xfrm>
            <a:off x="1325880" y="337108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interrupt saves state, returns a review payload, and pauses execution — it does not create a review screen. The payload should include the proposed action and a clear question, safely JSON-able.</a:t>
            </a:r>
            <a:endParaRPr lang="en-US" sz="1300" dirty="0"/>
          </a:p>
        </p:txBody>
      </p:sp>
      <p:sp>
        <p:nvSpPr>
          <p:cNvPr id="12" name="Shape 10"/>
          <p:cNvSpPr/>
          <p:nvPr/>
        </p:nvSpPr>
        <p:spPr>
          <a:xfrm>
            <a:off x="640080" y="4593336"/>
            <a:ext cx="10515600" cy="914"/>
          </a:xfrm>
          <a:prstGeom prst="line">
            <a:avLst/>
          </a:prstGeom>
          <a:noFill/>
          <a:ln w="12700">
            <a:solidFill>
              <a:srgbClr val="D7DCD1"/>
            </a:solidFill>
            <a:prstDash val="solid"/>
          </a:ln>
        </p:spPr>
      </p:sp>
      <p:sp>
        <p:nvSpPr>
          <p:cNvPr id="13" name="Shape 11"/>
          <p:cNvSpPr/>
          <p:nvPr/>
        </p:nvSpPr>
        <p:spPr>
          <a:xfrm>
            <a:off x="640080" y="4757928"/>
            <a:ext cx="457200" cy="457200"/>
          </a:xfrm>
          <a:prstGeom prst="ellipse">
            <a:avLst/>
          </a:prstGeom>
          <a:solidFill>
            <a:srgbClr val="3E5064"/>
          </a:solidFill>
          <a:ln/>
        </p:spPr>
      </p:sp>
      <p:sp>
        <p:nvSpPr>
          <p:cNvPr id="14" name="Text 12"/>
          <p:cNvSpPr txBox="1"/>
          <p:nvPr/>
        </p:nvSpPr>
        <p:spPr>
          <a:xfrm>
            <a:off x="640080" y="475792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3</a:t>
            </a:r>
            <a:endParaRPr lang="en-US" sz="1500" dirty="0"/>
          </a:p>
        </p:txBody>
      </p:sp>
      <p:sp>
        <p:nvSpPr>
          <p:cNvPr id="15" name="Text 13"/>
          <p:cNvSpPr txBox="1"/>
          <p:nvPr/>
        </p:nvSpPr>
        <p:spPr>
          <a:xfrm>
            <a:off x="1325880" y="464820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The paused result and resuming</a:t>
            </a:r>
            <a:endParaRPr lang="en-US" sz="1550" dirty="0"/>
          </a:p>
        </p:txBody>
      </p:sp>
      <p:sp>
        <p:nvSpPr>
          <p:cNvPr id="16" name="Text 14"/>
          <p:cNvSpPr txBox="1"/>
          <p:nvPr/>
        </p:nvSpPr>
        <p:spPr>
          <a:xfrm>
            <a:off x="1325880" y="503224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A pause returns __interrupt__ in the result — an expected state, not an error. Command(resume=value) with the same thread ID supplies the human's decision.</a:t>
            </a:r>
            <a:endParaRPr lang="en-US" sz="1300" dirty="0"/>
          </a:p>
        </p:txBody>
      </p:sp>
      <p:sp>
        <p:nvSpPr>
          <p:cNvPr id="17" name="Text 15"/>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08  ·  HUMAN IN THE LOOP</a:t>
            </a:r>
            <a:endParaRPr lang="en-US" sz="900" dirty="0"/>
          </a:p>
        </p:txBody>
      </p:sp>
      <p:sp>
        <p:nvSpPr>
          <p:cNvPr id="18" name="Text 16"/>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548640"/>
          </a:xfrm>
          <a:prstGeom prst="rect">
            <a:avLst/>
          </a:prstGeom>
          <a:noFill/>
          <a:ln/>
        </p:spPr>
        <p:txBody>
          <a:bodyPr wrap="square" lIns="0" tIns="0" rIns="0" bIns="0" rtlCol="0" anchor="ctr"/>
          <a:lstStyle/>
          <a:p>
            <a:pPr indent="0" marL="0">
              <a:buNone/>
            </a:pPr>
            <a:r>
              <a:rPr lang="en-US" sz="2600" b="1" dirty="0">
                <a:solidFill>
                  <a:srgbClr val="1A1E22"/>
                </a:solidFill>
                <a:latin typeface="Consolas" pitchFamily="34" charset="0"/>
                <a:ea typeface="Consolas" pitchFamily="34" charset="-122"/>
                <a:cs typeface="Consolas" pitchFamily="34" charset="-120"/>
              </a:rPr>
              <a:t>Key Concepts  ·  Part 2 of 2</a:t>
            </a:r>
            <a:endParaRPr lang="en-US" sz="2600" dirty="0"/>
          </a:p>
        </p:txBody>
      </p:sp>
      <p:sp>
        <p:nvSpPr>
          <p:cNvPr id="3" name="Shape 1"/>
          <p:cNvSpPr/>
          <p:nvPr/>
        </p:nvSpPr>
        <p:spPr>
          <a:xfrm>
            <a:off x="640080" y="1435608"/>
            <a:ext cx="457200" cy="457200"/>
          </a:xfrm>
          <a:prstGeom prst="ellipse">
            <a:avLst/>
          </a:prstGeom>
          <a:solidFill>
            <a:srgbClr val="3E5064"/>
          </a:solidFill>
          <a:ln/>
        </p:spPr>
      </p:sp>
      <p:sp>
        <p:nvSpPr>
          <p:cNvPr id="4" name="Text 2"/>
          <p:cNvSpPr txBox="1"/>
          <p:nvPr/>
        </p:nvSpPr>
        <p:spPr>
          <a:xfrm>
            <a:off x="640080" y="143560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4</a:t>
            </a:r>
            <a:endParaRPr lang="en-US" sz="1500" dirty="0"/>
          </a:p>
        </p:txBody>
      </p:sp>
      <p:sp>
        <p:nvSpPr>
          <p:cNvPr id="5" name="Text 3"/>
          <p:cNvSpPr txBox="1"/>
          <p:nvPr/>
        </p:nvSpPr>
        <p:spPr>
          <a:xfrm>
            <a:off x="1325880" y="132588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Approval, rejection, and safe bypass</a:t>
            </a:r>
            <a:endParaRPr lang="en-US" sz="1550" dirty="0"/>
          </a:p>
        </p:txBody>
      </p:sp>
      <p:sp>
        <p:nvSpPr>
          <p:cNvPr id="6" name="Text 4"/>
          <p:cNvSpPr txBox="1"/>
          <p:nvPr/>
        </p:nvSpPr>
        <p:spPr>
          <a:xfrm>
            <a:off x="1325880" y="170992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Rejection is a valid outcome, not an exception — it returns a clear message and performs no action. Ordinary low-risk requests should bypass the approval gate entirely; over-approving everything makes a system unusable.</a:t>
            </a:r>
            <a:endParaRPr lang="en-US" sz="1300" dirty="0"/>
          </a:p>
        </p:txBody>
      </p:sp>
      <p:sp>
        <p:nvSpPr>
          <p:cNvPr id="7" name="Shape 5"/>
          <p:cNvSpPr/>
          <p:nvPr/>
        </p:nvSpPr>
        <p:spPr>
          <a:xfrm>
            <a:off x="640080" y="3762756"/>
            <a:ext cx="10515600" cy="914"/>
          </a:xfrm>
          <a:prstGeom prst="line">
            <a:avLst/>
          </a:prstGeom>
          <a:noFill/>
          <a:ln w="12700">
            <a:solidFill>
              <a:srgbClr val="D7DCD1"/>
            </a:solidFill>
            <a:prstDash val="solid"/>
          </a:ln>
        </p:spPr>
      </p:sp>
      <p:sp>
        <p:nvSpPr>
          <p:cNvPr id="8" name="Shape 6"/>
          <p:cNvSpPr/>
          <p:nvPr/>
        </p:nvSpPr>
        <p:spPr>
          <a:xfrm>
            <a:off x="640080" y="3927348"/>
            <a:ext cx="457200" cy="457200"/>
          </a:xfrm>
          <a:prstGeom prst="ellipse">
            <a:avLst/>
          </a:prstGeom>
          <a:solidFill>
            <a:srgbClr val="3E5064"/>
          </a:solidFill>
          <a:ln/>
        </p:spPr>
      </p:sp>
      <p:sp>
        <p:nvSpPr>
          <p:cNvPr id="9" name="Text 7"/>
          <p:cNvSpPr txBox="1"/>
          <p:nvPr/>
        </p:nvSpPr>
        <p:spPr>
          <a:xfrm>
            <a:off x="640080" y="392734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5</a:t>
            </a:r>
            <a:endParaRPr lang="en-US" sz="1500" dirty="0"/>
          </a:p>
        </p:txBody>
      </p:sp>
      <p:sp>
        <p:nvSpPr>
          <p:cNvPr id="10" name="Text 8"/>
          <p:cNvSpPr txBox="1"/>
          <p:nvPr/>
        </p:nvSpPr>
        <p:spPr>
          <a:xfrm>
            <a:off x="1325880" y="381762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Maker and checker, and replay safety</a:t>
            </a:r>
            <a:endParaRPr lang="en-US" sz="1550" dirty="0"/>
          </a:p>
        </p:txBody>
      </p:sp>
      <p:sp>
        <p:nvSpPr>
          <p:cNvPr id="11" name="Text 9"/>
          <p:cNvSpPr txBox="1"/>
          <p:nvPr/>
        </p:nvSpPr>
        <p:spPr>
          <a:xfrm>
            <a:off x="1325880" y="420166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The actor proposing and the actor approving should be separate, independently authenticated roles. Resuming re-runs the node from its start, so pre-interrupt code must be safe to repeat.</a:t>
            </a:r>
            <a:endParaRPr lang="en-US" sz="1300" dirty="0"/>
          </a:p>
        </p:txBody>
      </p:sp>
      <p:sp>
        <p:nvSpPr>
          <p:cNvPr id="12" name="Text 10"/>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08  ·  HUMAN IN THE LOOP</a:t>
            </a:r>
            <a:endParaRPr lang="en-US" sz="900" dirty="0"/>
          </a:p>
        </p:txBody>
      </p:sp>
      <p:sp>
        <p:nvSpPr>
          <p:cNvPr id="13" name="Text 11"/>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058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How It's Built</a:t>
            </a:r>
            <a:endParaRPr lang="en-US" sz="2400" dirty="0"/>
          </a:p>
        </p:txBody>
      </p:sp>
      <p:sp>
        <p:nvSpPr>
          <p:cNvPr id="3" name="Shape 1"/>
          <p:cNvSpPr/>
          <p:nvPr/>
        </p:nvSpPr>
        <p:spPr>
          <a:xfrm>
            <a:off x="5875020" y="1988820"/>
            <a:ext cx="9144" cy="1143000"/>
          </a:xfrm>
          <a:prstGeom prst="line">
            <a:avLst/>
          </a:prstGeom>
          <a:noFill/>
          <a:ln w="22225">
            <a:solidFill>
              <a:srgbClr val="5B646B"/>
            </a:solidFill>
            <a:prstDash val="solid"/>
          </a:ln>
        </p:spPr>
      </p:sp>
      <p:sp>
        <p:nvSpPr>
          <p:cNvPr id="4" name="Shape 2"/>
          <p:cNvSpPr/>
          <p:nvPr/>
        </p:nvSpPr>
        <p:spPr>
          <a:xfrm rot="10800000">
            <a:off x="5792724" y="3031236"/>
            <a:ext cx="164592" cy="164592"/>
          </a:xfrm>
          <a:prstGeom prst="triangle">
            <a:avLst/>
          </a:prstGeom>
          <a:solidFill>
            <a:srgbClr val="5B646B"/>
          </a:solidFill>
          <a:ln/>
        </p:spPr>
      </p:sp>
      <p:sp>
        <p:nvSpPr>
          <p:cNvPr id="5" name="Shape 3"/>
          <p:cNvSpPr/>
          <p:nvPr/>
        </p:nvSpPr>
        <p:spPr>
          <a:xfrm>
            <a:off x="5875020" y="3131820"/>
            <a:ext cx="9144" cy="1143000"/>
          </a:xfrm>
          <a:prstGeom prst="line">
            <a:avLst/>
          </a:prstGeom>
          <a:noFill/>
          <a:ln w="22225">
            <a:solidFill>
              <a:srgbClr val="5B646B"/>
            </a:solidFill>
            <a:prstDash val="solid"/>
          </a:ln>
        </p:spPr>
      </p:sp>
      <p:sp>
        <p:nvSpPr>
          <p:cNvPr id="6" name="Shape 4"/>
          <p:cNvSpPr/>
          <p:nvPr/>
        </p:nvSpPr>
        <p:spPr>
          <a:xfrm rot="10800000">
            <a:off x="5792724" y="4174236"/>
            <a:ext cx="164592" cy="164592"/>
          </a:xfrm>
          <a:prstGeom prst="triangle">
            <a:avLst/>
          </a:prstGeom>
          <a:solidFill>
            <a:srgbClr val="5B646B"/>
          </a:solidFill>
          <a:ln/>
        </p:spPr>
      </p:sp>
      <p:sp>
        <p:nvSpPr>
          <p:cNvPr id="7" name="Shape 5"/>
          <p:cNvSpPr/>
          <p:nvPr/>
        </p:nvSpPr>
        <p:spPr>
          <a:xfrm>
            <a:off x="5875020" y="4274820"/>
            <a:ext cx="9144" cy="1143000"/>
          </a:xfrm>
          <a:prstGeom prst="line">
            <a:avLst/>
          </a:prstGeom>
          <a:noFill/>
          <a:ln w="22225">
            <a:solidFill>
              <a:srgbClr val="5B646B"/>
            </a:solidFill>
            <a:prstDash val="solid"/>
          </a:ln>
        </p:spPr>
      </p:sp>
      <p:sp>
        <p:nvSpPr>
          <p:cNvPr id="8" name="Shape 6"/>
          <p:cNvSpPr/>
          <p:nvPr/>
        </p:nvSpPr>
        <p:spPr>
          <a:xfrm rot="10800000">
            <a:off x="5792724" y="5317236"/>
            <a:ext cx="164592" cy="164592"/>
          </a:xfrm>
          <a:prstGeom prst="triangle">
            <a:avLst/>
          </a:prstGeom>
          <a:solidFill>
            <a:srgbClr val="5B646B"/>
          </a:solidFill>
          <a:ln/>
        </p:spPr>
      </p:sp>
      <p:sp>
        <p:nvSpPr>
          <p:cNvPr id="9" name="Shape 7"/>
          <p:cNvSpPr/>
          <p:nvPr/>
        </p:nvSpPr>
        <p:spPr>
          <a:xfrm>
            <a:off x="5728716" y="1842516"/>
            <a:ext cx="292608" cy="292608"/>
          </a:xfrm>
          <a:prstGeom prst="ellipse">
            <a:avLst/>
          </a:prstGeom>
          <a:solidFill>
            <a:srgbClr val="1A1E22"/>
          </a:solidFill>
          <a:ln/>
        </p:spPr>
      </p:sp>
      <p:sp>
        <p:nvSpPr>
          <p:cNvPr id="10" name="Text 8"/>
          <p:cNvSpPr txBox="1"/>
          <p:nvPr/>
        </p:nvSpPr>
        <p:spPr>
          <a:xfrm>
            <a:off x="4869180" y="2171700"/>
            <a:ext cx="2011680" cy="274320"/>
          </a:xfrm>
          <a:prstGeom prst="rect">
            <a:avLst/>
          </a:prstGeom>
          <a:noFill/>
          <a:ln/>
        </p:spPr>
        <p:txBody>
          <a:bodyPr wrap="square" lIns="0" tIns="0" rIns="0" bIns="0" rtlCol="0" anchor="ctr"/>
          <a:lstStyle/>
          <a:p>
            <a:pPr algn="ctr" indent="0" marL="0">
              <a:buNone/>
            </a:pPr>
            <a:r>
              <a:rPr lang="en-US" sz="1000" b="1" spc="100" kern="0" dirty="0">
                <a:solidFill>
                  <a:srgbClr val="5B646B"/>
                </a:solidFill>
                <a:latin typeface="Consolas" pitchFamily="34" charset="0"/>
                <a:ea typeface="Consolas" pitchFamily="34" charset="-122"/>
                <a:cs typeface="Consolas" pitchFamily="34" charset="-120"/>
              </a:rPr>
              <a:t>START</a:t>
            </a:r>
            <a:endParaRPr lang="en-US" sz="1000" dirty="0"/>
          </a:p>
        </p:txBody>
      </p:sp>
      <p:sp>
        <p:nvSpPr>
          <p:cNvPr id="11" name="Shape 9"/>
          <p:cNvSpPr/>
          <p:nvPr/>
        </p:nvSpPr>
        <p:spPr>
          <a:xfrm>
            <a:off x="4663440" y="2848356"/>
            <a:ext cx="2423160" cy="566928"/>
          </a:xfrm>
          <a:prstGeom prst="roundRect">
            <a:avLst>
              <a:gd name="adj" fmla="val 8065"/>
            </a:avLst>
          </a:prstGeom>
          <a:solidFill>
            <a:srgbClr val="3E5064"/>
          </a:solidFill>
          <a:ln/>
          <a:effectLst>
            <a:outerShdw sx="100000" sy="100000" kx="0" ky="0" algn="bl" rotWithShape="0" blurRad="76200" dist="25400" dir="5400000">
              <a:srgbClr val="000000">
                <a:alpha val="18000"/>
              </a:srgbClr>
            </a:outerShdw>
          </a:effectLst>
        </p:spPr>
      </p:sp>
      <p:sp>
        <p:nvSpPr>
          <p:cNvPr id="12" name="Text 10"/>
          <p:cNvSpPr txBox="1"/>
          <p:nvPr/>
        </p:nvSpPr>
        <p:spPr>
          <a:xfrm>
            <a:off x="4736592" y="2848356"/>
            <a:ext cx="2276856" cy="566928"/>
          </a:xfrm>
          <a:prstGeom prst="rect">
            <a:avLst/>
          </a:prstGeom>
          <a:noFill/>
          <a:ln/>
        </p:spPr>
        <p:txBody>
          <a:bodyPr wrap="square" lIns="0" tIns="0" rIns="0" bIns="0" rtlCol="0" anchor="ctr"/>
          <a:lstStyle/>
          <a:p>
            <a:pPr algn="ctr" indent="0" marL="0">
              <a:buNone/>
            </a:pPr>
            <a:r>
              <a:rPr lang="en-US" sz="1150" b="1" dirty="0">
                <a:solidFill>
                  <a:srgbClr val="F5F7F3"/>
                </a:solidFill>
                <a:latin typeface="Consolas" pitchFamily="34" charset="0"/>
                <a:ea typeface="Consolas" pitchFamily="34" charset="-122"/>
                <a:cs typeface="Consolas" pitchFamily="34" charset="-120"/>
              </a:rPr>
              <a:t>approval</a:t>
            </a:r>
            <a:endParaRPr lang="en-US" sz="1150" dirty="0"/>
          </a:p>
        </p:txBody>
      </p:sp>
      <p:sp>
        <p:nvSpPr>
          <p:cNvPr id="13" name="Text 11"/>
          <p:cNvSpPr txBox="1"/>
          <p:nvPr/>
        </p:nvSpPr>
        <p:spPr>
          <a:xfrm>
            <a:off x="4777740" y="3451860"/>
            <a:ext cx="2194560" cy="256032"/>
          </a:xfrm>
          <a:prstGeom prst="rect">
            <a:avLst/>
          </a:prstGeom>
          <a:noFill/>
          <a:ln/>
        </p:spPr>
        <p:txBody>
          <a:bodyPr wrap="square" lIns="0" tIns="0" rIns="0" bIns="0" rtlCol="0" anchor="ctr"/>
          <a:lstStyle/>
          <a:p>
            <a:pPr algn="ctr" indent="0" marL="0">
              <a:buNone/>
            </a:pPr>
            <a:r>
              <a:rPr lang="en-US" sz="900" b="1" dirty="0">
                <a:solidFill>
                  <a:srgbClr val="D9932B"/>
                </a:solidFill>
                <a:latin typeface="Consolas" pitchFamily="34" charset="0"/>
                <a:ea typeface="Consolas" pitchFamily="34" charset="-122"/>
                <a:cs typeface="Consolas" pitchFamily="34" charset="-120"/>
              </a:rPr>
              <a:t>PAUSE FOR HUMAN</a:t>
            </a:r>
            <a:endParaRPr lang="en-US" sz="900" dirty="0"/>
          </a:p>
        </p:txBody>
      </p:sp>
      <p:sp>
        <p:nvSpPr>
          <p:cNvPr id="14" name="Shape 12"/>
          <p:cNvSpPr/>
          <p:nvPr/>
        </p:nvSpPr>
        <p:spPr>
          <a:xfrm>
            <a:off x="4663440" y="3991356"/>
            <a:ext cx="2423160" cy="566928"/>
          </a:xfrm>
          <a:prstGeom prst="roundRect">
            <a:avLst>
              <a:gd name="adj" fmla="val 8065"/>
            </a:avLst>
          </a:prstGeom>
          <a:solidFill>
            <a:srgbClr val="3E5064"/>
          </a:solidFill>
          <a:ln/>
          <a:effectLst>
            <a:outerShdw sx="100000" sy="100000" kx="0" ky="0" algn="bl" rotWithShape="0" blurRad="76200" dist="25400" dir="5400000">
              <a:srgbClr val="000000">
                <a:alpha val="18000"/>
              </a:srgbClr>
            </a:outerShdw>
          </a:effectLst>
        </p:spPr>
      </p:sp>
      <p:sp>
        <p:nvSpPr>
          <p:cNvPr id="15" name="Text 13"/>
          <p:cNvSpPr txBox="1"/>
          <p:nvPr/>
        </p:nvSpPr>
        <p:spPr>
          <a:xfrm>
            <a:off x="4736592" y="3991356"/>
            <a:ext cx="2276856" cy="566928"/>
          </a:xfrm>
          <a:prstGeom prst="rect">
            <a:avLst/>
          </a:prstGeom>
          <a:noFill/>
          <a:ln/>
        </p:spPr>
        <p:txBody>
          <a:bodyPr wrap="square" lIns="0" tIns="0" rIns="0" bIns="0" rtlCol="0" anchor="ctr"/>
          <a:lstStyle/>
          <a:p>
            <a:pPr algn="ctr" indent="0" marL="0">
              <a:buNone/>
            </a:pPr>
            <a:r>
              <a:rPr lang="en-US" sz="1150" b="1" dirty="0">
                <a:solidFill>
                  <a:srgbClr val="F5F7F3"/>
                </a:solidFill>
                <a:latin typeface="Consolas" pitchFamily="34" charset="0"/>
                <a:ea typeface="Consolas" pitchFamily="34" charset="-122"/>
                <a:cs typeface="Consolas" pitchFamily="34" charset="-120"/>
              </a:rPr>
              <a:t>finish</a:t>
            </a:r>
            <a:endParaRPr lang="en-US" sz="1150" dirty="0"/>
          </a:p>
        </p:txBody>
      </p:sp>
      <p:sp>
        <p:nvSpPr>
          <p:cNvPr id="16" name="Shape 14"/>
          <p:cNvSpPr/>
          <p:nvPr/>
        </p:nvSpPr>
        <p:spPr>
          <a:xfrm>
            <a:off x="5728716" y="5271516"/>
            <a:ext cx="292608" cy="292608"/>
          </a:xfrm>
          <a:prstGeom prst="ellipse">
            <a:avLst/>
          </a:prstGeom>
          <a:solidFill>
            <a:srgbClr val="1A1E22"/>
          </a:solidFill>
          <a:ln/>
        </p:spPr>
      </p:sp>
      <p:sp>
        <p:nvSpPr>
          <p:cNvPr id="17" name="Text 15"/>
          <p:cNvSpPr txBox="1"/>
          <p:nvPr/>
        </p:nvSpPr>
        <p:spPr>
          <a:xfrm>
            <a:off x="4869180" y="5600700"/>
            <a:ext cx="2011680" cy="274320"/>
          </a:xfrm>
          <a:prstGeom prst="rect">
            <a:avLst/>
          </a:prstGeom>
          <a:noFill/>
          <a:ln/>
        </p:spPr>
        <p:txBody>
          <a:bodyPr wrap="square" lIns="0" tIns="0" rIns="0" bIns="0" rtlCol="0" anchor="ctr"/>
          <a:lstStyle/>
          <a:p>
            <a:pPr algn="ctr" indent="0" marL="0">
              <a:buNone/>
            </a:pPr>
            <a:r>
              <a:rPr lang="en-US" sz="1000" b="1" spc="100" kern="0" dirty="0">
                <a:solidFill>
                  <a:srgbClr val="5B646B"/>
                </a:solidFill>
                <a:latin typeface="Consolas" pitchFamily="34" charset="0"/>
                <a:ea typeface="Consolas" pitchFamily="34" charset="-122"/>
                <a:cs typeface="Consolas" pitchFamily="34" charset="-120"/>
              </a:rPr>
              <a:t>END</a:t>
            </a:r>
            <a:endParaRPr lang="en-US" sz="1000" dirty="0"/>
          </a:p>
        </p:txBody>
      </p:sp>
      <p:sp>
        <p:nvSpPr>
          <p:cNvPr id="18" name="Text 16"/>
          <p:cNvSpPr txBox="1"/>
          <p:nvPr/>
        </p:nvSpPr>
        <p:spPr>
          <a:xfrm>
            <a:off x="640080" y="6172200"/>
            <a:ext cx="10881360" cy="457200"/>
          </a:xfrm>
          <a:prstGeom prst="rect">
            <a:avLst/>
          </a:prstGeom>
          <a:noFill/>
          <a:ln/>
        </p:spPr>
        <p:txBody>
          <a:bodyPr wrap="square" lIns="0" tIns="0" rIns="0" bIns="0" rtlCol="0" anchor="ctr"/>
          <a:lstStyle/>
          <a:p>
            <a:pPr indent="0" marL="0">
              <a:buNone/>
            </a:pPr>
            <a:r>
              <a:rPr lang="en-US" sz="1200" i="1" dirty="0">
                <a:solidFill>
                  <a:srgbClr val="5B646B"/>
                </a:solidFill>
                <a:latin typeface="Calibri" pitchFamily="34" charset="0"/>
                <a:ea typeface="Calibri" pitchFamily="34" charset="-122"/>
                <a:cs typeface="Calibri" pitchFamily="34" charset="-120"/>
              </a:rPr>
              <a:t>interrupt() pauses execution inside "approval" until Command(resume=...) supplies a human decision.</a:t>
            </a:r>
            <a:endParaRPr lang="en-US" sz="1200" dirty="0"/>
          </a:p>
        </p:txBody>
      </p:sp>
      <p:sp>
        <p:nvSpPr>
          <p:cNvPr id="19" name="Text 17"/>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08  ·  HUMAN IN THE LOOP</a:t>
            </a:r>
            <a:endParaRPr lang="en-US" sz="900" dirty="0"/>
          </a:p>
        </p:txBody>
      </p:sp>
      <p:sp>
        <p:nvSpPr>
          <p:cNvPr id="20" name="Text 18"/>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365760"/>
            <a:ext cx="7772400" cy="457200"/>
          </a:xfrm>
          <a:prstGeom prst="rect">
            <a:avLst/>
          </a:prstGeom>
          <a:noFill/>
          <a:ln/>
        </p:spPr>
        <p:txBody>
          <a:bodyPr wrap="square" lIns="0" tIns="0" rIns="0" bIns="0"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The Code</a:t>
            </a:r>
            <a:endParaRPr lang="en-US" sz="2000" dirty="0"/>
          </a:p>
        </p:txBody>
      </p:sp>
      <p:sp>
        <p:nvSpPr>
          <p:cNvPr id="3" name="Text 1">
            <a:hlinkClick r:id="rId1" tooltip=""/>
          </p:cNvPr>
          <p:cNvSpPr txBox="1"/>
          <p:nvPr/>
        </p:nvSpPr>
        <p:spPr>
          <a:xfrm>
            <a:off x="8595360" y="365760"/>
            <a:ext cx="2926080" cy="457200"/>
          </a:xfrm>
          <a:prstGeom prst="rect">
            <a:avLst/>
          </a:prstGeom>
          <a:noFill/>
          <a:ln/>
        </p:spPr>
        <p:txBody>
          <a:bodyPr wrap="square" lIns="0" tIns="0" rIns="0" bIns="0" rtlCol="0" anchor="ctr"/>
          <a:lstStyle/>
          <a:p>
            <a:pPr algn="r" indent="0" marL="0">
              <a:buNone/>
            </a:pPr>
            <a:r>
              <a:rPr lang="en-US" sz="1200" u="sng" dirty="0">
                <a:solidFill>
                  <a:srgbClr val="D9932B"/>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example.py</a:t>
            </a:r>
            <a:endParaRPr lang="en-US" sz="1200" dirty="0"/>
          </a:p>
        </p:txBody>
      </p:sp>
      <p:sp>
        <p:nvSpPr>
          <p:cNvPr id="4" name="Shape 2"/>
          <p:cNvSpPr/>
          <p:nvPr/>
        </p:nvSpPr>
        <p:spPr>
          <a:xfrm>
            <a:off x="640080" y="914400"/>
            <a:ext cx="10881360" cy="5166360"/>
          </a:xfrm>
          <a:prstGeom prst="roundRect">
            <a:avLst>
              <a:gd name="adj" fmla="val 1062"/>
            </a:avLst>
          </a:prstGeom>
          <a:solidFill>
            <a:srgbClr val="1E232A"/>
          </a:solidFill>
          <a:ln w="12700">
            <a:solidFill>
              <a:srgbClr val="2E353D"/>
            </a:solidFill>
            <a:prstDash val="solid"/>
          </a:ln>
        </p:spPr>
      </p:sp>
      <p:sp>
        <p:nvSpPr>
          <p:cNvPr id="5" name="Text 3"/>
          <p:cNvSpPr txBox="1"/>
          <p:nvPr/>
        </p:nvSpPr>
        <p:spPr>
          <a:xfrm>
            <a:off x="868680" y="1078992"/>
            <a:ext cx="10424160" cy="4846320"/>
          </a:xfrm>
          <a:prstGeom prst="rect">
            <a:avLst/>
          </a:prstGeom>
          <a:noFill/>
          <a:ln/>
        </p:spPr>
        <p:txBody>
          <a:bodyPr wrap="square" lIns="0" tIns="0" rIns="0" bIns="0" rtlCol="0" anchor="t"/>
          <a:lstStyle/>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01  """Session 8: pause a graph and ask a human for approval."""</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02  </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03  from langgraph.checkpoint.memory import InMemorySaver</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04  from langgraph.graph import END, START, StateGraph</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05  from langgraph.types import Command, interrupt</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06  </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07  </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08  def ask_for_approval(state):</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09      approved = interrupt("Approve this action? (yes/no)")</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10      return {"approved": approved}</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11  </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12  </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13  def finish(state):</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14      message = "Action completed." if state["approved"] else "Action cancelled."</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15      return {"message": message}</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16  </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17  </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18  graph_builder = StateGraph(dict)</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19  graph_builder.add_node("approval", ask_for_approval)</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20  graph_builder.add_node("finish", finish)</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21  graph_builder.add_edge(START, "approval")</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22  graph_builder.add_edge("approval", "finish")</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23  graph_builder.add_edge("finish", END)</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24  graph = graph_builder.compile(checkpointer=InMemorySaver())</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25  </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26  settings = {"configurable": {"thread_id": "approval-1"}}</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27  graph.invoke({"action": "Reset the account"}, config=settings)</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28  answer = input("Approve the account reset? (yes/no): ")</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29  result = graph.invoke(Command(resume=answer.lower() == "yes"), config=settings)</a:t>
            </a:r>
            <a:endParaRPr lang="en-US" sz="1070" dirty="0"/>
          </a:p>
          <a:p>
            <a:pPr indent="0" marL="0">
              <a:lnSpc>
                <a:spcPct val="100000"/>
              </a:lnSpc>
              <a:buNone/>
            </a:pPr>
            <a:r>
              <a:rPr lang="en-US" sz="1070" dirty="0">
                <a:solidFill>
                  <a:srgbClr val="E8ECEF"/>
                </a:solidFill>
                <a:latin typeface="Consolas" pitchFamily="34" charset="0"/>
                <a:ea typeface="Consolas" pitchFamily="34" charset="-122"/>
                <a:cs typeface="Consolas" pitchFamily="34" charset="-120"/>
              </a:rPr>
              <a:t>30  print(result["message"])</a:t>
            </a:r>
            <a:endParaRPr lang="en-US" sz="1070" dirty="0"/>
          </a:p>
        </p:txBody>
      </p:sp>
      <p:sp>
        <p:nvSpPr>
          <p:cNvPr id="6" name="Text 4"/>
          <p:cNvSpPr txBox="1"/>
          <p:nvPr/>
        </p:nvSpPr>
        <p:spPr>
          <a:xfrm>
            <a:off x="640080" y="6153912"/>
            <a:ext cx="10881360" cy="274320"/>
          </a:xfrm>
          <a:prstGeom prst="rect">
            <a:avLst/>
          </a:prstGeom>
          <a:noFill/>
          <a:ln/>
        </p:spPr>
        <p:txBody>
          <a:bodyPr wrap="square" lIns="0" tIns="0" rIns="0" bIns="0" rtlCol="0" anchor="ctr"/>
          <a:lstStyle/>
          <a:p>
            <a:pPr indent="0" marL="0">
              <a:buNone/>
            </a:pPr>
            <a:r>
              <a:rPr lang="en-US" sz="1100" i="1" dirty="0">
                <a:solidFill>
                  <a:srgbClr val="8A939A"/>
                </a:solidFill>
                <a:latin typeface="Calibri" pitchFamily="34" charset="0"/>
                <a:ea typeface="Calibri" pitchFamily="34" charset="-122"/>
                <a:cs typeface="Calibri" pitchFamily="34" charset="-120"/>
              </a:rPr>
              <a:t>Deterministic — the only external input is the yes/no typed at the prompt.</a:t>
            </a:r>
            <a:endParaRPr lang="en-US" sz="1100" dirty="0"/>
          </a:p>
        </p:txBody>
      </p:sp>
      <p:sp>
        <p:nvSpPr>
          <p:cNvPr id="7" name="Text 5"/>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08  ·  HUMAN IN THE LOOP</a:t>
            </a:r>
            <a:endParaRPr lang="en-US" sz="900" dirty="0"/>
          </a:p>
        </p:txBody>
      </p:sp>
      <p:sp>
        <p:nvSpPr>
          <p:cNvPr id="8" name="Text 6"/>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058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Hands-On Lab  ·  ~30 min</a:t>
            </a:r>
            <a:endParaRPr lang="en-US" sz="2400" dirty="0"/>
          </a:p>
        </p:txBody>
      </p:sp>
      <p:sp>
        <p:nvSpPr>
          <p:cNvPr id="3" name="Shape 1"/>
          <p:cNvSpPr/>
          <p:nvPr/>
        </p:nvSpPr>
        <p:spPr>
          <a:xfrm>
            <a:off x="640080" y="1051560"/>
            <a:ext cx="6400800" cy="5394960"/>
          </a:xfrm>
          <a:prstGeom prst="roundRect">
            <a:avLst>
              <a:gd name="adj" fmla="val 1017"/>
            </a:avLst>
          </a:prstGeom>
          <a:solidFill>
            <a:srgbClr val="F5F7F3"/>
          </a:solidFill>
          <a:ln w="12700">
            <a:solidFill>
              <a:srgbClr val="D7DCD1"/>
            </a:solidFill>
            <a:prstDash val="solid"/>
          </a:ln>
        </p:spPr>
      </p:sp>
      <p:sp>
        <p:nvSpPr>
          <p:cNvPr id="4" name="Text 2"/>
          <p:cNvSpPr txBox="1"/>
          <p:nvPr/>
        </p:nvSpPr>
        <p:spPr>
          <a:xfrm>
            <a:off x="868680" y="1188720"/>
            <a:ext cx="5943600" cy="320040"/>
          </a:xfrm>
          <a:prstGeom prst="rect">
            <a:avLst/>
          </a:prstGeom>
          <a:noFill/>
          <a:ln/>
        </p:spPr>
        <p:txBody>
          <a:bodyPr wrap="square" lIns="0" tIns="0" rIns="0" bIns="0" rtlCol="0" anchor="ctr"/>
          <a:lstStyle/>
          <a:p>
            <a:pPr indent="0" marL="0">
              <a:buNone/>
            </a:pPr>
            <a:r>
              <a:rPr lang="en-US" sz="1200" b="1" dirty="0">
                <a:solidFill>
                  <a:srgbClr val="D9932B"/>
                </a:solidFill>
                <a:latin typeface="Consolas" pitchFamily="34" charset="0"/>
                <a:ea typeface="Consolas" pitchFamily="34" charset="-122"/>
                <a:cs typeface="Consolas" pitchFamily="34" charset="-120"/>
              </a:rPr>
              <a:t>Graph to draw</a:t>
            </a:r>
            <a:endParaRPr lang="en-US" sz="1200" dirty="0"/>
          </a:p>
        </p:txBody>
      </p:sp>
      <p:sp>
        <p:nvSpPr>
          <p:cNvPr id="5" name="Text 3"/>
          <p:cNvSpPr txBox="1"/>
          <p:nvPr/>
        </p:nvSpPr>
        <p:spPr>
          <a:xfrm>
            <a:off x="868680" y="1508760"/>
            <a:ext cx="5943600" cy="502920"/>
          </a:xfrm>
          <a:prstGeom prst="rect">
            <a:avLst/>
          </a:prstGeom>
          <a:noFill/>
          <a:ln/>
        </p:spPr>
        <p:txBody>
          <a:bodyPr wrap="square" lIns="0" tIns="0" rIns="0" bIns="0" rtlCol="0" anchor="ctr"/>
          <a:lstStyle/>
          <a:p>
            <a:pPr indent="0" marL="0">
              <a:buNone/>
            </a:pPr>
            <a:r>
              <a:rPr lang="en-US" sz="1300" dirty="0">
                <a:solidFill>
                  <a:srgbClr val="1A1E22"/>
                </a:solidFill>
                <a:latin typeface="Consolas" pitchFamily="34" charset="0"/>
                <a:ea typeface="Consolas" pitchFamily="34" charset="-122"/>
                <a:cs typeface="Consolas" pitchFamily="34" charset="-120"/>
              </a:rPr>
              <a:t>START -&gt; approval -&gt; finish -&gt; END</a:t>
            </a:r>
            <a:endParaRPr lang="en-US" sz="1300" dirty="0"/>
          </a:p>
        </p:txBody>
      </p:sp>
      <p:sp>
        <p:nvSpPr>
          <p:cNvPr id="6" name="Text 4"/>
          <p:cNvSpPr txBox="1"/>
          <p:nvPr/>
        </p:nvSpPr>
        <p:spPr>
          <a:xfrm>
            <a:off x="868680" y="2148840"/>
            <a:ext cx="5943600" cy="4023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Open example.py and find each node.</a:t>
            </a:r>
            <a:endParaRPr lang="en-US" sz="1250" dirty="0"/>
          </a:p>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Note where the interrupt pauses things.</a:t>
            </a:r>
            <a:endParaRPr lang="en-US" sz="1250" dirty="0"/>
          </a:p>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Run once typing yes, once typing no.</a:t>
            </a:r>
            <a:endParaRPr lang="en-US" sz="1250" dirty="0"/>
          </a:p>
        </p:txBody>
      </p:sp>
      <p:sp>
        <p:nvSpPr>
          <p:cNvPr id="7" name="Shape 5"/>
          <p:cNvSpPr/>
          <p:nvPr/>
        </p:nvSpPr>
        <p:spPr>
          <a:xfrm>
            <a:off x="7269480" y="1051560"/>
            <a:ext cx="4251960" cy="5394960"/>
          </a:xfrm>
          <a:prstGeom prst="roundRect">
            <a:avLst>
              <a:gd name="adj" fmla="val 1290"/>
            </a:avLst>
          </a:prstGeom>
          <a:solidFill>
            <a:srgbClr val="14171B"/>
          </a:solidFill>
          <a:ln/>
        </p:spPr>
      </p:sp>
      <p:sp>
        <p:nvSpPr>
          <p:cNvPr id="8" name="Text 6"/>
          <p:cNvSpPr txBox="1"/>
          <p:nvPr/>
        </p:nvSpPr>
        <p:spPr>
          <a:xfrm>
            <a:off x="7498080" y="123444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CONTROL QUESTION</a:t>
            </a:r>
            <a:endParaRPr lang="en-US" sz="1100" dirty="0"/>
          </a:p>
        </p:txBody>
      </p:sp>
      <p:sp>
        <p:nvSpPr>
          <p:cNvPr id="9" name="Text 7"/>
          <p:cNvSpPr txBox="1"/>
          <p:nvPr/>
        </p:nvSpPr>
        <p:spPr>
          <a:xfrm>
            <a:off x="7498080" y="1600200"/>
            <a:ext cx="3840480" cy="1828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person controls the approval decision — the graph only decides when to pause and ask.</a:t>
            </a:r>
            <a:endParaRPr lang="en-US" sz="1300" dirty="0"/>
          </a:p>
        </p:txBody>
      </p:sp>
      <p:sp>
        <p:nvSpPr>
          <p:cNvPr id="10" name="Text 8"/>
          <p:cNvSpPr txBox="1"/>
          <p:nvPr/>
        </p:nvSpPr>
        <p:spPr>
          <a:xfrm>
            <a:off x="7498080" y="365760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RUN IT</a:t>
            </a:r>
            <a:endParaRPr lang="en-US" sz="1100" dirty="0"/>
          </a:p>
        </p:txBody>
      </p:sp>
      <p:sp>
        <p:nvSpPr>
          <p:cNvPr id="11" name="Text 9"/>
          <p:cNvSpPr txBox="1"/>
          <p:nvPr/>
        </p:nvSpPr>
        <p:spPr>
          <a:xfrm>
            <a:off x="7498080" y="4023360"/>
            <a:ext cx="3840480" cy="731520"/>
          </a:xfrm>
          <a:prstGeom prst="rect">
            <a:avLst/>
          </a:prstGeom>
          <a:noFill/>
          <a:ln/>
        </p:spPr>
        <p:txBody>
          <a:bodyPr wrap="square" lIns="0" tIns="0" rIns="0" bIns="0" rtlCol="0" anchor="ctr"/>
          <a:lstStyle/>
          <a:p>
            <a:pPr indent="0" marL="0">
              <a:buNone/>
            </a:pPr>
            <a:r>
              <a:rPr lang="en-US" sz="1150" dirty="0">
                <a:solidFill>
                  <a:srgbClr val="E8ECEF"/>
                </a:solidFill>
                <a:latin typeface="Consolas" pitchFamily="34" charset="0"/>
                <a:ea typeface="Consolas" pitchFamily="34" charset="-122"/>
                <a:cs typeface="Consolas" pitchFamily="34" charset="-120"/>
              </a:rPr>
              <a:t>uv run python</a:t>
            </a:r>
            <a:endParaRPr lang="en-US" sz="1150" dirty="0"/>
          </a:p>
          <a:p>
            <a:pPr indent="0" marL="0">
              <a:buNone/>
            </a:pPr>
            <a:r>
              <a:rPr lang="en-US" sz="1150" dirty="0">
                <a:solidFill>
                  <a:srgbClr val="E8ECEF"/>
                </a:solidFill>
                <a:latin typeface="Consolas" pitchFamily="34" charset="0"/>
                <a:ea typeface="Consolas" pitchFamily="34" charset="-122"/>
                <a:cs typeface="Consolas" pitchFamily="34" charset="-120"/>
              </a:rPr>
              <a:t>Day-08-Human-In-The-Loop\example.py</a:t>
            </a:r>
            <a:endParaRPr lang="en-US" sz="1150" dirty="0"/>
          </a:p>
        </p:txBody>
      </p:sp>
      <p:sp>
        <p:nvSpPr>
          <p:cNvPr id="12" name="Text 10"/>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08  ·  HUMAN IN THE LOOP</a:t>
            </a:r>
            <a:endParaRPr lang="en-US" sz="900" dirty="0"/>
          </a:p>
        </p:txBody>
      </p:sp>
      <p:sp>
        <p:nvSpPr>
          <p:cNvPr id="13" name="Text 11"/>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5486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Assignment</a:t>
            </a:r>
            <a:endParaRPr lang="en-US" sz="2400" dirty="0"/>
          </a:p>
        </p:txBody>
      </p:sp>
      <p:sp>
        <p:nvSpPr>
          <p:cNvPr id="3" name="Text 1"/>
          <p:cNvSpPr txBox="1"/>
          <p:nvPr/>
        </p:nvSpPr>
        <p:spPr>
          <a:xfrm>
            <a:off x="640080" y="960120"/>
            <a:ext cx="10607040" cy="502920"/>
          </a:xfrm>
          <a:prstGeom prst="rect">
            <a:avLst/>
          </a:prstGeom>
          <a:noFill/>
          <a:ln/>
        </p:spPr>
        <p:txBody>
          <a:bodyPr wrap="square" lIns="0" tIns="0" rIns="0" bIns="0" rtlCol="0" anchor="ctr"/>
          <a:lstStyle/>
          <a:p>
            <a:pPr indent="0" marL="0">
              <a:buNone/>
            </a:pPr>
            <a:r>
              <a:rPr lang="en-US" sz="1400" i="1" dirty="0">
                <a:solidFill>
                  <a:srgbClr val="5B646B"/>
                </a:solidFill>
                <a:latin typeface="Calibri" pitchFamily="34" charset="0"/>
                <a:ea typeface="Calibri" pitchFamily="34" charset="-122"/>
                <a:cs typeface="Calibri" pitchFamily="34" charset="-120"/>
              </a:rPr>
              <a:t>Make one small change to example.py and explain how the result changes.</a:t>
            </a:r>
            <a:endParaRPr lang="en-US" sz="1400" dirty="0"/>
          </a:p>
        </p:txBody>
      </p:sp>
      <p:sp>
        <p:nvSpPr>
          <p:cNvPr id="4" name="Shape 2"/>
          <p:cNvSpPr/>
          <p:nvPr/>
        </p:nvSpPr>
        <p:spPr>
          <a:xfrm>
            <a:off x="640080" y="1600200"/>
            <a:ext cx="6400800" cy="4846320"/>
          </a:xfrm>
          <a:prstGeom prst="roundRect">
            <a:avLst>
              <a:gd name="adj" fmla="val 1132"/>
            </a:avLst>
          </a:prstGeom>
          <a:solidFill>
            <a:srgbClr val="F5F7F3"/>
          </a:solidFill>
          <a:ln w="12700">
            <a:solidFill>
              <a:srgbClr val="D7DCD1"/>
            </a:solidFill>
            <a:prstDash val="solid"/>
          </a:ln>
        </p:spPr>
      </p:sp>
      <p:sp>
        <p:nvSpPr>
          <p:cNvPr id="5" name="Text 3"/>
          <p:cNvSpPr txBox="1"/>
          <p:nvPr/>
        </p:nvSpPr>
        <p:spPr>
          <a:xfrm>
            <a:off x="868680" y="1783080"/>
            <a:ext cx="5943600" cy="448056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Read the sample input near the bottom of example.py.</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Predict the current output without running the file.</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Run the example from the repository root.</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Change only one input value or short sentence.</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Predict the new route or output, then run again to confirm.</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Write three sentences: what changed, what happened, why.</a:t>
            </a:r>
            <a:endParaRPr lang="en-US" sz="1250" dirty="0"/>
          </a:p>
        </p:txBody>
      </p:sp>
      <p:sp>
        <p:nvSpPr>
          <p:cNvPr id="6" name="Shape 4"/>
          <p:cNvSpPr/>
          <p:nvPr/>
        </p:nvSpPr>
        <p:spPr>
          <a:xfrm>
            <a:off x="7269480" y="1600200"/>
            <a:ext cx="4251960" cy="4846320"/>
          </a:xfrm>
          <a:prstGeom prst="roundRect">
            <a:avLst>
              <a:gd name="adj" fmla="val 1290"/>
            </a:avLst>
          </a:prstGeom>
          <a:solidFill>
            <a:srgbClr val="3E5064"/>
          </a:solidFill>
          <a:ln/>
        </p:spPr>
      </p:sp>
      <p:sp>
        <p:nvSpPr>
          <p:cNvPr id="7" name="Text 5"/>
          <p:cNvSpPr txBox="1"/>
          <p:nvPr/>
        </p:nvSpPr>
        <p:spPr>
          <a:xfrm>
            <a:off x="7498080" y="178308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RULES</a:t>
            </a:r>
            <a:endParaRPr lang="en-US" sz="1100" dirty="0"/>
          </a:p>
        </p:txBody>
      </p:sp>
      <p:sp>
        <p:nvSpPr>
          <p:cNvPr id="8" name="Text 6"/>
          <p:cNvSpPr txBox="1"/>
          <p:nvPr/>
        </p:nvSpPr>
        <p:spPr>
          <a:xfrm>
            <a:off x="7498080" y="2148840"/>
            <a:ext cx="3886200" cy="42062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Keep the example in one Python file.</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Use LangGraph directly.</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No test folder or helper package.</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Use the uv commands shown — no other package manager.</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No Ollama call — this session is intentionally deterministic.</a:t>
            </a:r>
            <a:endParaRPr lang="en-US" sz="1150" dirty="0"/>
          </a:p>
        </p:txBody>
      </p:sp>
      <p:sp>
        <p:nvSpPr>
          <p:cNvPr id="9" name="Text 7"/>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08  ·  HUMAN IN THE LOOP</a:t>
            </a:r>
            <a:endParaRPr lang="en-US" sz="900" dirty="0"/>
          </a:p>
        </p:txBody>
      </p:sp>
      <p:sp>
        <p:nvSpPr>
          <p:cNvPr id="10" name="Text 8"/>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502920"/>
            <a:ext cx="9144000" cy="548640"/>
          </a:xfrm>
          <a:prstGeom prst="rect">
            <a:avLst/>
          </a:prstGeom>
          <a:noFill/>
          <a:ln/>
        </p:spPr>
        <p:txBody>
          <a:bodyPr wrap="square" lIns="0" tIns="0" rIns="0" bIns="0" rtlCol="0" anchor="ctr"/>
          <a:lstStyle/>
          <a:p>
            <a:pPr indent="0" marL="0">
              <a:buNone/>
            </a:pPr>
            <a:r>
              <a:rPr lang="en-US" sz="2600" b="1" dirty="0">
                <a:solidFill>
                  <a:srgbClr val="FFFFFF"/>
                </a:solidFill>
                <a:latin typeface="Consolas" pitchFamily="34" charset="0"/>
                <a:ea typeface="Consolas" pitchFamily="34" charset="-122"/>
                <a:cs typeface="Consolas" pitchFamily="34" charset="-120"/>
              </a:rPr>
              <a:t>Before You Move On</a:t>
            </a:r>
            <a:endParaRPr lang="en-US" sz="2600" dirty="0"/>
          </a:p>
        </p:txBody>
      </p:sp>
      <p:sp>
        <p:nvSpPr>
          <p:cNvPr id="3" name="Text 1"/>
          <p:cNvSpPr txBox="1"/>
          <p:nvPr/>
        </p:nvSpPr>
        <p:spPr>
          <a:xfrm>
            <a:off x="685800" y="1280160"/>
            <a:ext cx="7498080" cy="457200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The file runs successfully for both a yes and a no answer.</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can name the state, nodes, and edges.</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can explain who controls the next step and why the pause happens before the action.</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Your one-change assignment ran twice.</a:t>
            </a:r>
            <a:endParaRPr lang="en-US" sz="1350" dirty="0"/>
          </a:p>
        </p:txBody>
      </p:sp>
      <p:sp>
        <p:nvSpPr>
          <p:cNvPr id="4" name="Shape 2"/>
          <p:cNvSpPr/>
          <p:nvPr/>
        </p:nvSpPr>
        <p:spPr>
          <a:xfrm>
            <a:off x="8503920" y="1280160"/>
            <a:ext cx="3017520" cy="4572000"/>
          </a:xfrm>
          <a:prstGeom prst="roundRect">
            <a:avLst>
              <a:gd name="adj" fmla="val 1818"/>
            </a:avLst>
          </a:prstGeom>
          <a:solidFill>
            <a:srgbClr val="1E232A"/>
          </a:solidFill>
          <a:ln w="12700">
            <a:solidFill>
              <a:srgbClr val="2E353D"/>
            </a:solidFill>
            <a:prstDash val="solid"/>
          </a:ln>
        </p:spPr>
      </p:sp>
      <p:sp>
        <p:nvSpPr>
          <p:cNvPr id="5" name="Text 3"/>
          <p:cNvSpPr txBox="1"/>
          <p:nvPr/>
        </p:nvSpPr>
        <p:spPr>
          <a:xfrm>
            <a:off x="8732520" y="1463040"/>
            <a:ext cx="2560320" cy="274320"/>
          </a:xfrm>
          <a:prstGeom prst="rect">
            <a:avLst/>
          </a:prstGeom>
          <a:noFill/>
          <a:ln/>
        </p:spPr>
        <p:txBody>
          <a:bodyPr wrap="square" lIns="0" tIns="0" rIns="0" bIns="0" rtlCol="0" anchor="ctr"/>
          <a:lstStyle/>
          <a:p>
            <a:pPr indent="0" marL="0">
              <a:buNone/>
            </a:pPr>
            <a:r>
              <a:rPr lang="en-US" sz="1000" b="1" spc="100" kern="0" dirty="0">
                <a:solidFill>
                  <a:srgbClr val="D9932B"/>
                </a:solidFill>
                <a:latin typeface="Consolas" pitchFamily="34" charset="0"/>
                <a:ea typeface="Consolas" pitchFamily="34" charset="-122"/>
                <a:cs typeface="Consolas" pitchFamily="34" charset="-120"/>
              </a:rPr>
              <a:t>USEFUL LINKS</a:t>
            </a:r>
            <a:endParaRPr lang="en-US" sz="1000" dirty="0"/>
          </a:p>
        </p:txBody>
      </p:sp>
      <p:sp>
        <p:nvSpPr>
          <p:cNvPr id="6" name="Text 4">
            <a:hlinkClick r:id="rId1" tooltip=""/>
          </p:cNvPr>
          <p:cNvSpPr txBox="1"/>
          <p:nvPr/>
        </p:nvSpPr>
        <p:spPr>
          <a:xfrm>
            <a:off x="8732520" y="1828800"/>
            <a:ext cx="2560320" cy="411480"/>
          </a:xfrm>
          <a:prstGeom prst="rect">
            <a:avLst/>
          </a:prstGeom>
          <a:noFill/>
          <a:ln/>
        </p:spPr>
        <p:txBody>
          <a:bodyPr wrap="square" lIns="0" tIns="0" rIns="0" bIns="0" rtlCol="0" anchor="ctr"/>
          <a:lstStyle/>
          <a:p>
            <a:pPr indent="0" marL="0">
              <a:buNone/>
            </a:pPr>
            <a:r>
              <a:rPr lang="en-US" sz="1150" u="sng" dirty="0">
                <a:solidFill>
                  <a:srgbClr val="CFE8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Day 8 README</a:t>
            </a:r>
            <a:endParaRPr lang="en-US" sz="1150" dirty="0"/>
          </a:p>
        </p:txBody>
      </p:sp>
      <p:sp>
        <p:nvSpPr>
          <p:cNvPr id="7" name="Text 5">
            <a:hlinkClick r:id="rId2" tooltip="" action="ppaction://hlinksldjump"/>
          </p:cNvPr>
          <p:cNvSpPr txBox="1"/>
          <p:nvPr/>
        </p:nvSpPr>
        <p:spPr>
          <a:xfrm>
            <a:off x="685800" y="6126480"/>
            <a:ext cx="1828800" cy="320040"/>
          </a:xfrm>
          <a:prstGeom prst="rect">
            <a:avLst/>
          </a:prstGeom>
          <a:noFill/>
          <a:ln/>
        </p:spPr>
        <p:txBody>
          <a:bodyPr wrap="square" lIns="0" tIns="0" rIns="0" bIns="0" rtlCol="0" anchor="ctr"/>
          <a:lstStyle/>
          <a:p>
            <a:pPr indent="0" marL="0">
              <a:buNone/>
            </a:pPr>
            <a:r>
              <a:rPr lang="en-US" sz="1100" u="sng" dirty="0">
                <a:solidFill>
                  <a:srgbClr val="8A939A"/>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100" dirty="0"/>
          </a:p>
        </p:txBody>
      </p:sp>
      <p:sp>
        <p:nvSpPr>
          <p:cNvPr id="8" name="Shape 6"/>
          <p:cNvSpPr/>
          <p:nvPr/>
        </p:nvSpPr>
        <p:spPr>
          <a:xfrm>
            <a:off x="8503920" y="5989320"/>
            <a:ext cx="3017520" cy="548640"/>
          </a:xfrm>
          <a:prstGeom prst="roundRect">
            <a:avLst>
              <a:gd name="adj" fmla="val 50000"/>
            </a:avLst>
          </a:prstGeom>
          <a:solidFill>
            <a:srgbClr val="D9932B"/>
          </a:solidFill>
          <a:ln/>
        </p:spPr>
      </p:sp>
      <p:sp>
        <p:nvSpPr>
          <p:cNvPr id="9" name="Text 7">
            <a:hlinkClick r:id="rId3" tooltip=""/>
          </p:cNvPr>
          <p:cNvSpPr txBox="1"/>
          <p:nvPr/>
        </p:nvSpPr>
        <p:spPr>
          <a:xfrm>
            <a:off x="8503920" y="5989320"/>
            <a:ext cx="3017520" cy="548640"/>
          </a:xfrm>
          <a:prstGeom prst="rect">
            <a:avLst/>
          </a:prstGeom>
          <a:noFill/>
          <a:ln/>
        </p:spPr>
        <p:txBody>
          <a:bodyPr wrap="square" lIns="0" tIns="0" rIns="0" bIns="0" rtlCol="0" anchor="ctr"/>
          <a:lstStyle/>
          <a:p>
            <a:pPr algn="ctr" indent="0" marL="0">
              <a:buNone/>
            </a:pPr>
            <a:r>
              <a:rPr lang="en-US" sz="1200" b="1" u="sng" dirty="0">
                <a:solidFill>
                  <a:srgbClr val="241A0A"/>
                </a:solidFill>
                <a:latin typeface="Consolas" pitchFamily="34" charset="0"/>
                <a:ea typeface="Consolas" pitchFamily="34" charset="-122"/>
                <a:cs typeface="Consolas" pitchFamily="34" charset="-120"/>
                <a:hlinkClick r:id="rId3" invalidUrl="" action="" tgtFrame="" tooltip="" history="1" highlightClick="0" endSnd="0">
                  <a:extLst>
                    <a:ext uri="{A12FA001-AC4F-418D-AE19-62706E023703}">
                      <ahyp:hlinkClr xmlns:ahyp="http://schemas.microsoft.com/office/drawing/2018/hyperlinkcolor" val="tx"/>
                    </a:ext>
                  </a:extLst>
                </a:hlinkClick>
              </a:rPr>
              <a:t>Next: Day 9  →</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L2 Agent Engineering</dc:creator>
  <cp:lastModifiedBy>L2 Agent Engineering</cp:lastModifiedBy>
  <cp:revision>1</cp:revision>
  <dcterms:created xsi:type="dcterms:W3CDTF">2026-09-07T10:04:29Z</dcterms:created>
  <dcterms:modified xsi:type="dcterms:W3CDTF">2026-09-07T10:04:29Z</dcterms:modified>
</cp:coreProperties>
</file>