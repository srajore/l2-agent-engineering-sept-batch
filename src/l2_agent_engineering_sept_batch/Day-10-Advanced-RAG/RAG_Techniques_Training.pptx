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1B998B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82880"/>
            <a:ext cx="2011680" cy="2011680"/>
          </a:xfrm>
          <a:prstGeom prst="ellipse">
            <a:avLst/>
          </a:prstGeom>
          <a:solidFill>
            <a:srgbClr val="2EC4B6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RAG TECHNIQUES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 RAG to Reranking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Ollama · ChromaDB · CrossEncoder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709160"/>
            <a:ext cx="109728" cy="10972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4709160"/>
            <a:ext cx="109728" cy="10972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4709160"/>
            <a:ext cx="109728" cy="10972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17320" y="4709160"/>
            <a:ext cx="109728" cy="109728"/>
          </a:xfrm>
          <a:prstGeom prst="ellipse">
            <a:avLst/>
          </a:prstGeom>
          <a:solidFill>
            <a:srgbClr val="8899A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4709160"/>
            <a:ext cx="109728" cy="109728"/>
          </a:xfrm>
          <a:prstGeom prst="ellipse">
            <a:avLst/>
          </a:prstGeom>
          <a:solidFill>
            <a:srgbClr val="8899A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4709160"/>
            <a:ext cx="109728" cy="109728"/>
          </a:xfrm>
          <a:prstGeom prst="ellipse">
            <a:avLst/>
          </a:prstGeom>
          <a:solidFill>
            <a:srgbClr val="8899A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4709160"/>
            <a:ext cx="109728" cy="109728"/>
          </a:xfrm>
          <a:prstGeom prst="ellipse">
            <a:avLst/>
          </a:prstGeom>
          <a:solidFill>
            <a:srgbClr val="8899A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97480" y="4709160"/>
            <a:ext cx="109728" cy="109728"/>
          </a:xfrm>
          <a:prstGeom prst="ellipse">
            <a:avLst/>
          </a:prstGeom>
          <a:solidFill>
            <a:srgbClr val="8899A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132336"/>
          </a:solidFill>
          <a:ln w="254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" cy="105156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70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open-book exam analogy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023360" cy="1051560"/>
          </a:xfrm>
          <a:prstGeom prst="rect">
            <a:avLst/>
          </a:prstGeom>
          <a:solidFill>
            <a:srgbClr val="132336"/>
          </a:solidFill>
          <a:ln w="254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31720"/>
            <a:ext cx="109728" cy="1051560"/>
          </a:xfrm>
          <a:prstGeom prst="rect">
            <a:avLst/>
          </a:prstGeom>
          <a:solidFill>
            <a:srgbClr val="2EC4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404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8368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3044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Chunk → Embed → Retrieve → Answer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023360" cy="1051560"/>
          </a:xfrm>
          <a:prstGeom prst="rect">
            <a:avLst/>
          </a:prstGeom>
          <a:solidFill>
            <a:srgbClr val="132336"/>
          </a:solidFill>
          <a:ln w="254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66160"/>
            <a:ext cx="109728" cy="1051560"/>
          </a:xfrm>
          <a:prstGeom prst="rect">
            <a:avLst/>
          </a:prstGeom>
          <a:solidFill>
            <a:srgbClr val="FF9F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6393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4279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queries → better chunks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97280"/>
            <a:ext cx="4023360" cy="1051560"/>
          </a:xfrm>
          <a:prstGeom prst="rect">
            <a:avLst/>
          </a:prstGeom>
          <a:solidFill>
            <a:srgbClr val="132336"/>
          </a:solidFill>
          <a:ln w="254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97280"/>
            <a:ext cx="109728" cy="1051560"/>
          </a:xfrm>
          <a:prstGeom prst="rect">
            <a:avLst/>
          </a:prstGeom>
          <a:solidFill>
            <a:srgbClr val="7B2F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1170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47488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47488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Document Embeddings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331720"/>
            <a:ext cx="4023360" cy="1051560"/>
          </a:xfrm>
          <a:prstGeom prst="rect">
            <a:avLst/>
          </a:prstGeom>
          <a:solidFill>
            <a:srgbClr val="132336"/>
          </a:solidFill>
          <a:ln w="254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331720"/>
            <a:ext cx="109728" cy="1051560"/>
          </a:xfrm>
          <a:prstGeom prst="rect">
            <a:avLst/>
          </a:prstGeom>
          <a:solidFill>
            <a:srgbClr val="2DC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404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47488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47488" y="3044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coverage via parallel retrieval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566160"/>
            <a:ext cx="4023360" cy="1051560"/>
          </a:xfrm>
          <a:prstGeom prst="rect">
            <a:avLst/>
          </a:prstGeom>
          <a:solidFill>
            <a:srgbClr val="132336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566160"/>
            <a:ext cx="109728" cy="10515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36393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047488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47488" y="4279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filtering with CrossEncoder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91440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3383280"/>
          </a:xfrm>
          <a:prstGeom prst="rect">
            <a:avLst/>
          </a:prstGeom>
          <a:solidFill>
            <a:srgbClr val="132336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LLM Without RAG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 exam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474720" cy="18288"/>
          </a:xfrm>
          <a:prstGeom prst="rect">
            <a:avLst/>
          </a:prstGeom>
          <a:solidFill>
            <a:srgbClr val="8899AA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Answers from training data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May hallucinate or give outdated info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access to your private documents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023360" cy="3383280"/>
          </a:xfrm>
          <a:prstGeom prst="rect">
            <a:avLst/>
          </a:prstGeom>
          <a:solidFill>
            <a:srgbClr val="132336"/>
          </a:solidFill>
          <a:ln w="254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LLM With RAG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Open-book exam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783080"/>
            <a:ext cx="3474720" cy="18288"/>
          </a:xfrm>
          <a:prstGeom prst="rect">
            <a:avLst/>
          </a:prstGeom>
          <a:solidFill>
            <a:srgbClr val="8899AA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920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Retrieves relevant facts first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377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Grounds the answer in real content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834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Works with any private document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017520" y="4526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74720" y="4526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35040" y="4526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4526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99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· Chunk · Embed · Retrieve · Generate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RAG — The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PHASE  (run once)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PHASE  (per question)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1920240" cy="1188720"/>
          </a:xfrm>
          <a:prstGeom prst="rect">
            <a:avLst/>
          </a:prstGeom>
          <a:solidFill>
            <a:srgbClr val="132336"/>
          </a:solidFill>
          <a:ln w="254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61872"/>
            <a:ext cx="1920240" cy="164592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179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TextLoader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1856232"/>
            <a:ext cx="164592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96312" y="1261872"/>
            <a:ext cx="1920240" cy="1188720"/>
          </a:xfrm>
          <a:prstGeom prst="rect">
            <a:avLst/>
          </a:prstGeom>
          <a:solidFill>
            <a:srgbClr val="132336"/>
          </a:solidFill>
          <a:ln w="254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1261872"/>
            <a:ext cx="1920240" cy="164592"/>
          </a:xfrm>
          <a:prstGeom prst="rect">
            <a:avLst/>
          </a:prstGeom>
          <a:solidFill>
            <a:srgbClr val="2EC4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5179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Split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RecursiveTextSplitter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16552" y="1856232"/>
            <a:ext cx="164592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81144" y="1261872"/>
            <a:ext cx="1920240" cy="1188720"/>
          </a:xfrm>
          <a:prstGeom prst="rect">
            <a:avLst/>
          </a:prstGeom>
          <a:solidFill>
            <a:srgbClr val="132336"/>
          </a:solidFill>
          <a:ln w="254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81144" y="1261872"/>
            <a:ext cx="1920240" cy="164592"/>
          </a:xfrm>
          <a:prstGeom prst="rect">
            <a:avLst/>
          </a:prstGeom>
          <a:solidFill>
            <a:srgbClr val="FF9F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15179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Embed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90872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OllamaEmbeddings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01384" y="1856232"/>
            <a:ext cx="164592" cy="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65976" y="1261872"/>
            <a:ext cx="1920240" cy="1188720"/>
          </a:xfrm>
          <a:prstGeom prst="rect">
            <a:avLst/>
          </a:prstGeom>
          <a:solidFill>
            <a:srgbClr val="132336"/>
          </a:solidFill>
          <a:ln w="254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65976" y="1261872"/>
            <a:ext cx="1920240" cy="164592"/>
          </a:xfrm>
          <a:prstGeom prst="rect">
            <a:avLst/>
          </a:prstGeom>
          <a:solidFill>
            <a:srgbClr val="7B2F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75704" y="15179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75704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044952"/>
            <a:ext cx="1920240" cy="1188720"/>
          </a:xfrm>
          <a:prstGeom prst="rect">
            <a:avLst/>
          </a:prstGeom>
          <a:solidFill>
            <a:srgbClr val="132336"/>
          </a:solidFill>
          <a:ln w="254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044952"/>
            <a:ext cx="1920240" cy="164592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33009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Retrieve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" y="3703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31720" y="3639312"/>
            <a:ext cx="164592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96312" y="3044952"/>
            <a:ext cx="1920240" cy="1188720"/>
          </a:xfrm>
          <a:prstGeom prst="rect">
            <a:avLst/>
          </a:prstGeom>
          <a:solidFill>
            <a:srgbClr val="132336"/>
          </a:solidFill>
          <a:ln w="254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96312" y="3044952"/>
            <a:ext cx="1920240" cy="164592"/>
          </a:xfrm>
          <a:prstGeom prst="rect">
            <a:avLst/>
          </a:prstGeom>
          <a:solidFill>
            <a:srgbClr val="2EC4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33009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Build Prompt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06040" y="3703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Question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16552" y="3639312"/>
            <a:ext cx="164592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81144" y="3044952"/>
            <a:ext cx="1920240" cy="1188720"/>
          </a:xfrm>
          <a:prstGeom prst="rect">
            <a:avLst/>
          </a:prstGeom>
          <a:solidFill>
            <a:srgbClr val="132336"/>
          </a:solidFill>
          <a:ln w="254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81144" y="3044952"/>
            <a:ext cx="1920240" cy="164592"/>
          </a:xfrm>
          <a:prstGeom prst="rect">
            <a:avLst/>
          </a:prstGeom>
          <a:solidFill>
            <a:srgbClr val="2DC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0872" y="33009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Generate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90872" y="3703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ChatOllama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01384" y="3639312"/>
            <a:ext cx="164592" cy="0"/>
          </a:xfrm>
          <a:prstGeom prst="line">
            <a:avLst/>
          </a:prstGeom>
          <a:noFill/>
          <a:ln w="25400">
            <a:solidFill>
              <a:srgbClr val="2DC65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65976" y="3044952"/>
            <a:ext cx="1920240" cy="1188720"/>
          </a:xfrm>
          <a:prstGeom prst="rect">
            <a:avLst/>
          </a:prstGeom>
          <a:solidFill>
            <a:srgbClr val="132336"/>
          </a:solidFill>
          <a:ln w="254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665976" y="3044952"/>
            <a:ext cx="1920240" cy="164592"/>
          </a:xfrm>
          <a:prstGeom prst="rect">
            <a:avLst/>
          </a:prstGeom>
          <a:solidFill>
            <a:srgbClr val="FF9F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75704" y="33009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Answer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75704" y="3703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Response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371600" y="2450592"/>
            <a:ext cx="0" cy="32004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08760" y="2487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Query time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Chunk? — The Book Index Analogy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749808"/>
          </a:xfrm>
          <a:prstGeom prst="rect">
            <a:avLst/>
          </a:prstGeom>
          <a:solidFill>
            <a:srgbClr val="1E3348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3327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Just like a book index — you don't retrieve the whole chapter, you retrieve the exact page that answers the question.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938528"/>
            <a:ext cx="6217920" cy="274320"/>
          </a:xfrm>
          <a:prstGeom prst="rect">
            <a:avLst/>
          </a:prstGeom>
          <a:solidFill>
            <a:srgbClr val="8899AA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87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2505456"/>
            <a:ext cx="2926080" cy="256032"/>
          </a:xfrm>
          <a:prstGeom prst="rect">
            <a:avLst/>
          </a:prstGeom>
          <a:solidFill>
            <a:srgbClr val="1B998B">
              <a:alpha val="70000"/>
            </a:srgbClr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2505456"/>
            <a:ext cx="914400" cy="256032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505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3017520"/>
            <a:ext cx="2926080" cy="256032"/>
          </a:xfrm>
          <a:prstGeom prst="rect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84448"/>
            <a:ext cx="8229600" cy="502920"/>
          </a:xfrm>
          <a:prstGeom prst="rect">
            <a:avLst/>
          </a:prstGeom>
          <a:solidFill>
            <a:srgbClr val="132336"/>
          </a:solidFill>
          <a:ln w="127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6576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 = 200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6576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Max characters per chunk — tune based on document density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78808"/>
            <a:ext cx="8229600" cy="502920"/>
          </a:xfrm>
          <a:prstGeom prst="rect">
            <a:avLst/>
          </a:prstGeom>
          <a:solidFill>
            <a:srgbClr val="132336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251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chunk_overlap = 50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42519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Shared characters between adjacent chunks — prevents losing context at boundaries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— Text as Numbers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solidFill>
            <a:srgbClr val="1E3348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058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Like plotting cities on a map using coordinates — cities that are geographically close appear near each other. Embeddings do the same for meaning.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47088"/>
            <a:ext cx="8229600" cy="621792"/>
          </a:xfrm>
          <a:prstGeom prst="rect">
            <a:avLst/>
          </a:prstGeom>
          <a:solidFill>
            <a:srgbClr val="132336"/>
          </a:solidFill>
          <a:ln w="127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5681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"Leave policy"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9568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[0.12, -0.45, 0.87, ...]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9568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topic 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8229600" cy="621792"/>
          </a:xfrm>
          <a:prstGeom prst="rect">
            <a:avLst/>
          </a:prstGeom>
          <a:solidFill>
            <a:srgbClr val="132336"/>
          </a:solidFill>
          <a:ln w="127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70662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"Annual leave"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7066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[0.14, -0.43, 0.85, ...]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27066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similar vector 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8229600" cy="621792"/>
          </a:xfrm>
          <a:prstGeom prst="rect">
            <a:avLst/>
          </a:prstGeom>
          <a:solidFill>
            <a:srgbClr val="13233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4564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"Server firewall"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3456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[0.91,  0.23, -0.10, ...]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34564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topic → very different vector 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B998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6817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used:  nomic-embed-text  (runs locally via Ollama — no API key, no data leaving your machine)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→ Prompt → Answer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887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1920240" cy="1005840"/>
          </a:xfrm>
          <a:prstGeom prst="rect">
            <a:avLst/>
          </a:prstGeom>
          <a:solidFill>
            <a:srgbClr val="132336"/>
          </a:solidFill>
          <a:ln w="254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1508760"/>
            <a:ext cx="256032" cy="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86584" y="14356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87752" y="1005840"/>
            <a:ext cx="1920240" cy="1005840"/>
          </a:xfrm>
          <a:prstGeom prst="rect">
            <a:avLst/>
          </a:prstGeom>
          <a:solidFill>
            <a:srgbClr val="132336"/>
          </a:solidFill>
          <a:ln w="254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79192" y="109728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(top-k chunks)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07992" y="1508760"/>
            <a:ext cx="256032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14356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64024" y="1005840"/>
            <a:ext cx="1920240" cy="1005840"/>
          </a:xfrm>
          <a:prstGeom prst="rect">
            <a:avLst/>
          </a:prstGeom>
          <a:solidFill>
            <a:srgbClr val="132336"/>
          </a:solidFill>
          <a:ln w="254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55464" y="109728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(context + question)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84264" y="1508760"/>
            <a:ext cx="256032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14356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40296" y="1005840"/>
            <a:ext cx="1920240" cy="1005840"/>
          </a:xfrm>
          <a:prstGeom prst="rect">
            <a:avLst/>
          </a:prstGeom>
          <a:solidFill>
            <a:srgbClr val="132336"/>
          </a:solidFill>
          <a:ln w="254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31736" y="109728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132336"/>
          </a:solidFill>
          <a:ln w="254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286000"/>
            <a:ext cx="109728" cy="109728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3957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Guardrail Prompt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2788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"Answer ONLY using the provided context" — forces the LLM to stay grounded in retrieved chunks, not its training data.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47872"/>
            <a:ext cx="8229600" cy="1097280"/>
          </a:xfrm>
          <a:prstGeom prst="rect">
            <a:avLst/>
          </a:prstGeom>
          <a:solidFill>
            <a:srgbClr val="132336"/>
          </a:solidFill>
          <a:ln w="254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547872"/>
            <a:ext cx="109728" cy="1097280"/>
          </a:xfrm>
          <a:prstGeom prst="rect">
            <a:avLst/>
          </a:prstGeom>
          <a:solidFill>
            <a:srgbClr val="FF9F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6576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🛟  Fallback Message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0507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could not find that information in the document" — prevents confident wrong answers on out-of-scope questions.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9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the gap between how users ask and how documents are written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— The Librarian Analogy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45720"/>
          </a:xfrm>
          <a:prstGeom prst="rect">
            <a:avLst/>
          </a:prstGeom>
          <a:solidFill>
            <a:srgbClr val="FF9F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solidFill>
            <a:srgbClr val="1E3348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0584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You say: "Do you have anything about people who sail around the world?"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librarian translates that into "circumnavigation + maritime exploration" before searching the catalog.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Rewriting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29000" y="1874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1874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420624"/>
          </a:xfrm>
          <a:prstGeom prst="rect">
            <a:avLst/>
          </a:prstGeom>
          <a:solidFill>
            <a:srgbClr val="132336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402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take days off?"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22402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"Annual leave entitlement policy"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22402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Poor match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420624"/>
          </a:xfrm>
          <a:prstGeom prst="rect">
            <a:avLst/>
          </a:prstGeom>
          <a:solidFill>
            <a:srgbClr val="132336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43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do I tell if sick?"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743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"Absence notification procedure"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2743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Poor match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420624"/>
          </a:xfrm>
          <a:prstGeom prst="rect">
            <a:avLst/>
          </a:prstGeom>
          <a:solidFill>
            <a:srgbClr val="1B998B">
              <a:alpha val="20000"/>
            </a:srgbClr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461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"annual leave entitlement"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2461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"Annual leave entitlement policy"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32461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match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132336"/>
          </a:solidFill>
          <a:ln w="254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0352" y="3913632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91640" y="40416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47672" y="3913632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Rewrites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08960" y="40416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64992" y="3913632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Query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26280" y="40416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82312" y="3913632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Search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40416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9632" y="3913632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Chunks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60920" y="40416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16952" y="3913632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PromptTemplate &amp; LCEL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463040" cy="45720"/>
          </a:xfrm>
          <a:prstGeom prst="rect">
            <a:avLst/>
          </a:prstGeom>
          <a:solidFill>
            <a:srgbClr val="FF9F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474720"/>
          </a:xfrm>
          <a:prstGeom prst="rect">
            <a:avLst/>
          </a:prstGeom>
          <a:solidFill>
            <a:srgbClr val="132336"/>
          </a:solidFill>
          <a:ln w="254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502920"/>
          </a:xfrm>
          <a:prstGeom prst="rect">
            <a:avLst/>
          </a:prstGeom>
          <a:solidFill>
            <a:srgbClr val="FF9F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PromptTemplate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627632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reusable, parameterised prompt — like a function where {question} gets filled in at runtime.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consistent formatting and validates all required variables before sending to the LLM.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3474720"/>
          </a:xfrm>
          <a:prstGeom prst="rect">
            <a:avLst/>
          </a:prstGeom>
          <a:solidFill>
            <a:srgbClr val="132336"/>
          </a:solidFill>
          <a:ln w="254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4023360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LCEL Pipe Operator 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10912" y="1627632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LangChain components left-to-right — output of one step becomes input of the next.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rewrite_prompt  |  llm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Fill template → Send to LLM → Get rewritten query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FF9F1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6817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Just like Unix pipes:  cat file.txt | grep "error"  — output of one step flows directly into the next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B2F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Document Embeddings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— Search with an Answer, Not a Question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E3348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058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You don't know the song title — so you hum the tune. HyDE gives the search engine something that sounds like the answer, not just a description of it.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4023360" cy="2971800"/>
          </a:xfrm>
          <a:prstGeom prst="rect">
            <a:avLst/>
          </a:prstGeom>
          <a:solidFill>
            <a:srgbClr val="132336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55648"/>
            <a:ext cx="402336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013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HyDE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311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vector: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609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leave policy?"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90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Question-shaped vector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semantic mismatch with answer-shaped chunks 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755648"/>
            <a:ext cx="4023360" cy="2971800"/>
          </a:xfrm>
          <a:prstGeom prst="rect">
            <a:avLst/>
          </a:prstGeom>
          <a:solidFill>
            <a:srgbClr val="132336"/>
          </a:solidFill>
          <a:ln w="254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755648"/>
            <a:ext cx="4023360" cy="384048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8013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HyDE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2311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answer vector: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6609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"Employees are entitled to 20 days..."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090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Answer-shaped vector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matches answer-shaped chunks much better ✅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— The 4-Step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91440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24128"/>
            <a:ext cx="8229600" cy="749808"/>
          </a:xfrm>
          <a:prstGeom prst="rect">
            <a:avLst/>
          </a:prstGeom>
          <a:solidFill>
            <a:srgbClr val="132336"/>
          </a:solidFill>
          <a:ln w="254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61288"/>
            <a:ext cx="475488" cy="475488"/>
          </a:xfrm>
          <a:prstGeom prst="ellipse">
            <a:avLst/>
          </a:prstGeom>
          <a:solidFill>
            <a:srgbClr val="FF9F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1155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4475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informal question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7393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8229600" cy="749808"/>
          </a:xfrm>
          <a:prstGeom prst="rect">
            <a:avLst/>
          </a:prstGeom>
          <a:solidFill>
            <a:srgbClr val="132336"/>
          </a:solidFill>
          <a:ln w="254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075688"/>
            <a:ext cx="475488" cy="47548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0299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Hypothetical Doc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35915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fake-but-stylistically-accurate answer paragraph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" y="268833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52928"/>
            <a:ext cx="8229600" cy="749808"/>
          </a:xfrm>
          <a:prstGeom prst="rect">
            <a:avLst/>
          </a:prstGeom>
          <a:solidFill>
            <a:srgbClr val="132336"/>
          </a:solidFill>
          <a:ln w="254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990088"/>
            <a:ext cx="475488" cy="47548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90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9443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Hypothetical Doc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27355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Answer-shaped vector used for search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" y="360273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8229600" cy="749808"/>
          </a:xfrm>
          <a:prstGeom prst="rect">
            <a:avLst/>
          </a:prstGeom>
          <a:solidFill>
            <a:srgbClr val="132336"/>
          </a:solidFill>
          <a:ln w="254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904488"/>
            <a:ext cx="475488" cy="47548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04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38587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Real Chunks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18795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finds real chunks similar to the hypothetical vector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7B2FBE">
              <a:alpha val="2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700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 Rule: The hypothetical document is a SEARCH PROBE only — it is NEVER shown to the user and NEVER used in the final answer.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C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Retrieval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N times, merge results, remove duplicates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— The Expert Researcher Analogy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45720"/>
          </a:xfrm>
          <a:prstGeom prst="rect">
            <a:avLst/>
          </a:prstGeom>
          <a:solidFill>
            <a:srgbClr val="2DC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E3348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058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A novice searches once and leaves. An expert researcher tries multiple subject headings — synonyms, related terms, different angles — then combines everything.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13233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1051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Problem: A single query only finds chunks semantically close to THAT ONE PHRASING. Relevant info under different terminology gets missed.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2487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"leave policy"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840480" cy="347472"/>
          </a:xfrm>
          <a:prstGeom prst="rect">
            <a:avLst/>
          </a:prstGeom>
          <a:solidFill>
            <a:srgbClr val="132336"/>
          </a:solidFill>
          <a:ln w="127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62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"annual leave entitlement"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01568"/>
            <a:ext cx="3840480" cy="347472"/>
          </a:xfrm>
          <a:prstGeom prst="rect">
            <a:avLst/>
          </a:prstGeom>
          <a:solidFill>
            <a:srgbClr val="13233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38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"time off rules"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3840480" cy="347472"/>
          </a:xfrm>
          <a:prstGeom prst="rect">
            <a:avLst/>
          </a:prstGeom>
          <a:solidFill>
            <a:srgbClr val="132336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962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"employee absence policy"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401568"/>
            <a:ext cx="3840480" cy="347472"/>
          </a:xfrm>
          <a:prstGeom prst="rect">
            <a:avLst/>
          </a:prstGeom>
          <a:solidFill>
            <a:srgbClr val="132336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3438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"holiday allowance"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804672"/>
          </a:xfrm>
          <a:prstGeom prst="rect">
            <a:avLst/>
          </a:prstGeom>
          <a:solidFill>
            <a:srgbClr val="132336"/>
          </a:solidFill>
          <a:ln w="254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005072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queries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73352" y="416966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47672" y="4005072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4×Retrieve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90672" y="416966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4992" y="4005072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07992" y="416966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82312" y="4005072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25312" y="416966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9632" y="4005072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Context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42632" y="416966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16952" y="4005072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✅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Deduplication is Non-Negotiable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45720"/>
          </a:xfrm>
          <a:prstGeom prst="rect">
            <a:avLst/>
          </a:prstGeom>
          <a:solidFill>
            <a:srgbClr val="2DC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dedup  (4 queries × 2 chunks = 8 raw results)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0" cy="640080"/>
          </a:xfrm>
          <a:prstGeom prst="rect">
            <a:avLst/>
          </a:prstGeom>
          <a:solidFill>
            <a:srgbClr val="132336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53312"/>
            <a:ext cx="877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08760" y="1280160"/>
            <a:ext cx="914400" cy="640080"/>
          </a:xfrm>
          <a:prstGeom prst="rect">
            <a:avLst/>
          </a:prstGeom>
          <a:solidFill>
            <a:srgbClr val="132336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7048" y="1353312"/>
            <a:ext cx="877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914400" cy="640080"/>
          </a:xfrm>
          <a:prstGeom prst="rect">
            <a:avLst/>
          </a:prstGeom>
          <a:solidFill>
            <a:srgbClr val="E63946">
              <a:alpha val="5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1353312"/>
            <a:ext cx="877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 ⚠️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11880" y="1280160"/>
            <a:ext cx="914400" cy="640080"/>
          </a:xfrm>
          <a:prstGeom prst="rect">
            <a:avLst/>
          </a:prstGeom>
          <a:solidFill>
            <a:srgbClr val="132336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1353312"/>
            <a:ext cx="877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914400" cy="640080"/>
          </a:xfrm>
          <a:prstGeom prst="rect">
            <a:avLst/>
          </a:prstGeom>
          <a:solidFill>
            <a:srgbClr val="E63946">
              <a:alpha val="5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353312"/>
            <a:ext cx="877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C ⚠️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0" y="1280160"/>
            <a:ext cx="914400" cy="640080"/>
          </a:xfrm>
          <a:prstGeom prst="rect">
            <a:avLst/>
          </a:prstGeom>
          <a:solidFill>
            <a:srgbClr val="132336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3288" y="1353312"/>
            <a:ext cx="877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280160"/>
            <a:ext cx="914400" cy="640080"/>
          </a:xfrm>
          <a:prstGeom prst="rect">
            <a:avLst/>
          </a:prstGeom>
          <a:solidFill>
            <a:srgbClr val="E63946">
              <a:alpha val="5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1353312"/>
            <a:ext cx="877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D ⚠️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818120" y="1280160"/>
            <a:ext cx="914400" cy="640080"/>
          </a:xfrm>
          <a:prstGeom prst="rect">
            <a:avLst/>
          </a:prstGeom>
          <a:solidFill>
            <a:srgbClr val="132336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36408" y="1353312"/>
            <a:ext cx="877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103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dedup  (5 unique chunks — clean context)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423160"/>
            <a:ext cx="1188720" cy="640080"/>
          </a:xfrm>
          <a:prstGeom prst="rect">
            <a:avLst/>
          </a:prstGeom>
          <a:solidFill>
            <a:srgbClr val="132336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496312"/>
            <a:ext cx="1152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2423160"/>
            <a:ext cx="1188720" cy="640080"/>
          </a:xfrm>
          <a:prstGeom prst="rect">
            <a:avLst/>
          </a:prstGeom>
          <a:solidFill>
            <a:srgbClr val="132336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92808" y="2496312"/>
            <a:ext cx="1152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2423160"/>
            <a:ext cx="1188720" cy="640080"/>
          </a:xfrm>
          <a:prstGeom prst="rect">
            <a:avLst/>
          </a:prstGeom>
          <a:solidFill>
            <a:srgbClr val="132336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2496312"/>
            <a:ext cx="1152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423160"/>
            <a:ext cx="1188720" cy="640080"/>
          </a:xfrm>
          <a:prstGeom prst="rect">
            <a:avLst/>
          </a:prstGeom>
          <a:solidFill>
            <a:srgbClr val="132336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2496312"/>
            <a:ext cx="1152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2423160"/>
            <a:ext cx="1188720" cy="640080"/>
          </a:xfrm>
          <a:prstGeom prst="rect">
            <a:avLst/>
          </a:prstGeom>
          <a:solidFill>
            <a:srgbClr val="132336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2496312"/>
            <a:ext cx="1152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246120"/>
            <a:ext cx="8229600" cy="438912"/>
          </a:xfrm>
          <a:prstGeom prst="rect">
            <a:avLst/>
          </a:prstGeom>
          <a:solidFill>
            <a:srgbClr val="13233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32918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Wastes prompt tokens on repeated content — pushes useful chunks out of context window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767328"/>
            <a:ext cx="8229600" cy="438912"/>
          </a:xfrm>
          <a:prstGeom prst="rect">
            <a:avLst/>
          </a:prstGeom>
          <a:solidFill>
            <a:srgbClr val="13233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" y="381304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Biases the LLM toward the duplicated chunk — it appears more often in the prompt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288536"/>
            <a:ext cx="8229600" cy="438912"/>
          </a:xfrm>
          <a:prstGeom prst="rect">
            <a:avLst/>
          </a:prstGeom>
          <a:solidFill>
            <a:srgbClr val="13233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" y="433425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 Drowns out other relevant chunks, reducing answer coverage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639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filtering — find the truly relevant chunks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Bi-Encoder vs Cross-Encoder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28016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3767328"/>
          </a:xfrm>
          <a:prstGeom prst="rect">
            <a:avLst/>
          </a:prstGeom>
          <a:solidFill>
            <a:srgbClr val="132336"/>
          </a:solidFill>
          <a:ln w="254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4023360" cy="566928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Bi-Encoder  (Retrieval)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350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Encodes question and chunk SEPARATELY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Produces a vector per text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Vectors pre-computed at index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Very fast — milliseconds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Good accuracy — but similarity ≠ relevance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960120"/>
            <a:ext cx="4023360" cy="3767328"/>
          </a:xfrm>
          <a:prstGeom prst="rect">
            <a:avLst/>
          </a:prstGeom>
          <a:solidFill>
            <a:srgbClr val="132336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960120"/>
            <a:ext cx="4023360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005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 (Reranking)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3350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BAAI/bge-reranker-base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16916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Processes question + chunk TOGETHER as one input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2402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Outputs a single relevance SCORE (not a vector)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7889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process each pair at query 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3375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Slower — runs per candidate pair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8862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Better accuracy — directly models relevance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700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 Bi-Encoder retrieves top-5 candidates fast  →  Cross-Encoder rescores all 5 precisely  →  Keep top-2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— The Hiring Process Analogy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691640"/>
          </a:xfrm>
          <a:prstGeom prst="rect">
            <a:avLst/>
          </a:prstGeom>
          <a:solidFill>
            <a:srgbClr val="132336"/>
          </a:solidFill>
          <a:ln w="254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463040" cy="1691640"/>
          </a:xfrm>
          <a:prstGeom prst="rect">
            <a:avLst/>
          </a:prstGeom>
          <a:solidFill>
            <a:srgbClr val="1B998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887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554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Keyword Scan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57400" y="1143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scans 500 CVs by keyword matching and shortlists 10 candidates.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but keyword matching isn't perfect — good CV can be missed.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57400" y="2011680"/>
            <a:ext cx="6217920" cy="45720"/>
          </a:xfrm>
          <a:prstGeom prst="rect">
            <a:avLst/>
          </a:prstGeom>
          <a:solidFill>
            <a:srgbClr val="8899AA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2103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Bi-Encoder Retrieval  (ChromaDB, k=5)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07792"/>
            <a:ext cx="8229600" cy="1691640"/>
          </a:xfrm>
          <a:prstGeom prst="rect">
            <a:avLst/>
          </a:prstGeom>
          <a:solidFill>
            <a:srgbClr val="132336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07792"/>
            <a:ext cx="1463040" cy="1691640"/>
          </a:xfrm>
          <a:prstGeom prst="rect">
            <a:avLst/>
          </a:prstGeom>
          <a:solidFill>
            <a:srgbClr val="E6394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0906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34564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 Review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57400" y="3044952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hiring manager reads those 10 CVs carefully and selects top 2 for interview.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but far more accurate — reads full context, not just keywords.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57400" y="3913632"/>
            <a:ext cx="6217920" cy="45720"/>
          </a:xfrm>
          <a:prstGeom prst="rect">
            <a:avLst/>
          </a:prstGeom>
          <a:solidFill>
            <a:srgbClr val="8899AA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40050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Cross-Encoder Reranking  (keep top-2)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700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You wouldn't ask the hiring manager to read all 500 CVs — that's why you need BOTH stages.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— Step by Step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0584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508760" cy="1234440"/>
          </a:xfrm>
          <a:prstGeom prst="rect">
            <a:avLst/>
          </a:prstGeom>
          <a:solidFill>
            <a:srgbClr val="132336"/>
          </a:solidFill>
          <a:ln w="254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508760" cy="18288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top-5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(Bi-Encoder, k=5)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1627632"/>
            <a:ext cx="18288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1005840"/>
            <a:ext cx="1508760" cy="1234440"/>
          </a:xfrm>
          <a:prstGeom prst="rect">
            <a:avLst/>
          </a:prstGeom>
          <a:solidFill>
            <a:srgbClr val="132336"/>
          </a:solidFill>
          <a:ln w="254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57400" y="1005840"/>
            <a:ext cx="1508760" cy="182880"/>
          </a:xfrm>
          <a:prstGeom prst="rect">
            <a:avLst/>
          </a:prstGeom>
          <a:solidFill>
            <a:srgbClr val="2EC4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26187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pairs: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(question, chunk×5)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1627632"/>
            <a:ext cx="18288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005840"/>
            <a:ext cx="1508760" cy="1234440"/>
          </a:xfrm>
          <a:prstGeom prst="rect">
            <a:avLst/>
          </a:prstGeom>
          <a:solidFill>
            <a:srgbClr val="132336"/>
          </a:solidFill>
          <a:ln w="254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0" y="1005840"/>
            <a:ext cx="1508760" cy="182880"/>
          </a:xfrm>
          <a:prstGeom prst="rect">
            <a:avLst/>
          </a:prstGeom>
          <a:solidFill>
            <a:srgbClr val="FF9F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26187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CrossEncoder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all 5 pairs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57800" y="1627632"/>
            <a:ext cx="182880" cy="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0680" y="1005840"/>
            <a:ext cx="1508760" cy="1234440"/>
          </a:xfrm>
          <a:prstGeom prst="rect">
            <a:avLst/>
          </a:prstGeom>
          <a:solidFill>
            <a:srgbClr val="132336"/>
          </a:solidFill>
          <a:ln w="254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0680" y="1005840"/>
            <a:ext cx="1508760" cy="182880"/>
          </a:xfrm>
          <a:prstGeom prst="rect">
            <a:avLst/>
          </a:prstGeom>
          <a:solidFill>
            <a:srgbClr val="7B2F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126187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(highest first)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1627632"/>
            <a:ext cx="182880" cy="0"/>
          </a:xfrm>
          <a:prstGeom prst="line">
            <a:avLst/>
          </a:prstGeom>
          <a:noFill/>
          <a:ln w="25400">
            <a:solidFill>
              <a:srgbClr val="7B2F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1005840"/>
            <a:ext cx="1508760" cy="1234440"/>
          </a:xfrm>
          <a:prstGeom prst="rect">
            <a:avLst/>
          </a:prstGeom>
          <a:solidFill>
            <a:srgbClr val="132336"/>
          </a:solidFill>
          <a:ln w="254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0" y="1005840"/>
            <a:ext cx="1508760" cy="182880"/>
          </a:xfrm>
          <a:prstGeom prst="rect">
            <a:avLst/>
          </a:prstGeom>
          <a:solidFill>
            <a:srgbClr val="2DC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26187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top-2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LLM context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423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CrossEncoder Scores: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761488"/>
            <a:ext cx="1508760" cy="914400"/>
          </a:xfrm>
          <a:prstGeom prst="rect">
            <a:avLst/>
          </a:prstGeom>
          <a:solidFill>
            <a:srgbClr val="132336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0352" y="2816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" y="3063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+8.42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" y="34015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Rank 1 ✅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148840" y="2761488"/>
            <a:ext cx="1508760" cy="914400"/>
          </a:xfrm>
          <a:prstGeom prst="rect">
            <a:avLst/>
          </a:prstGeom>
          <a:solidFill>
            <a:srgbClr val="13233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221992" y="2816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3063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-1.20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194560" y="34015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 relevant ❌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40480" y="2761488"/>
            <a:ext cx="1508760" cy="914400"/>
          </a:xfrm>
          <a:prstGeom prst="rect">
            <a:avLst/>
          </a:prstGeom>
          <a:solidFill>
            <a:srgbClr val="132336"/>
          </a:solidFill>
          <a:ln w="127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913632" y="2816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13632" y="3063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+6.71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886200" y="34015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Rank 2 ✅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532120" y="2761488"/>
            <a:ext cx="1508760" cy="914400"/>
          </a:xfrm>
          <a:prstGeom prst="rect">
            <a:avLst/>
          </a:prstGeom>
          <a:solidFill>
            <a:srgbClr val="132336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05272" y="2816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05272" y="3063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+2.10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577840" y="34015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Rank 3 (dropped)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223760" y="2761488"/>
            <a:ext cx="1508760" cy="914400"/>
          </a:xfrm>
          <a:prstGeom prst="rect">
            <a:avLst/>
          </a:prstGeom>
          <a:solidFill>
            <a:srgbClr val="13233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296912" y="2816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96912" y="3063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-3.55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269480" y="34015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 relevant ❌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3858768"/>
            <a:ext cx="8229600" cy="621792"/>
          </a:xfrm>
          <a:prstGeom prst="rect">
            <a:avLst/>
          </a:prstGeom>
          <a:solidFill>
            <a:srgbClr val="132336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" y="3858768"/>
            <a:ext cx="109728" cy="621792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3931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k=5 rule: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514600" y="3931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over-retrieve before reranking. If k=2 and you keep top-2, there's nothing to rerank. Rule of thumb: retrieve 3×–5× more than you want to keep.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solidFill>
            <a:srgbClr val="1B998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46817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Negative scores are normal — CrossEncoder output is unbounded. Negative = the chunk is not relevant to this question.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Techniques — Side by 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1755648" cy="36576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058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960120"/>
            <a:ext cx="2487168" cy="36576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10058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Strategy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2212848" cy="36576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00584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960120"/>
            <a:ext cx="1755648" cy="36576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5472" y="10058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8503920" cy="640080"/>
          </a:xfrm>
          <a:prstGeom prst="rect">
            <a:avLst/>
          </a:prstGeom>
          <a:solidFill>
            <a:srgbClr val="1323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371600"/>
            <a:ext cx="109728" cy="64008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query → top-K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fast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2376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mismatch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084832"/>
            <a:ext cx="8503920" cy="640080"/>
          </a:xfrm>
          <a:prstGeom prst="rect">
            <a:avLst/>
          </a:prstGeom>
          <a:solidFill>
            <a:srgbClr val="1E33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084832"/>
            <a:ext cx="109728" cy="640080"/>
          </a:xfrm>
          <a:prstGeom prst="rect">
            <a:avLst/>
          </a:prstGeom>
          <a:solidFill>
            <a:srgbClr val="FF9F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1762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21762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Rewritten query → top-K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1762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vocabulary alignment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21762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LLM call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798064"/>
            <a:ext cx="8503920" cy="640080"/>
          </a:xfrm>
          <a:prstGeom prst="rect">
            <a:avLst/>
          </a:prstGeom>
          <a:solidFill>
            <a:srgbClr val="1323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798064"/>
            <a:ext cx="109728" cy="640080"/>
          </a:xfrm>
          <a:prstGeom prst="rect">
            <a:avLst/>
          </a:prstGeom>
          <a:solidFill>
            <a:srgbClr val="7B2F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8895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77440" y="28895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answer → top-K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8895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semantic alignment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28895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LLM call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511296"/>
            <a:ext cx="8503920" cy="640080"/>
          </a:xfrm>
          <a:prstGeom prst="rect">
            <a:avLst/>
          </a:prstGeom>
          <a:solidFill>
            <a:srgbClr val="1E33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511296"/>
            <a:ext cx="109728" cy="640080"/>
          </a:xfrm>
          <a:prstGeom prst="rect">
            <a:avLst/>
          </a:prstGeom>
          <a:solidFill>
            <a:srgbClr val="2DC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6027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77440" y="3602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variants → merge → dedup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6027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Broadest coverage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36027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LLM / retrieval calls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224528"/>
            <a:ext cx="8503920" cy="640080"/>
          </a:xfrm>
          <a:prstGeom prst="rect">
            <a:avLst/>
          </a:prstGeom>
          <a:solidFill>
            <a:srgbClr val="1323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224528"/>
            <a:ext cx="109728" cy="64008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315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377440" y="4315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→ CrossEncoder → top-2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4315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precision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23760" y="4315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(CrossEncoder)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Evolution — One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132336"/>
          </a:solidFill>
          <a:ln w="127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68580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353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 →  Retriever  →  LLM  →  Answer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solidFill>
            <a:srgbClr val="132336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10512"/>
            <a:ext cx="109728" cy="685800"/>
          </a:xfrm>
          <a:prstGeom prst="rect">
            <a:avLst/>
          </a:prstGeom>
          <a:solidFill>
            <a:srgbClr val="FF9F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56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1579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 →  LLM rewrites  →  Retriever  →  LLM  →  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685800"/>
          </a:xfrm>
          <a:prstGeom prst="rect">
            <a:avLst/>
          </a:prstGeom>
          <a:solidFill>
            <a:srgbClr val="132336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15184"/>
            <a:ext cx="109728" cy="685800"/>
          </a:xfrm>
          <a:prstGeom prst="rect">
            <a:avLst/>
          </a:prstGeom>
          <a:solidFill>
            <a:srgbClr val="7B2F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660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29626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 →  LLM writes hypothetical answer  →  Retriever  →  LLM  →  Answer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8229600" cy="685800"/>
          </a:xfrm>
          <a:prstGeom prst="rect">
            <a:avLst/>
          </a:prstGeom>
          <a:solidFill>
            <a:srgbClr val="132336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19856"/>
            <a:ext cx="109728" cy="685800"/>
          </a:xfrm>
          <a:prstGeom prst="rect">
            <a:avLst/>
          </a:prstGeom>
          <a:solidFill>
            <a:srgbClr val="2DC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465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37673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 →  LLM × 4 variants  →  4× Retrieve  →  Dedup  →  LLM  →  Answer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8229600" cy="685800"/>
          </a:xfrm>
          <a:prstGeom prst="rect">
            <a:avLst/>
          </a:prstGeom>
          <a:solidFill>
            <a:srgbClr val="13233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224528"/>
            <a:ext cx="109728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270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 →  Retriever (k=5)  →  CrossEncoder  →  Top-2  →  LLM  →  Answer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029200"/>
            <a:ext cx="8229600" cy="36576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1B998B">
              <a:alpha val="15000"/>
            </a:srgbClr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74573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Power Combo: Multi-Query + Reranking = Broadest Coverage + Highest Precision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Technique?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887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132336"/>
          </a:solidFill>
          <a:ln w="254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658368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607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Prototyping, small doc sets, consistent terminology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658368"/>
          </a:xfrm>
          <a:prstGeom prst="rect">
            <a:avLst/>
          </a:prstGeom>
          <a:solidFill>
            <a:srgbClr val="132336"/>
          </a:solidFill>
          <a:ln w="254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109728" cy="658368"/>
          </a:xfrm>
          <a:prstGeom prst="rect">
            <a:avLst/>
          </a:prstGeom>
          <a:solidFill>
            <a:srgbClr val="FF9F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379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Users ask casually / informal language; simple keyword mismatch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658368"/>
          </a:xfrm>
          <a:prstGeom prst="rect">
            <a:avLst/>
          </a:prstGeom>
          <a:solidFill>
            <a:srgbClr val="132336"/>
          </a:solidFill>
          <a:ln w="254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60320"/>
            <a:ext cx="109728" cy="658368"/>
          </a:xfrm>
          <a:prstGeom prst="rect">
            <a:avLst/>
          </a:prstGeom>
          <a:solidFill>
            <a:srgbClr val="7B2F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15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Abstract or complex questions; large formal/policy documents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658368"/>
          </a:xfrm>
          <a:prstGeom prst="rect">
            <a:avLst/>
          </a:prstGeom>
          <a:solidFill>
            <a:srgbClr val="132336"/>
          </a:solidFill>
          <a:ln w="254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37560"/>
            <a:ext cx="109728" cy="658368"/>
          </a:xfrm>
          <a:prstGeom prst="rect">
            <a:avLst/>
          </a:prstGeom>
          <a:solidFill>
            <a:srgbClr val="2DC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924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703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Inconsistent doc terminology; multi-faceted or ambiguous questions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658368"/>
          </a:xfrm>
          <a:prstGeom prst="rect">
            <a:avLst/>
          </a:prstGeom>
          <a:solidFill>
            <a:srgbClr val="132336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114800"/>
            <a:ext cx="109728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696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4805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High-precision Q&amp;A; latency acceptable; false positives costly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937760"/>
            <a:ext cx="8229600" cy="36576"/>
          </a:xfrm>
          <a:prstGeom prst="rect">
            <a:avLst/>
          </a:prstGeom>
          <a:solidFill>
            <a:srgbClr val="8899AA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7552"/>
            <a:ext cx="4023360" cy="1078992"/>
          </a:xfrm>
          <a:prstGeom prst="rect">
            <a:avLst/>
          </a:prstGeom>
          <a:solidFill>
            <a:srgbClr val="132336"/>
          </a:solidFill>
          <a:ln w="127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87552"/>
            <a:ext cx="109728" cy="1078992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ConversationalRetrievalChain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memory so users can ask follow-up questions without repeating context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4023360" cy="1078992"/>
          </a:xfrm>
          <a:prstGeom prst="rect">
            <a:avLst/>
          </a:prstGeom>
          <a:solidFill>
            <a:srgbClr val="132336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9424"/>
            <a:ext cx="109728" cy="1078992"/>
          </a:xfrm>
          <a:prstGeom prst="rect">
            <a:avLst/>
          </a:prstGeom>
          <a:solidFill>
            <a:srgbClr val="FF9F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3408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RAGAS Evaluation Framework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72491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faithfulness, context recall, and answer relevancy across all 5 techniques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4023360" cy="1078992"/>
          </a:xfrm>
          <a:prstGeom prst="rect">
            <a:avLst/>
          </a:prstGeom>
          <a:solidFill>
            <a:srgbClr val="132336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511296"/>
            <a:ext cx="109728" cy="1078992"/>
          </a:xfrm>
          <a:prstGeom prst="rect">
            <a:avLst/>
          </a:prstGeom>
          <a:solidFill>
            <a:srgbClr val="7B2F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6027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Hybrid Search (BM25 + Vector)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398678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keyword search with semantic search — best of both worlds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987552"/>
            <a:ext cx="4023360" cy="1078992"/>
          </a:xfrm>
          <a:prstGeom prst="rect">
            <a:avLst/>
          </a:prstGeom>
          <a:solidFill>
            <a:srgbClr val="132336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987552"/>
            <a:ext cx="109728" cy="1078992"/>
          </a:xfrm>
          <a:prstGeom prst="rect">
            <a:avLst/>
          </a:prstGeom>
          <a:solidFill>
            <a:srgbClr val="2DC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Multi-Document RAG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47488" y="146304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hundreds of files using DirectoryLoader and metadata filtering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249424"/>
            <a:ext cx="4023360" cy="1078992"/>
          </a:xfrm>
          <a:prstGeom prst="rect">
            <a:avLst/>
          </a:prstGeom>
          <a:solidFill>
            <a:srgbClr val="13233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49424"/>
            <a:ext cx="109728" cy="1078992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23408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Production Optimisations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47488" y="272491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CrossEncoder, async retrieval, caching, streaming LLM responses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511296"/>
            <a:ext cx="4023360" cy="1078992"/>
          </a:xfrm>
          <a:prstGeom prst="rect">
            <a:avLst/>
          </a:prstGeom>
          <a:solidFill>
            <a:srgbClr val="13233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511296"/>
            <a:ext cx="109728" cy="1078992"/>
          </a:xfrm>
          <a:prstGeom prst="rect">
            <a:avLst/>
          </a:prstGeom>
          <a:solidFill>
            <a:srgbClr val="2EC4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6027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LangChain Agents + RAG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47488" y="398678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 agent decide when to retrieve and which document store to query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1B998B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not one technique —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family of patterns.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Basic RAG. Add Query Rewriting or HyDE when retrieval misses.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Multi-Query for broader coverage. Add Reranking for precision.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Ollama · ChromaDB · sentence-transformers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25196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1B9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251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48840" y="425196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FF9F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4251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94760" y="425196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7B2F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4251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425196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2DC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4251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86600" y="425196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4251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2026-06-01T18:51:56Z</dcterms:created>
  <dcterms:modified xsi:type="dcterms:W3CDTF">2026-06-01T18:51:56Z</dcterms:modified>
</cp:coreProperties>
</file>