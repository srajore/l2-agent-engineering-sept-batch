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any row to jump straight to that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Outcome: a learner can run one file and explain how it passes state through fixed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../Day-02-Development-Foundation/slides.pptx" TargetMode="External"/><Relationship Id="rId2" Type="http://schemas.openxmlformats.org/officeDocument/2006/relationships/slide" Target="slide2.xml"/><Relationship Id="rId3" Type="http://schemas.openxmlformats.org/officeDocument/2006/relationships/hyperlink" Target="../Day-04-Routing-Control-Flow/slides.pptx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slide" Target="slide7.xml"/><Relationship Id="rId5" Type="http://schemas.openxmlformats.org/officeDocument/2006/relationships/slide" Target="slide8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example.py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README.md" TargetMode="External"/><Relationship Id="rId2" Type="http://schemas.openxmlformats.org/officeDocument/2006/relationships/hyperlink" Target="https://docs.langchain.com/oss/python/langgraph/overview" TargetMode="External"/><Relationship Id="rId3" Type="http://schemas.openxmlformats.org/officeDocument/2006/relationships/slide" Target="slide2.xml"/><Relationship Id="rId4" Type="http://schemas.openxmlformats.org/officeDocument/2006/relationships/hyperlink" Target="../Day-04-Routing-Control-Flow/slides.pptx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692640" y="685800"/>
            <a:ext cx="1188720" cy="41148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685800"/>
            <a:ext cx="548640" cy="10515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097280"/>
            <a:ext cx="685800" cy="12344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378440" y="1737360"/>
            <a:ext cx="1051560" cy="59436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78440" y="2331720"/>
            <a:ext cx="914400" cy="54864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1292840" y="1737360"/>
            <a:ext cx="137160" cy="1143000"/>
          </a:xfrm>
          <a:prstGeom prst="line">
            <a:avLst/>
          </a:prstGeom>
          <a:noFill/>
          <a:ln w="15875">
            <a:solidFill>
              <a:srgbClr val="8A9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713232"/>
            <a:ext cx="768096" cy="768096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Shape 7"/>
          <p:cNvSpPr/>
          <p:nvPr/>
        </p:nvSpPr>
        <p:spPr>
          <a:xfrm>
            <a:off x="10625328" y="429768"/>
            <a:ext cx="512064" cy="512064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009376" y="1316736"/>
            <a:ext cx="841248" cy="841248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11" name="Shape 9"/>
          <p:cNvSpPr/>
          <p:nvPr/>
        </p:nvSpPr>
        <p:spPr>
          <a:xfrm>
            <a:off x="10076688" y="2029968"/>
            <a:ext cx="603504" cy="603504"/>
          </a:xfrm>
          <a:prstGeom prst="ellipse">
            <a:avLst/>
          </a:prstGeom>
          <a:solidFill>
            <a:srgbClr val="57646F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55096" y="2642616"/>
            <a:ext cx="475488" cy="475488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THE FRAMEWORK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26060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Core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34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moves through nodes and edges you can trace by hand.</a:t>
            </a:r>
            <a:endParaRPr lang="en-US" sz="15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64008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 Day 2</a:t>
            </a:r>
            <a:endParaRPr lang="en-US" sz="1100" dirty="0"/>
          </a:p>
        </p:txBody>
      </p:sp>
      <p:sp>
        <p:nvSpPr>
          <p:cNvPr id="18" name="Text 16">
            <a:hlinkClick r:id="rId2" tooltip="" action="ppaction://hlinksldjump"/>
          </p:cNvPr>
          <p:cNvSpPr txBox="1"/>
          <p:nvPr/>
        </p:nvSpPr>
        <p:spPr>
          <a:xfrm>
            <a:off x="5029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↓  agenda</a:t>
            </a:r>
            <a:endParaRPr lang="en-US" sz="1100" dirty="0"/>
          </a:p>
        </p:txBody>
      </p:sp>
      <p:sp>
        <p:nvSpPr>
          <p:cNvPr id="19" name="Text 17">
            <a:hlinkClick r:id="rId3" tooltip=""/>
          </p:cNvPr>
          <p:cNvSpPr txBox="1"/>
          <p:nvPr/>
        </p:nvSpPr>
        <p:spPr>
          <a:xfrm>
            <a:off x="7680960" y="5989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4  →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19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Day-03-LangGraph-Core\example.py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Inside Today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>
            <a:hlinkClick r:id="rId1" tooltip="" action="ppaction://hlinksldjump"/>
          </p:cNvPr>
          <p:cNvSpPr txBox="1"/>
          <p:nvPr/>
        </p:nvSpPr>
        <p:spPr>
          <a:xfrm>
            <a:off x="141732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This Matters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82512" y="1783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>
            <a:hlinkClick r:id="rId2" tooltip="" action="ppaction://hlinksldjump"/>
          </p:cNvPr>
          <p:cNvSpPr txBox="1"/>
          <p:nvPr/>
        </p:nvSpPr>
        <p:spPr>
          <a:xfrm>
            <a:off x="6995160" y="1783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Concepts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>
            <a:hlinkClick r:id="rId3" tooltip="" action="ppaction://hlinksldjump"/>
          </p:cNvPr>
          <p:cNvSpPr txBox="1"/>
          <p:nvPr/>
        </p:nvSpPr>
        <p:spPr>
          <a:xfrm>
            <a:off x="141732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It's Built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26517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512" y="26517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>
            <a:hlinkClick r:id="rId4" tooltip="" action="ppaction://hlinksldjump"/>
          </p:cNvPr>
          <p:cNvSpPr txBox="1"/>
          <p:nvPr/>
        </p:nvSpPr>
        <p:spPr>
          <a:xfrm>
            <a:off x="6995160" y="2651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Code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>
            <a:hlinkClick r:id="rId5" tooltip="" action="ppaction://hlinksldjump"/>
          </p:cNvPr>
          <p:cNvSpPr txBox="1"/>
          <p:nvPr/>
        </p:nvSpPr>
        <p:spPr>
          <a:xfrm>
            <a:off x="141732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Lab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2512" y="35204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>
            <a:hlinkClick r:id="rId6" tooltip="" action="ppaction://hlinksldjump"/>
          </p:cNvPr>
          <p:cNvSpPr txBox="1"/>
          <p:nvPr/>
        </p:nvSpPr>
        <p:spPr>
          <a:xfrm>
            <a:off x="699516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Assignment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38912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43891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>
            <a:hlinkClick r:id="rId7" tooltip="" action="ppaction://hlinksldjump"/>
          </p:cNvPr>
          <p:cNvSpPr txBox="1"/>
          <p:nvPr/>
        </p:nvSpPr>
        <p:spPr>
          <a:xfrm>
            <a:off x="1417320" y="4389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u="sng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Wrap-Up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32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48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424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CD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88720" y="1691640"/>
            <a:ext cx="9692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Day 2, a single function was already doing too much: cleaning input, checking gaps, generating content, deciding a status all at once. That's exactly the moment orchestration becomes necessary. Today introduces the smallest possible LangGraph graph, then builds it into a four-node application you can trace by hand.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1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D993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a framework, and why LangGraph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control flow for state, retries, and approvals stops being readable fast. LangGraph keeps state explicit and printable, uses one graph shape for a workflow and a later agent, and natively supports the branches, loops, and interrupts this course builds toward. This course does not teach LangChain classes.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State, nodes, and edges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shared data structure moving through the graph. Nodes are plain functions that read state and return a partial update. Edges connect nodes with no branching yet — that arrives in Day 4.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Concepts  ·  Part 2 of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START, END, and one responsibility per node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0992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connects input to the first node; END marks a terminal point — neither does business work. A well-designed node has one clear purpose, clear inputs, a clear update, and can be tested independently.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762756"/>
            <a:ext cx="10515600" cy="914"/>
          </a:xfrm>
          <a:prstGeom prst="line">
            <a:avLst/>
          </a:prstGeom>
          <a:noFill/>
          <a:ln w="12700">
            <a:solidFill>
              <a:srgbClr val="D7DC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3E506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9273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8176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Building, compiling, and running the graph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201668"/>
            <a:ext cx="9966960" cy="1988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StateGraph, add nodes, add edges, compile, then call .invoke(). Compilation checks the graph is well-formed — it does not prove your logic is correct.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It's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75020" y="18745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5792724" y="26883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5" name="Shape 3"/>
          <p:cNvSpPr/>
          <p:nvPr/>
        </p:nvSpPr>
        <p:spPr>
          <a:xfrm>
            <a:off x="5875020" y="27889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5792724" y="36027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7" name="Shape 5"/>
          <p:cNvSpPr/>
          <p:nvPr/>
        </p:nvSpPr>
        <p:spPr>
          <a:xfrm>
            <a:off x="5875020" y="37033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5792724" y="45171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9" name="Shape 7"/>
          <p:cNvSpPr/>
          <p:nvPr/>
        </p:nvSpPr>
        <p:spPr>
          <a:xfrm>
            <a:off x="5875020" y="4617720"/>
            <a:ext cx="9144" cy="914400"/>
          </a:xfrm>
          <a:prstGeom prst="line">
            <a:avLst/>
          </a:prstGeom>
          <a:noFill/>
          <a:ln w="22225">
            <a:solidFill>
              <a:srgbClr val="5B64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5792724" y="5431536"/>
            <a:ext cx="164592" cy="164592"/>
          </a:xfrm>
          <a:prstGeom prst="triangle">
            <a:avLst/>
          </a:prstGeom>
          <a:solidFill>
            <a:srgbClr val="5B646B"/>
          </a:solidFill>
          <a:ln/>
        </p:spPr>
      </p:sp>
      <p:sp>
        <p:nvSpPr>
          <p:cNvPr id="11" name="Shape 9"/>
          <p:cNvSpPr/>
          <p:nvPr/>
        </p:nvSpPr>
        <p:spPr>
          <a:xfrm>
            <a:off x="5728716" y="17282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6918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736592" y="25054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34198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36592" y="34198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4334256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E5064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36592" y="4334256"/>
            <a:ext cx="2276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F7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28716" y="5385816"/>
            <a:ext cx="292608" cy="292608"/>
          </a:xfrm>
          <a:prstGeom prst="ellipse">
            <a:avLst/>
          </a:prstGeom>
          <a:solidFill>
            <a:srgbClr val="1A1E2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6918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developer-controlled path — every arrow here was written by hand, not chosen at runtime.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Code</a:t>
            </a:r>
            <a:endParaRPr lang="en-US" sz="2000" dirty="0"/>
          </a:p>
        </p:txBody>
      </p:sp>
      <p:sp>
        <p:nvSpPr>
          <p:cNvPr id="3" name="Text 1">
            <a:hlinkClick r:id="rId1" tooltip=""/>
          </p:cNvPr>
          <p:cNvSpPr txBox="1"/>
          <p:nvPr/>
        </p:nvSpPr>
        <p:spPr>
          <a:xfrm>
            <a:off x="8595360" y="365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example.py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881360" cy="5166360"/>
          </a:xfrm>
          <a:prstGeom prst="roundRect">
            <a:avLst>
              <a:gd name="adj" fmla="val 1062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078992"/>
            <a:ext cx="1042416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"""Session 3: learn state, nodes, edges, START, and END."""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from langgraph.graph import END, START, StateGraph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def clean_text(state):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    return {"text": state["text"].strip()}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def count_words(state):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return {"word_count": len(state["text"].split())}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def create_message(state):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   message = f"Your requirement has {state['word_count']} words."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   return {"message": message}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graph_builder = StateGraph(dict)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graph_builder.add_node("clean", clean_text)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graph_builder.add_node("count", count_words)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graph_builder.add_node("message", create_message)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 graph_builder.add_edge(START, "clean")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 graph_builder.add_edge("clean", "count")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 graph_builder.add_edge("count", "message")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 graph_builder.add_edge("message", END)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 graph = graph_builder.compile()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 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 result = graph.invoke({"text": "  User can reset a password  "})</a:t>
            </a:r>
            <a:endParaRPr lang="en-US" sz="107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7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 print(result["message"])</a:t>
            </a:r>
            <a:endParaRPr lang="en-US" sz="107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1539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— no live model call needed for this session.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 Lab  ·  ~30 min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6400800" cy="5394960"/>
          </a:xfrm>
          <a:prstGeom prst="roundRect">
            <a:avLst>
              <a:gd name="adj" fmla="val 1017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1887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to draw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5087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-&gt; clean -&gt; count -&gt; message -&gt; 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59436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description at the top of the file.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node: clean_text, count_words, create_message.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StateGraph and the node registrations.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edges from START to END.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printed result before running.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051560"/>
            <a:ext cx="4251960" cy="5394960"/>
          </a:xfrm>
          <a:prstGeom prst="roundRect">
            <a:avLst>
              <a:gd name="adj" fmla="val 1290"/>
            </a:avLst>
          </a:prstGeom>
          <a:solidFill>
            <a:srgbClr val="14171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QUESTION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every transition? The developer — the path is fixed no matter what the input text says.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657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IT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23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C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Day-03-LangGraph-Core\example.py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Assignment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one small change to example.py and explain how the result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400800" cy="4846320"/>
          </a:xfrm>
          <a:prstGeom prst="roundRect">
            <a:avLst>
              <a:gd name="adj" fmla="val 1132"/>
            </a:avLst>
          </a:prstGeom>
          <a:solidFill>
            <a:srgbClr val="F5F7F3"/>
          </a:solidFill>
          <a:ln w="12700">
            <a:solidFill>
              <a:srgbClr val="D7DC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5943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input near the bottom of example.py.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current output without running the file.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example from the repository root.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one input value or short sentence.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new route or output, then run again to confirm.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→"/>
            </a:pPr>
            <a:r>
              <a:rPr lang="en-US" sz="1250" dirty="0">
                <a:solidFill>
                  <a:srgbClr val="1A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sentences: what changed, what happened, why.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269480" y="1600200"/>
            <a:ext cx="4251960" cy="4846320"/>
          </a:xfrm>
          <a:prstGeom prst="roundRect">
            <a:avLst>
              <a:gd name="adj" fmla="val 1290"/>
            </a:avLst>
          </a:prstGeom>
          <a:solidFill>
            <a:srgbClr val="3E506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148840"/>
            <a:ext cx="3886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example in one Python file.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LangGraph directly.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 folder or helper package.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uv commands shown — no other package manager.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5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Ollama call — this session is intentionally deterministic.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03  ·  LANGGRAPH CORE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6510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AGENT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7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You Move 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7498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runs successfully on your machine.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name the state, all three nodes, and the edges.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who controls the next step (the developer, via fixed edges).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8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one-change assignment ran twice, prediction first.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503920" y="1280160"/>
            <a:ext cx="3017520" cy="4572000"/>
          </a:xfrm>
          <a:prstGeom prst="roundRect">
            <a:avLst>
              <a:gd name="adj" fmla="val 1818"/>
            </a:avLst>
          </a:prstGeom>
          <a:solidFill>
            <a:srgbClr val="1E232A"/>
          </a:solidFill>
          <a:ln w="12700">
            <a:solidFill>
              <a:srgbClr val="2E3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93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LINKS</a:t>
            </a:r>
            <a:endParaRPr lang="en-US" sz="10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873252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Day 3 README</a:t>
            </a:r>
            <a:endParaRPr lang="en-US" sz="1150" dirty="0"/>
          </a:p>
        </p:txBody>
      </p:sp>
      <p:sp>
        <p:nvSpPr>
          <p:cNvPr id="7" name="Text 5">
            <a:hlinkClick r:id="rId2" tooltip=""/>
          </p:cNvPr>
          <p:cNvSpPr txBox="1"/>
          <p:nvPr/>
        </p:nvSpPr>
        <p:spPr>
          <a:xfrm>
            <a:off x="8732520" y="2286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u="sng" dirty="0">
                <a:solidFill>
                  <a:srgbClr val="CFE8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LangGraph docs</a:t>
            </a:r>
            <a:endParaRPr lang="en-US" sz="1150" dirty="0"/>
          </a:p>
        </p:txBody>
      </p:sp>
      <p:sp>
        <p:nvSpPr>
          <p:cNvPr id="8" name="Text 6">
            <a:hlinkClick r:id="rId3" tooltip="" action="ppaction://hlinksldjump"/>
          </p:cNvPr>
          <p:cNvSpPr txBox="1"/>
          <p:nvPr/>
        </p:nvSpPr>
        <p:spPr>
          <a:xfrm>
            <a:off x="685800" y="6126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8A9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agenda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503920" y="59893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D9932B"/>
          </a:solidFill>
          <a:ln/>
        </p:spPr>
      </p:sp>
      <p:sp>
        <p:nvSpPr>
          <p:cNvPr id="10" name="Text 8">
            <a:hlinkClick r:id="rId4" tooltip=""/>
          </p:cNvPr>
          <p:cNvSpPr txBox="1"/>
          <p:nvPr/>
        </p:nvSpPr>
        <p:spPr>
          <a:xfrm>
            <a:off x="8503920" y="5989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241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Day 4  →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L2 Agent Engineering</dc:creator>
  <cp:lastModifiedBy>L2 Agent Engineering</cp:lastModifiedBy>
  <cp:revision>1</cp:revision>
  <dcterms:created xsi:type="dcterms:W3CDTF">2026-09-07T10:04:29Z</dcterms:created>
  <dcterms:modified xsi:type="dcterms:W3CDTF">2026-09-07T10:04:29Z</dcterms:modified>
</cp:coreProperties>
</file>