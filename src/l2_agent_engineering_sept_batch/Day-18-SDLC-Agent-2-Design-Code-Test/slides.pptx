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58" r:id="rId4"/>
    <p:sldId id="285" r:id="rId36"/>
    <p:sldId id="259" r:id="rId5"/>
    <p:sldId id="260" r:id="rId6"/>
    <p:sldId id="261" r:id="rId7"/>
    <p:sldId id="262" r:id="rId8"/>
    <p:sldId id="263" r:id="rId9"/>
    <p:sldId id="264" r:id="rId10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20.xml"/><Relationship Id="rId5" Type="http://schemas.openxmlformats.org/officeDocument/2006/relationships/slide" Target="slides/slide21.xml"/><Relationship Id="rId6" Type="http://schemas.openxmlformats.org/officeDocument/2006/relationships/slide" Target="slides/slide22.xml"/><Relationship Id="rId7" Type="http://schemas.openxmlformats.org/officeDocument/2006/relationships/slide" Target="slides/slide23.xml"/><Relationship Id="rId8" Type="http://schemas.openxmlformats.org/officeDocument/2006/relationships/slide" Target="slides/slide24.xml"/><Relationship Id="rId9" Type="http://schemas.openxmlformats.org/officeDocument/2006/relationships/slide" Target="slides/slide25.xml"/><Relationship Id="rId10" Type="http://schemas.openxmlformats.org/officeDocument/2006/relationships/slide" Target="slides/slide26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18 teaches the single most important habit in AI-assisted coding: do not trust green tests until you know they can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back to the Day 17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PreToolUse runs before the tool. Exit 2 blocks and sends the message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specification the learners paste. Two rules, plus an active-day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Restart claude after the hook is registered.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reviewer can read and search. It has no way to 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these after the Agent 2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and fluent is not the same as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1's output becomes the story. Agent 3 reviews Agent 2's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specification learners give Claude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 not write this code. You do need to know the rules to judge the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learners can spot a wrong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compare the plan with this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5, 6 and 7 are where learners earn their keep.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CLAUDE-CODE-PROMPTS.md.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learners reject any plan that runs generated code in-process.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Wording differs every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record Pass or Fail and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Centerpiece of the day. Ask which side they would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test of the day. Mutation testing in miniature.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break-it prompts. Each must end cleanly.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output from the langchain and eval searches is the good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rule as Day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Pairs. Introduce items get the short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SDLC Agent 2: Design to Code to Test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builds a development assistant. Your job: decide whether AI-written code and tests can be trusted.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0" y="8229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126480" y="8229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0" y="1408176"/>
            <a:ext cx="0" cy="310896"/>
          </a:xfrm>
          <a:prstGeom prst="line">
            <a:avLst/>
          </a:prstGeom>
          <a:noFill/>
          <a:ln w="22225">
            <a:solidFill>
              <a:srgbClr val="8FA6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26480" y="17373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126480" y="17373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2322576"/>
            <a:ext cx="0" cy="310896"/>
          </a:xfrm>
          <a:prstGeom prst="line">
            <a:avLst/>
          </a:prstGeom>
          <a:noFill/>
          <a:ln w="22225">
            <a:solidFill>
              <a:srgbClr val="8FA6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26480" y="26517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126480" y="26517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3236976"/>
            <a:ext cx="0" cy="310896"/>
          </a:xfrm>
          <a:prstGeom prst="line">
            <a:avLst/>
          </a:prstGeom>
          <a:noFill/>
          <a:ln w="22225">
            <a:solidFill>
              <a:srgbClr val="8FA6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26480" y="35661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126480" y="35661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48640" y="4069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83080" y="40690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1783080" y="4069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17520" y="40690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3017520" y="4069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agenda: Why, What, How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94360" y="1554480"/>
            <a:ext cx="548640" cy="54864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170261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generated code that looks right can still be wrong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542032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2679192" y="1554480"/>
            <a:ext cx="548640" cy="548640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325" y="170261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319272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2679192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 2 must do and how a trustworthy build is organised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626864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4764024" y="1554480"/>
            <a:ext cx="548640" cy="54864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157" y="1702613"/>
            <a:ext cx="252374" cy="25237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404104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4764024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review the plan, test the agent, attack its tests and decide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711696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6848856" y="1554480"/>
            <a:ext cx="548640" cy="5486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989" y="1702613"/>
            <a:ext cx="252374" cy="25237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88936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6848856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verify, break and accept or reject Agent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1: Build Agent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builds the development assistant. You verify and accept.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73736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92608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11480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cannot just trust generated code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179405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looks convincing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6974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syntax and confident names make wrong code feel right.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14630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3429000" y="1645920"/>
            <a:ext cx="548640" cy="54864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133" y="179405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2900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can be fake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429000" y="26974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saw the model write tests that contained their own copy of the function. They passed and proved nothing.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035040" y="14630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6217920" y="1645920"/>
            <a:ext cx="548640" cy="54864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53" y="1794053"/>
            <a:ext cx="252374" cy="25237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1792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ran it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217920" y="26974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text is not a test run. Only execution shows behavior.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 is not bad code. The danger is code nobody checked.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Agent 2 sits in the chain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6459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645920"/>
            <a:ext cx="24688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to Design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371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44368" y="2194560"/>
            <a:ext cx="32918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291840" y="16459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291840" y="1645920"/>
            <a:ext cx="24688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 Code to Test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1371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79008" y="2194560"/>
            <a:ext cx="32918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126480" y="16459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126480" y="1645920"/>
            <a:ext cx="24688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to Release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1371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1089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594360" y="3246120"/>
            <a:ext cx="457200" cy="45720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3369564"/>
            <a:ext cx="210312" cy="21031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43000" y="32186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receives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594360" y="376732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story with acceptance criteria and a fixed function spec.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663440" y="31089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4800600" y="3246120"/>
            <a:ext cx="457200" cy="45720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44" y="3369564"/>
            <a:ext cx="210312" cy="21031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349240" y="32186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hands over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4800600" y="376732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tests, and proof that the tests really ran and passed.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Agent 2 must do: story in, five outputs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E3E8F2"/>
          </a:solidFill>
          <a:ln w="12700">
            <a:solidFill>
              <a:srgbClr val="E3E8F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554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87452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story.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spec: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validate_leave_request(start_date, end_date, balance_days)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0" y="2057400"/>
            <a:ext cx="1645920" cy="1005840"/>
          </a:xfrm>
          <a:prstGeom prst="roundRect">
            <a:avLst>
              <a:gd name="adj" fmla="val 9091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347472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Claude Code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127248" y="2560320"/>
            <a:ext cx="32918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138928" y="2560320"/>
            <a:ext cx="32918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5486400" y="132588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486400" y="1325880"/>
            <a:ext cx="3200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tests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0" y="1892808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5486400" y="1892808"/>
            <a:ext cx="3200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table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0" y="2459736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486400" y="2459736"/>
            <a:ext cx="3200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0" y="3026664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486400" y="3026664"/>
            <a:ext cx="3200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explanation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0" y="3593592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5486400" y="3593592"/>
            <a:ext cx="3200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result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function name and behaviour is what lets separately generated tests and code fit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contract Claude Code must build against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937760" cy="3017520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validate_leave_request(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start_date,   # "YYYY-MM-DD"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end_date,     # "YYYY-MM-DD"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balance_days  # whole number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requested = (end - start) + 1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   -&gt; (True, "")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 -&gt; (False, "&lt;reason&gt;")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end date before start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days requested more than balance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137160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715000" y="1508760"/>
            <a:ext cx="457200" cy="457200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8444" y="163220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63640" y="1481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spec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202996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and code are written from the same rules, so they can agree.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577840" y="297180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715000" y="3108960"/>
            <a:ext cx="457200" cy="45720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444" y="323240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3081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first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0" y="363016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become the standard the code must meet.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trustworthy build is organised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463040"/>
            <a:ext cx="2606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writes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then code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fluent, sometimes wrong.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81528" y="1874520"/>
            <a:ext cx="14630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246120" y="146304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246120" y="1463040"/>
            <a:ext cx="2606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checks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parse, count asserts, run it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 every run.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70448" y="1874520"/>
            <a:ext cx="14630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035040" y="146304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035040" y="1463040"/>
            <a:ext cx="2606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code and tests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yes only when satisfied.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10896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713232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Developer-controlled (plain Python)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560320" y="310896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2816352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/ writes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663440" y="310896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4919472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766560" y="310896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7022592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/ block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640080" y="3520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in a plan: generated code run inside the agent's own process; no time limit; the model reporting its own tests as passed; no retry limit.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you should see in Claude Code's plan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691640"/>
            <a:ext cx="868680" cy="548640"/>
          </a:xfrm>
          <a:prstGeom prst="roundRect">
            <a:avLst>
              <a:gd name="adj" fmla="val 16667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74320" y="1691640"/>
            <a:ext cx="868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417320" y="169164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417320" y="1691640"/>
            <a:ext cx="1188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generate_tests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880360" y="169164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2880360" y="1691640"/>
            <a:ext cx="1188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generate_code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43400" y="169164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343400" y="1691640"/>
            <a:ext cx="10058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715000" y="169164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71500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03720" y="169164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90372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092440" y="1691640"/>
            <a:ext cx="731520" cy="548640"/>
          </a:xfrm>
          <a:prstGeom prst="roundRect">
            <a:avLst>
              <a:gd name="adj" fmla="val 16667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092440" y="1691640"/>
            <a:ext cx="731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161288" y="1965960"/>
            <a:ext cx="23774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2624328" y="1965960"/>
            <a:ext cx="23774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4087368" y="1965960"/>
            <a:ext cx="23774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367528" y="1965960"/>
            <a:ext cx="32918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6647688" y="1965960"/>
            <a:ext cx="23774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7836408" y="1965960"/>
            <a:ext cx="23774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 flipV="1">
            <a:off x="4663440" y="1234440"/>
            <a:ext cx="0" cy="438912"/>
          </a:xfrm>
          <a:prstGeom prst="line">
            <a:avLst/>
          </a:prstGeom>
          <a:noFill/>
          <a:ln w="22225">
            <a:solidFill>
              <a:srgbClr val="F2A31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 flipH="1">
            <a:off x="3474720" y="1234440"/>
            <a:ext cx="1188720" cy="0"/>
          </a:xfrm>
          <a:prstGeom prst="line">
            <a:avLst/>
          </a:prstGeom>
          <a:noFill/>
          <a:ln w="22225">
            <a:solidFill>
              <a:srgbClr val="F2A31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3063240" y="9784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failed: refine code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474720" y="1234440"/>
            <a:ext cx="0" cy="438912"/>
          </a:xfrm>
          <a:prstGeom prst="line">
            <a:avLst/>
          </a:prstGeom>
          <a:noFill/>
          <a:ln w="22225">
            <a:solidFill>
              <a:srgbClr val="F2A31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4937760" y="2258568"/>
            <a:ext cx="0" cy="530352"/>
          </a:xfrm>
          <a:prstGeom prst="line">
            <a:avLst/>
          </a:prstGeom>
          <a:noFill/>
          <a:ln w="22225">
            <a:solidFill>
              <a:srgbClr val="F2A31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 flipH="1">
            <a:off x="2011680" y="2788920"/>
            <a:ext cx="2926080" cy="0"/>
          </a:xfrm>
          <a:prstGeom prst="line">
            <a:avLst/>
          </a:prstGeom>
          <a:noFill/>
          <a:ln w="22225">
            <a:solidFill>
              <a:srgbClr val="F2A31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2377440" y="28254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unusable: rewrite tests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 flipV="1">
            <a:off x="2011680" y="2258568"/>
            <a:ext cx="0" cy="530352"/>
          </a:xfrm>
          <a:prstGeom prst="line">
            <a:avLst/>
          </a:prstGeom>
          <a:noFill/>
          <a:ln w="22225">
            <a:solidFill>
              <a:srgbClr val="F2A31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4846320" y="333756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484632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394960" y="2258568"/>
            <a:ext cx="182880" cy="1060704"/>
          </a:xfrm>
          <a:prstGeom prst="line">
            <a:avLst/>
          </a:prstGeom>
          <a:noFill/>
          <a:ln w="22225">
            <a:solidFill>
              <a:srgbClr val="D6455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4343400" y="2990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tries used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 flipH="1">
            <a:off x="5852160" y="2258568"/>
            <a:ext cx="320040" cy="1060704"/>
          </a:xfrm>
          <a:prstGeom prst="line">
            <a:avLst/>
          </a:prstGeom>
          <a:noFill/>
          <a:ln w="22225">
            <a:solidFill>
              <a:srgbClr val="D6455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6240780" y="27614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says no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" y="329184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640080" y="3291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the plan: generate_test_data after the tests, and explain_code after the tests pass.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206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713232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Developer-controlled (plain Python)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2560320" y="4206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2816352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/ writes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663440" y="4206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 txBox="1"/>
          <p:nvPr/>
        </p:nvSpPr>
        <p:spPr>
          <a:xfrm>
            <a:off x="4919472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766560" y="4206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50" name="Text 47"/>
          <p:cNvSpPr txBox="1"/>
          <p:nvPr/>
        </p:nvSpPr>
        <p:spPr>
          <a:xfrm>
            <a:off x="7022592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/ block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day works: specify, build, verify, decide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prompt in plan mode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4889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64033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264033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64033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plan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the checklist or send it back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4058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73202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473202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3202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writes my_agent2.py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3227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682371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682371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2371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it, answer yes, read the output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4864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54864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to B6 with evidence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54889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264033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264033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64033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Weak-tests check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code; do the tests notice?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64058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473202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473202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73202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+ scope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tests, wrong code, infinite loop; findstr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73227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682371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682371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82371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decision with evidence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the prompt is the specification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ONE new file my_agent2.py: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LangGraph development assistant.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from a story and a fixed function spec,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 tests first, then code; validate both;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refine on failure; then ask a human to approve.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the function spec (dates, days, returns).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Constraints: one file, direct ollama.chat, no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LangChain, no pytest, at most 3 attempts. Run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 code ONLY in a subprocess, 15 s timeout.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Verify: reject tests that define the function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themselves; tests need 4+ asserts.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a short plan (under 15 lines). No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helpers. Do not edit files yet.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26480" y="141732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126480" y="1417320"/>
            <a:ext cx="2560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219456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126480" y="2194560"/>
            <a:ext cx="2560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297180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126480" y="2971800"/>
            <a:ext cx="2560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374904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126480" y="3749040"/>
            <a:ext cx="2560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review the PLAN, not the code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94360" y="1444752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928" y="1558320"/>
            <a:ext cx="193487" cy="19348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371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then test data, are generated BEFORE the code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63440" y="13716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4800600" y="1444752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168" y="1558320"/>
            <a:ext cx="193487" cy="19348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49240" y="1371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test-data table checked by Python; an explanation after the tests pass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202996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594360" y="2103120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28" y="2216688"/>
            <a:ext cx="193487" cy="19348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20299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runs in a subprocess with a timeout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202996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4800600" y="2103120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168" y="2216688"/>
            <a:ext cx="193487" cy="19348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349240" y="20299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that tests do not define the function, and have 4+ asserts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57200" y="2688336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594360" y="2761488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28" y="2875056"/>
            <a:ext cx="193487" cy="193487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143000" y="26883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retry limit of 3 and a stop route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4663440" y="2688336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Shape 20"/>
          <p:cNvSpPr/>
          <p:nvPr/>
        </p:nvSpPr>
        <p:spPr>
          <a:xfrm>
            <a:off x="4800600" y="2761488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168" y="2875056"/>
            <a:ext cx="193487" cy="19348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349240" y="26883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approval step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457200" y="3346704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2" name="Shape 23"/>
          <p:cNvSpPr/>
          <p:nvPr/>
        </p:nvSpPr>
        <p:spPr>
          <a:xfrm>
            <a:off x="594360" y="3419856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928" y="3533424"/>
            <a:ext cx="193487" cy="193487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143000" y="33467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file; no pytest; no LangChain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457200" y="425196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36" name="Text 26"/>
          <p:cNvSpPr txBox="1"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that runs model-written code inside the agent's own process is an automatic send-back.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what a good run looks like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5669280" cy="3200400"/>
          </a:xfrm>
          <a:prstGeom prst="roundRect">
            <a:avLst>
              <a:gd name="adj" fmla="val 2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 code: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validate_leave_request(start_date, end_date, balance_days):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checks end &gt;= start and days &lt;= balance ...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 tests: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validate_leave_request(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"2023-06-01", "2023-06-03", 5) == (True, "")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validate_leave_request(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"2023-06-10", "2023-06-05", 5)[0] is False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(5 asserts calling the real function)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data: 6 cases, valid and invalid, all ran OK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after 1 attempt(s): ALL TESTS PASSED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Explanation: checks the end date is not before the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 date and the days fit the balance.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 this code and tests? (yes/no): yes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Code and tests approved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309360" y="1371600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309360" y="1371600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call the real function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1901952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309360" y="1901952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cases covered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09360" y="2432304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309360" y="2432304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data: valid + invalid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309360" y="2962656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309360" y="2962656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came from a run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09360" y="3493008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309360" y="3493008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explanation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09360" y="4023360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6309360" y="4023360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Pause, then approved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acceptance tests B1 to B6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43000" y="1325880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143000" y="1325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325880"/>
            <a:ext cx="448056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206240" y="1325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when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7099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57200" y="17099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43000" y="17099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234440" y="17099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answer yes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06240" y="17099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297680" y="17099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tests and ALL TESTS PASSED printed; status approved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2052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57200" y="22052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143000" y="22052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234440" y="22052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generated assert lines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06240" y="22052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297680" y="22052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cover: valid, exactly at balance, over balance, end before start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27005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457200" y="27005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143000" y="27005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234440" y="27005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tests for the word def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06240" y="27005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4297680" y="27005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 validate_leave_request in the tests; only calls to it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31958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457200" y="31958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143000" y="31958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234440" y="31958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 and answer no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206240" y="31958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4297680" y="31958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says rejected; nothing is approved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36911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457200" y="36911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143000" y="36911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234440" y="36911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test-data table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206240" y="36911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4297680" y="36911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 8 cases, valid and invalid; all ran against the code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57200" y="41864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457200" y="41864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1143000" y="41864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1234440" y="41864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explanation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4206240" y="41864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 txBox="1"/>
          <p:nvPr/>
        </p:nvSpPr>
        <p:spPr>
          <a:xfrm>
            <a:off x="4297680" y="41864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6 plain-English lines, no jargon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trap: green tests that prove nothing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4008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test file (must be rejected)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178308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77240" y="18745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validate_leave_request(a, b, n):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the model COPIED the function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validate_leave_request(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"2023-05-01", "2023-05-03",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== (True, "")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passes, but tests its own copy!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13716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84632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8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test file (acceptable)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846320" y="178308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983480" y="18745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def, no copy, no import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validate_leave_request(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"2023-06-01", "2023-06-03",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== (True, "")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validate_leave_request(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"2023-06-10", "2023-06-05",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)[0] is False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425196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spot this with no coding knowledge: look for the word def in the tests.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5: the weak-tests check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16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954530" cy="128016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792224"/>
            <a:ext cx="17716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copy of the function with the end-before-start check removed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48890" y="1371600"/>
            <a:ext cx="1954530" cy="128016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64033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264033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640330" y="1792224"/>
            <a:ext cx="17716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generated tests against the broken copy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40580" y="1371600"/>
            <a:ext cx="1954530" cy="128016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73202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473202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32020" y="1792224"/>
            <a:ext cx="17716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 test fail?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32270" y="1371600"/>
            <a:ext cx="1954530" cy="128016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682371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682371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23710" y="1792224"/>
            <a:ext cx="17716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= tests protect you. All pass = tests are weak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28346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594360" y="292608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 the generated function and make a copy with the "end date before start date" 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removed. Run the SAME generated tests against that broken copy and show me the output.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delete the broken copy. Do not change the real file.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only if at least one test fails. If every test still passes, REJECT: ask Claude Code to strengthen the tests and repeat the check.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6: break it on purpose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937760" cy="902208"/>
          </a:xfrm>
          <a:prstGeom prst="roundRect">
            <a:avLst>
              <a:gd name="adj" fmla="val 810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371600"/>
            <a:ext cx="4663440" cy="902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Code: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make the tests contain a copy of the function, run it, then restore.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13248" y="1822704"/>
            <a:ext cx="256032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715000" y="1371600"/>
            <a:ext cx="2971800" cy="902208"/>
          </a:xfrm>
          <a:prstGeom prst="roundRect">
            <a:avLst>
              <a:gd name="adj" fmla="val 8108"/>
            </a:avLst>
          </a:prstGeom>
          <a:solidFill>
            <a:srgbClr val="DDF3EF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5852160" y="1371600"/>
            <a:ext cx="2743200" cy="902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when: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rejects those tests; it must not report a pass.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383536"/>
            <a:ext cx="4937760" cy="902208"/>
          </a:xfrm>
          <a:prstGeom prst="roundRect">
            <a:avLst>
              <a:gd name="adj" fmla="val 810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594360" y="2383536"/>
            <a:ext cx="4663440" cy="902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Code: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make the generated code always wrong, run it, then restore.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13248" y="2834640"/>
            <a:ext cx="256032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715000" y="2383536"/>
            <a:ext cx="2971800" cy="902208"/>
          </a:xfrm>
          <a:prstGeom prst="roundRect">
            <a:avLst>
              <a:gd name="adj" fmla="val 8108"/>
            </a:avLst>
          </a:prstGeom>
          <a:solidFill>
            <a:srgbClr val="DDF3EF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852160" y="2383536"/>
            <a:ext cx="2743200" cy="902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when: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3 attempts, then a stop message.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395472"/>
            <a:ext cx="4937760" cy="902208"/>
          </a:xfrm>
          <a:prstGeom prst="roundRect">
            <a:avLst>
              <a:gd name="adj" fmla="val 810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594360" y="3395472"/>
            <a:ext cx="4663440" cy="902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Code: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make the generated code loop forever, run it, then restore.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13248" y="3846576"/>
            <a:ext cx="256032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5715000" y="3395472"/>
            <a:ext cx="2971800" cy="902208"/>
          </a:xfrm>
          <a:prstGeom prst="roundRect">
            <a:avLst>
              <a:gd name="adj" fmla="val 8108"/>
            </a:avLst>
          </a:prstGeom>
          <a:solidFill>
            <a:srgbClr val="DDF3EF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852160" y="3395472"/>
            <a:ext cx="2743200" cy="902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when: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ends by itself with a timeout message after about 15 seconds.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34340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prompt checks one safety rule without reading a line of code.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7: scope checks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 Day-18-SDLC-Agent-2-Design-Code-Test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findstr /i /c:"langchain" /c:"pytest" Day-18-...\my_agent2.py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findstr /c:"subprocess" /c:"timeout" Day-18-...\my_agent2.py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findstr /c:"eval(" /c:"exec(" Day-18-...\my_agent2.py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0" y="137160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596128" y="1371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only my_agent2.py was added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214884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596128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pytest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no output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0" y="292608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596128" y="2926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/ timeout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lines found for both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0" y="370332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596128" y="3703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eval( / exec(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no output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 or reject: the decision rule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19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4023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94360" y="1920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2402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to B6 pass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Weak-tests check: a test failed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break-it tests pass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scope checks pass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32588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663440" y="1325880"/>
            <a:ext cx="4023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1828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BE3E5"/>
          </a:solidFill>
          <a:ln w="12700">
            <a:solidFill>
              <a:srgbClr val="FBE3E5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4800600" y="1920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one of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22402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define the function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pass on the broken copy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break-it test hangs or reports a pass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scope check fails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 messages that work: name the test, quote what you saw, ask for one fix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474720"/>
            <a:ext cx="8229600" cy="310896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94360" y="347472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B3 failed: the tests contain def validate_leave_request. Reject those tests.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8229600" cy="310896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94360" y="384048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broken copy passed all tests, so they are weak. Add an end-before-start test.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4206240"/>
            <a:ext cx="8229600" cy="310896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594360" y="420624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agent hung on the infinite loop. Add a timeout.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2: Hooks and subagents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ask. Hooks enforce. Subagents are specialists with limited powers. The hook takes about 23 minutes, after Agent 2 is running; the subagent is homework.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73736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92608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11480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ask. Hooks enforce.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21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4008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rule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Claude Code reads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most of the time (1 of 3 on one rule in our test)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say no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style and preferences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84632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8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hook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18745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that runs automatically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time, at a fixed moment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block the action with exit code 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what must never be skipped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25196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goal, different strength. Use a hook when skipping is not acceptable.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hook works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22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wants to Edit or Write a file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46304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3200400" y="1463040"/>
            <a:ext cx="23774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hook runs guard.py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the file path as JSON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132588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126480" y="1325880"/>
            <a:ext cx="25603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0: allowed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201168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12648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2: BLOCKED + message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670048" y="1874520"/>
            <a:ext cx="51206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 flipV="1">
            <a:off x="5596128" y="1600200"/>
            <a:ext cx="512064" cy="137160"/>
          </a:xfrm>
          <a:prstGeom prst="line">
            <a:avLst/>
          </a:prstGeom>
          <a:noFill/>
          <a:ln w="22225">
            <a:solidFill>
              <a:srgbClr val="148F8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5596128" y="2011680"/>
            <a:ext cx="512064" cy="274320"/>
          </a:xfrm>
          <a:prstGeom prst="line">
            <a:avLst/>
          </a:prstGeom>
          <a:noFill/>
          <a:ln w="22225">
            <a:solidFill>
              <a:srgbClr val="D6455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457200" y="2880360"/>
            <a:ext cx="4754880" cy="1600200"/>
          </a:xfrm>
          <a:prstGeom prst="roundRect">
            <a:avLst>
              <a:gd name="adj" fmla="val 4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94360" y="297180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"hooks": { "PreToolUse": [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"matcher": "Edit|Write",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"hooks": [ { "type": "command",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"command": "uv run python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.claude/hooks/guard.py" }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] } }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394960" y="288036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577840" y="288036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load when a session starts: restart claude after you add a hook. /hooks lists the hooks that are loaded.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guard you will have Claude Code build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23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BE3E5"/>
          </a:solidFill>
          <a:ln w="12700">
            <a:solidFill>
              <a:srgbClr val="FBE3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7830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edit or write to a file named example.py or chain.py. These are the course's reference answers.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BE3E5"/>
          </a:solidFill>
          <a:ln w="12700">
            <a:solidFill>
              <a:srgbClr val="FBE3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800600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7830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edit or write inside a Day- folder that is not the one named in .claude\active-day.txt.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10896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32004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.claude\active-day.txt     today's folder 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.claude\hooks\guard.py     the script (exit 2 to block)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.claude\settings.json      registers the hook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60720" y="310896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943600" y="310896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allowed, and reading is never blocked.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tests: the guard hook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24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43000" y="1325880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143000" y="1325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325880"/>
            <a:ext cx="448056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206240" y="1325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when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7099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57200" y="17099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43000" y="17099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234440" y="17099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/hooks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06240" y="17099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297680" y="17099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PreToolUse hook for Edit or Write is listed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2052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57200" y="22052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143000" y="22052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234440" y="22052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hook_ok.txt in today's folder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06240" y="22052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297680" y="22052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is created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27005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457200" y="27005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143000" y="27005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234440" y="27005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Code to create a file named example.py in today's folder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06240" y="27005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4297680" y="27005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with the guard's message; no file created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31958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457200" y="31958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143000" y="31958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234440" y="31958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create a file in another day's folder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206240" y="31958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4297680" y="31958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Refused: 'today's folder is Day-18-...'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36911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457200" y="36911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143000" y="36911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234440" y="36911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active-day.txt to Day 17, repeat H4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206240" y="36911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4297680" y="36911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allowed. Change it back afterwards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57200" y="41864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457200" y="41864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1143000" y="41864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1234440" y="41864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read pyproject.toml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4206240" y="41864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 txBox="1"/>
          <p:nvPr/>
        </p:nvSpPr>
        <p:spPr>
          <a:xfrm>
            <a:off x="4297680" y="41864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works: only edits and writes are guarded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Subagents: a specialist with limited tools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937760" cy="310896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agent-reviewer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Read-only reviewer that tries to find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ways an agent file could fail.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 Read, Grep, Glob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sonnet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strict, read-only reviewer. You never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files. Report at most 5 ways the file could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fail, and how to test each without reading code.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with: REVIEWER: DONE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577840" y="137160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715000" y="1508760"/>
            <a:ext cx="457200" cy="45720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8444" y="163220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63640" y="1481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tools it is given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202996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Read, Grep, Glob means it cannot write, even if asked.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577840" y="301752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715000" y="3154680"/>
            <a:ext cx="457200" cy="457200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444" y="327812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3127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in plain words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0" y="367588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'Use the agent-reviewer subagent to review my_agent2.py'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tests: the reviewer subagent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43000" y="1325880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143000" y="1325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325880"/>
            <a:ext cx="448056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206240" y="1325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when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709928"/>
            <a:ext cx="640080" cy="566928"/>
          </a:xfrm>
          <a:prstGeom prst="roundRect">
            <a:avLst>
              <a:gd name="adj" fmla="val 806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57200" y="17099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43000" y="1709928"/>
            <a:ext cx="3017520" cy="566928"/>
          </a:xfrm>
          <a:prstGeom prst="roundRect">
            <a:avLst>
              <a:gd name="adj" fmla="val 806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234440" y="17099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agent file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06240" y="1709928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297680" y="170992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lists only Read, Grep, Glob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322576"/>
            <a:ext cx="640080" cy="566928"/>
          </a:xfrm>
          <a:prstGeom prst="roundRect">
            <a:avLst>
              <a:gd name="adj" fmla="val 806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57200" y="232257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143000" y="2322576"/>
            <a:ext cx="3017520" cy="566928"/>
          </a:xfrm>
          <a:prstGeom prst="roundRect">
            <a:avLst>
              <a:gd name="adj" fmla="val 806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234440" y="232257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review my_agent2.py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06240" y="2322576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297680" y="232257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5 items, each with a way to test it, ending REVIEWER: DONE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2935224"/>
            <a:ext cx="640080" cy="566928"/>
          </a:xfrm>
          <a:prstGeom prst="roundRect">
            <a:avLst>
              <a:gd name="adj" fmla="val 806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457200" y="293522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143000" y="2935224"/>
            <a:ext cx="3017520" cy="566928"/>
          </a:xfrm>
          <a:prstGeom prst="roundRect">
            <a:avLst>
              <a:gd name="adj" fmla="val 806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234440" y="293522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fix the problems it found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06240" y="2935224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4297680" y="293522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does NOT change: it has no edit tool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3547872"/>
            <a:ext cx="640080" cy="566928"/>
          </a:xfrm>
          <a:prstGeom prst="roundRect">
            <a:avLst>
              <a:gd name="adj" fmla="val 806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457200" y="354787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143000" y="3547872"/>
            <a:ext cx="3017520" cy="566928"/>
          </a:xfrm>
          <a:prstGeom prst="roundRect">
            <a:avLst>
              <a:gd name="adj" fmla="val 806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234440" y="354787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one finding into a break-it prompt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206240" y="3547872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4297680" y="354787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a test you did not have before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class: the 100-minute plan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27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10m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and what (introduce)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130552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221992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2221992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221992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10m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1; tick the checklist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803904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895344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3895344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895344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run 15m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2; you run it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77256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5568696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568696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568696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15m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B1, B2, B4, B5, B6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150608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7242048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7242048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242048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tests 12m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code; judge the tests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292608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54864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54864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334670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10m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tests; always-wrong code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130552" y="292608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2221992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2221992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2221992" y="334670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idea 8m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vs hook; the guard prompt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3803904" y="292608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3895344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3895344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3895344" y="334670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tests 15m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to H4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477256" y="292608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5568696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5568696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5568696" y="334670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5m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 with evidence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7150608" y="292608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7242048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 txBox="1"/>
          <p:nvPr/>
        </p:nvSpPr>
        <p:spPr>
          <a:xfrm>
            <a:off x="7242048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242048" y="334670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Subagent, H5 and H6, infinite loop, scope checks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Pitfalls seen in testing, and the assignment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28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BE3E5"/>
          </a:solidFill>
          <a:ln w="12700">
            <a:solidFill>
              <a:srgbClr val="FBE3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78308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that redefine the function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 error text breaks tests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fences cause SyntaxError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run in your own process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weak-tests check because the run is green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800600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practice after class (about 45 min)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78308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 to move 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Subagent A3, A4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Hook tests H5, H6, H7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Break-it: code that loops forever must time 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Finish the acceptance sheets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Assignment: have Claude Code change the spec to another small function, rebuild and retest. Submit the sheet and one weak test with the test you asked for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18 in one slide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2304F"/>
          </a:solidFill>
          <a:ln w="1905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looks right even when wrong. Green tests mean nothing until they can fail.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2304F"/>
          </a:solidFill>
          <a:ln w="1905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347472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745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turns a story into tests and code, validated by really running them, with human review.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2304F"/>
          </a:solidFill>
          <a:ln w="19050">
            <a:solidFill>
              <a:srgbClr val="8FA6D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21792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745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review, acceptance tests, the weak-tests check, break-it prompts, scope checks, decision.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Day 19 - Agent 3 and the agent chain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0000"/>
            <a:ext cx="82296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mbria"/>
              </a:rPr>
              <a:t>CLAUDE.md vs Rules vs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0000"/>
            <a:ext cx="8229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Calibri"/>
              </a:rPr>
              <a:t>Three ways to give Claude Code instructions. All three are guidance; only hooks enforce.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00000"/>
          <a:ext cx="8229600" cy="3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000"/>
                <a:gridCol w="2300000"/>
                <a:gridCol w="2450000"/>
                <a:gridCol w="2329600"/>
              </a:tblGrid>
              <a:tr h="4625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30000" marB="30000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CLAUDE.md</a:t>
                      </a:r>
                    </a:p>
                  </a:txBody>
                  <a:tcPr marT="30000" marB="30000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Rules</a:t>
                      </a:r>
                    </a:p>
                  </a:txBody>
                  <a:tcPr marT="30000" marB="30000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Skills</a:t>
                      </a:r>
                    </a:p>
                  </a:txBody>
                  <a:tcPr marT="30000" marB="30000">
                    <a:solidFill>
                      <a:srgbClr val="1D4ED8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T="30000" marB="30000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One project instruction file</a:t>
                      </a:r>
                    </a:p>
                  </a:txBody>
                  <a:tcPr marT="30000" marB="30000">
                    <a:solidFill>
                      <a:srgbClr val="E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Small markdown files, one topic each</a:t>
                      </a:r>
                    </a:p>
                  </a:txBody>
                  <a:tcPr marT="30000" marB="30000">
                    <a:solidFill>
                      <a:srgbClr val="FDE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Reusable procedure with steps</a:t>
                      </a:r>
                    </a:p>
                  </a:txBody>
                  <a:tcPr marT="30000" marB="30000">
                    <a:solidFill>
                      <a:srgbClr val="E3ECFB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T="30000" marB="30000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Project root (CLAUDE.md)</a:t>
                      </a:r>
                    </a:p>
                  </a:txBody>
                  <a:tcPr marT="30000" marB="30000">
                    <a:solidFill>
                      <a:srgbClr val="E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.claude\rules\*.md</a:t>
                      </a:r>
                    </a:p>
                  </a:txBody>
                  <a:tcPr marT="30000" marB="30000">
                    <a:solidFill>
                      <a:srgbClr val="FDE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.claude\skills\&lt;name&gt;\SKILL.md</a:t>
                      </a:r>
                    </a:p>
                  </a:txBody>
                  <a:tcPr marT="30000" marB="30000">
                    <a:solidFill>
                      <a:srgbClr val="E3ECFB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When it loads</a:t>
                      </a:r>
                    </a:p>
                  </a:txBody>
                  <a:tcPr marT="30000" marB="30000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Every session, always</a:t>
                      </a:r>
                    </a:p>
                  </a:txBody>
                  <a:tcPr marT="30000" marB="30000">
                    <a:solidFill>
                      <a:srgbClr val="E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Always, or only when matching files are used (paths: header)</a:t>
                      </a:r>
                    </a:p>
                  </a:txBody>
                  <a:tcPr marT="30000" marB="30000">
                    <a:solidFill>
                      <a:srgbClr val="FDE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On demand, when you or Claude call it</a:t>
                      </a:r>
                    </a:p>
                  </a:txBody>
                  <a:tcPr marT="30000" marB="30000">
                    <a:solidFill>
                      <a:srgbClr val="E3ECFB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How you use it</a:t>
                      </a:r>
                    </a:p>
                  </a:txBody>
                  <a:tcPr marT="30000" marB="30000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Automatic, nothing to type</a:t>
                      </a:r>
                    </a:p>
                  </a:txBody>
                  <a:tcPr marT="30000" marB="30000">
                    <a:solidFill>
                      <a:srgbClr val="E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Automatic, nothing to type</a:t>
                      </a:r>
                    </a:p>
                  </a:txBody>
                  <a:tcPr marT="30000" marB="30000">
                    <a:solidFill>
                      <a:srgbClr val="FDE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Type /name (+ $ARGUMENTS)</a:t>
                      </a:r>
                    </a:p>
                  </a:txBody>
                  <a:tcPr marT="30000" marB="30000">
                    <a:solidFill>
                      <a:srgbClr val="E3ECFB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marT="30000" marB="30000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Project overview, commands, global conventions</a:t>
                      </a:r>
                    </a:p>
                  </a:txBody>
                  <a:tcPr marT="30000" marB="30000">
                    <a:solidFill>
                      <a:srgbClr val="E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Folder/file-specific standards (e.g. every agent file starts with # AGENT FILE)</a:t>
                      </a:r>
                    </a:p>
                  </a:txBody>
                  <a:tcPr marT="30000" marB="30000">
                    <a:solidFill>
                      <a:srgbClr val="FDE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Repeatable tasks (e.g. /accept-check on an agent file)</a:t>
                      </a:r>
                    </a:p>
                  </a:txBody>
                  <a:tcPr marT="30000" marB="30000">
                    <a:solidFill>
                      <a:srgbClr val="E3ECFB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Context cost</a:t>
                      </a:r>
                    </a:p>
                  </a:txBody>
                  <a:tcPr marT="30000" marB="30000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Always in context, so keep it short</a:t>
                      </a:r>
                    </a:p>
                  </a:txBody>
                  <a:tcPr marT="30000" marB="30000">
                    <a:solidFill>
                      <a:srgbClr val="E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Scoped rules cost nothing until needed</a:t>
                      </a:r>
                    </a:p>
                  </a:txBody>
                  <a:tcPr marT="30000" marB="30000">
                    <a:solidFill>
                      <a:srgbClr val="FDE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Only paid when invoked</a:t>
                      </a:r>
                    </a:p>
                  </a:txBody>
                  <a:tcPr marT="30000" marB="30000">
                    <a:solidFill>
                      <a:srgbClr val="E3ECFB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Enforced?</a:t>
                      </a:r>
                    </a:p>
                  </a:txBody>
                  <a:tcPr marT="30000" marB="30000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No, guidance</a:t>
                      </a:r>
                    </a:p>
                  </a:txBody>
                  <a:tcPr marT="30000" marB="30000">
                    <a:solidFill>
                      <a:srgbClr val="E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No, guidance</a:t>
                      </a:r>
                    </a:p>
                  </a:txBody>
                  <a:tcPr marT="30000" marB="30000">
                    <a:solidFill>
                      <a:srgbClr val="FDE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No, but it is a fixed checklist</a:t>
                      </a:r>
                    </a:p>
                  </a:txBody>
                  <a:tcPr marT="30000" marB="30000">
                    <a:solidFill>
                      <a:srgbClr val="E3EC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80000"/>
            <a:ext cx="8229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Rule of thumb: CLAUDE.md = what the project is · Rules = how files must look · Skills = a job you run on demand. Need a guarantee? Use a hook.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18 - SDLC Agent 2: Design to Code to Test</dc:title>
  <dc:subject>PptxGenJS Presentation</dc:subject>
  <dc:creator>L2 AI Agent Engineering</dc:creator>
  <cp:lastModifiedBy>L2 AI Agent Engineering</cp:lastModifiedBy>
  <cp:revision>1</cp:revision>
  <dcterms:created xsi:type="dcterms:W3CDTF">2026-10-04T16:53:04Z</dcterms:created>
  <dcterms:modified xsi:type="dcterms:W3CDTF">2026-10-04T16:53:04Z</dcterms:modified>
</cp:coreProperties>
</file>