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18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builds a small, clearly labelled context block before calling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any row to jump straight to that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builds a small, clearly labelled context block before calling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builds a small, clearly labelled context block before calling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builds a small, clearly labelled context block before calling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builds a small, clearly labelled context block before calling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builds a small, clearly labelled context block before calling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builds a small, clearly labelled context block before calling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builds a small, clearly labelled context block before calling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builds a small, clearly labelled context block before calling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builds a small, clearly labelled context block before calling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hyperlink" Target="../Day-11-Agentic-Patterns/slides.pptx" TargetMode="External"/><Relationship Id="rId2" Type="http://schemas.openxmlformats.org/officeDocument/2006/relationships/slide" Target="slide2.xml"/><Relationship Id="rId3" Type="http://schemas.openxmlformats.org/officeDocument/2006/relationships/hyperlink" Target="../Day-13-Harness-Loop-Engineering/slides.pptx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4.xml"/><Relationship Id="rId3" Type="http://schemas.openxmlformats.org/officeDocument/2006/relationships/slide" Target="slide7.xml"/><Relationship Id="rId4" Type="http://schemas.openxmlformats.org/officeDocument/2006/relationships/slide" Target="slide8.xml"/><Relationship Id="rId5" Type="http://schemas.openxmlformats.org/officeDocument/2006/relationships/slide" Target="slide10.xml"/><Relationship Id="rId6" Type="http://schemas.openxmlformats.org/officeDocument/2006/relationships/slide" Target="slide11.xml"/><Relationship Id="rId7" Type="http://schemas.openxmlformats.org/officeDocument/2006/relationships/slide" Target="slide12.xm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hyperlink" Target="example.p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hyperlink" Target="example.p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hyperlink" Target="README.md" TargetMode="External"/><Relationship Id="rId2" Type="http://schemas.openxmlformats.org/officeDocument/2006/relationships/slide" Target="slide2.xml"/><Relationship Id="rId3" Type="http://schemas.openxmlformats.org/officeDocument/2006/relationships/hyperlink" Target="../Day-13-Harness-Loop-Engineering/slides.pptx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692640" y="685800"/>
            <a:ext cx="1188720" cy="41148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685800"/>
            <a:ext cx="548640" cy="105156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1097280"/>
            <a:ext cx="685800" cy="123444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0378440" y="1737360"/>
            <a:ext cx="1051560" cy="59436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78440" y="2331720"/>
            <a:ext cx="914400" cy="54864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11292840" y="1737360"/>
            <a:ext cx="137160" cy="114300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713232"/>
            <a:ext cx="768096" cy="768096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9" name="Shape 7"/>
          <p:cNvSpPr/>
          <p:nvPr/>
        </p:nvSpPr>
        <p:spPr>
          <a:xfrm>
            <a:off x="10625328" y="429768"/>
            <a:ext cx="512064" cy="512064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10" name="Shape 8"/>
          <p:cNvSpPr/>
          <p:nvPr/>
        </p:nvSpPr>
        <p:spPr>
          <a:xfrm>
            <a:off x="11009376" y="1316736"/>
            <a:ext cx="841248" cy="841248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11" name="Shape 9"/>
          <p:cNvSpPr/>
          <p:nvPr/>
        </p:nvSpPr>
        <p:spPr>
          <a:xfrm>
            <a:off x="10076688" y="2029968"/>
            <a:ext cx="603504" cy="603504"/>
          </a:xfrm>
          <a:prstGeom prst="ellipse">
            <a:avLst/>
          </a:prstGeom>
          <a:solidFill>
            <a:srgbClr val="57646F"/>
          </a:solidFill>
          <a:ln/>
        </p:spPr>
      </p:sp>
      <p:sp>
        <p:nvSpPr>
          <p:cNvPr id="12" name="Shape 10"/>
          <p:cNvSpPr/>
          <p:nvPr/>
        </p:nvSpPr>
        <p:spPr>
          <a:xfrm>
            <a:off x="11055096" y="2642616"/>
            <a:ext cx="475488" cy="475488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ENGINEER IT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260604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Engineering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4348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9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answer is only as good as what the model was actually given.</a:t>
            </a:r>
            <a:endParaRPr lang="en-US" sz="1500" dirty="0"/>
          </a:p>
        </p:txBody>
      </p:sp>
      <p:sp>
        <p:nvSpPr>
          <p:cNvPr id="17" name="Text 15">
            <a:hlinkClick r:id="rId1" tooltip=""/>
          </p:cNvPr>
          <p:cNvSpPr txBox="1"/>
          <p:nvPr/>
        </p:nvSpPr>
        <p:spPr>
          <a:xfrm>
            <a:off x="640080" y="5989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 Day 11</a:t>
            </a:r>
            <a:endParaRPr lang="en-US" sz="1100" dirty="0"/>
          </a:p>
        </p:txBody>
      </p:sp>
      <p:sp>
        <p:nvSpPr>
          <p:cNvPr id="18" name="Text 16">
            <a:hlinkClick r:id="rId2" tooltip="" action="ppaction://hlinksldjump"/>
          </p:cNvPr>
          <p:cNvSpPr txBox="1"/>
          <p:nvPr/>
        </p:nvSpPr>
        <p:spPr>
          <a:xfrm>
            <a:off x="5029200" y="5989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↓  agenda</a:t>
            </a:r>
            <a:endParaRPr lang="en-US" sz="1100" dirty="0"/>
          </a:p>
        </p:txBody>
      </p:sp>
      <p:sp>
        <p:nvSpPr>
          <p:cNvPr id="19" name="Text 17">
            <a:hlinkClick r:id="rId3" tooltip=""/>
          </p:cNvPr>
          <p:cNvSpPr txBox="1"/>
          <p:nvPr/>
        </p:nvSpPr>
        <p:spPr>
          <a:xfrm>
            <a:off x="7680960" y="5989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u="sng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Day 13  →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Day-12-Context-Engineering\example.py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What's Inside Today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7830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>
            <a:hlinkClick r:id="rId1" tooltip="" action="ppaction://hlinksldjump"/>
          </p:cNvPr>
          <p:cNvSpPr txBox="1"/>
          <p:nvPr/>
        </p:nvSpPr>
        <p:spPr>
          <a:xfrm>
            <a:off x="1417320" y="17830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This Matters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82512" y="17830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>
            <a:hlinkClick r:id="rId2" tooltip="" action="ppaction://hlinksldjump"/>
          </p:cNvPr>
          <p:cNvSpPr txBox="1"/>
          <p:nvPr/>
        </p:nvSpPr>
        <p:spPr>
          <a:xfrm>
            <a:off x="6995160" y="17830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Key Concepts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26517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>
            <a:hlinkClick r:id="rId3" tooltip="" action="ppaction://hlinksldjump"/>
          </p:cNvPr>
          <p:cNvSpPr txBox="1"/>
          <p:nvPr/>
        </p:nvSpPr>
        <p:spPr>
          <a:xfrm>
            <a:off x="1417320" y="26517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It's Built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265176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82512" y="26517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>
            <a:hlinkClick r:id="rId4" tooltip="" action="ppaction://hlinksldjump"/>
          </p:cNvPr>
          <p:cNvSpPr txBox="1"/>
          <p:nvPr/>
        </p:nvSpPr>
        <p:spPr>
          <a:xfrm>
            <a:off x="6995160" y="26517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Code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35204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>
            <a:hlinkClick r:id="rId5" tooltip="" action="ppaction://hlinksldjump"/>
          </p:cNvPr>
          <p:cNvSpPr txBox="1"/>
          <p:nvPr/>
        </p:nvSpPr>
        <p:spPr>
          <a:xfrm>
            <a:off x="1417320" y="35204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Hands-On Lab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17920" y="352044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82512" y="35204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600" dirty="0"/>
          </a:p>
        </p:txBody>
      </p:sp>
      <p:sp>
        <p:nvSpPr>
          <p:cNvPr id="21" name="Text 19">
            <a:hlinkClick r:id="rId6" tooltip="" action="ppaction://hlinksldjump"/>
          </p:cNvPr>
          <p:cNvSpPr txBox="1"/>
          <p:nvPr/>
        </p:nvSpPr>
        <p:spPr>
          <a:xfrm>
            <a:off x="6995160" y="35204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Assignment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438912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4672" y="438912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600" dirty="0"/>
          </a:p>
        </p:txBody>
      </p:sp>
      <p:sp>
        <p:nvSpPr>
          <p:cNvPr id="24" name="Text 22">
            <a:hlinkClick r:id="rId7" tooltip="" action="ppaction://hlinksldjump"/>
          </p:cNvPr>
          <p:cNvSpPr txBox="1"/>
          <p:nvPr/>
        </p:nvSpPr>
        <p:spPr>
          <a:xfrm>
            <a:off x="1417320" y="43891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Wrap-Up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12  ·  CONTEXT ENGINEERING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3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This Matters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1042416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7DC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88720" y="1691640"/>
            <a:ext cx="9692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facts cause a model to guess; too much irrelevant text can bury the facts that matter — true no matter how capable the model is. Today you practice deciding, on purpose, what goes into a model call: the current question, useful state, relevant history, retrieved evidence, and tool results, each one labelled.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12  ·  CONTEXT ENGINEERING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Concepts  ·  Part 1 of 3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35608"/>
            <a:ext cx="457200" cy="457200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five context types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09928"/>
            <a:ext cx="996696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(the current question), state (execution facts your app already knows), memory (relevant earlier messages your app must resend), RAG (source-labelled retrieved passages), and tool (results of an action taken, secrets stripped).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762756"/>
            <a:ext cx="10515600" cy="914"/>
          </a:xfrm>
          <a:prstGeom prst="line">
            <a:avLst/>
          </a:prstGeom>
          <a:noFill/>
          <a:ln w="12700">
            <a:solidFill>
              <a:srgbClr val="D7DC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92734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9273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8176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Provenance labels and priority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4201668"/>
            <a:ext cx="996696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Labelling each section (TASK, TOOL, RAG, MEMORY) supports later citation checks. Task comes first; current tool output takes priority over related RAG or memory content.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12  ·  CONTEXT ENGINEERING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Concepts  ·  Part 2 of 3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3560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Selecting what's relevant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09928"/>
            <a:ext cx="996696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transparent rules decide what qualifies — RAG text only when words meaningfully overlap the question, memory only when the message shows signs of depending on an earlier one. Explainable, but with real limits like missed synonyms.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762756"/>
            <a:ext cx="10515600" cy="914"/>
          </a:xfrm>
          <a:prstGeom prst="line">
            <a:avLst/>
          </a:prstGeom>
          <a:noFill/>
          <a:ln w="12700">
            <a:solidFill>
              <a:srgbClr val="D7DC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92734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9273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8176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character budget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4201668"/>
            <a:ext cx="996696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 max_chars limit keeps calls bounded and predictable, but truncation carries risk — it can remove a qualifier or source detail right when you need it most.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12  ·  CONTEXT ENGINEERING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Concepts  ·  Part 3 of 3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3560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4008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offloading (agent)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09928"/>
            <a:ext cx="996696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large results to external storage instead of the context. The model itself decides FULL or SUMMARY for how much detail the request needs — the same agent pattern as Day 6, now applied to offloading.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762756"/>
            <a:ext cx="10515600" cy="914"/>
          </a:xfrm>
          <a:prstGeom prst="line">
            <a:avLst/>
          </a:prstGeom>
          <a:noFill/>
          <a:ln w="12700">
            <a:solidFill>
              <a:srgbClr val="D7DCD1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40080" y="392734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40080" y="39273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8176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isolation (agent)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4201668"/>
            <a:ext cx="996696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triages which specialist(s) a task needs — NETWORK, ACCOUNT, or BOTH — and LangGraph only runs the branch(es) chosen. Whichever runs still gets its own isolated context and call.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12  ·  CONTEXT ENGINEERING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It's Built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875020" y="1988820"/>
            <a:ext cx="9144" cy="11430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5792724" y="30312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5" name="Shape 3"/>
          <p:cNvSpPr/>
          <p:nvPr/>
        </p:nvSpPr>
        <p:spPr>
          <a:xfrm>
            <a:off x="5875020" y="3131820"/>
            <a:ext cx="9144" cy="11430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5792724" y="41742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7" name="Shape 5"/>
          <p:cNvSpPr/>
          <p:nvPr/>
        </p:nvSpPr>
        <p:spPr>
          <a:xfrm>
            <a:off x="5875020" y="4274820"/>
            <a:ext cx="9144" cy="11430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5792724" y="53172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9" name="Shape 7"/>
          <p:cNvSpPr/>
          <p:nvPr/>
        </p:nvSpPr>
        <p:spPr>
          <a:xfrm>
            <a:off x="5728716" y="1842516"/>
            <a:ext cx="292608" cy="292608"/>
          </a:xfrm>
          <a:prstGeom prst="ellipse">
            <a:avLst/>
          </a:prstGeom>
          <a:solidFill>
            <a:srgbClr val="1A1E2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69180" y="21717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2848356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3E5064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736592" y="284835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build_context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3991356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3E5064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736592" y="399135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ask_model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777740" y="45948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CALL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728716" y="5271516"/>
            <a:ext cx="292608" cy="292608"/>
          </a:xfrm>
          <a:prstGeom prst="ellipse">
            <a:avLst/>
          </a:prstGeom>
          <a:solidFill>
            <a:srgbClr val="1A1E2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69180" y="56007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 fully assembled and labelled before the model is ever called.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12  ·  CONTEXT ENGINEERING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Code  ·  Part 1 of 2</a:t>
            </a:r>
            <a:endParaRPr lang="en-US" sz="20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8595360" y="365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example.py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0881360" cy="5166360"/>
          </a:xfrm>
          <a:prstGeom prst="roundRect">
            <a:avLst>
              <a:gd name="adj" fmla="val 1062"/>
            </a:avLst>
          </a:prstGeom>
          <a:solidFill>
            <a:srgbClr val="1E232A"/>
          </a:solidFill>
          <a:ln w="12700">
            <a:solidFill>
              <a:srgbClr val="2E3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078992"/>
            <a:ext cx="104241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"""Session 12: build a small, clearly labelled model context."""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import sys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import ollama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from langgraph.graph import END, START, StateGraph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sys.stdout.reconfigure(encoding="utf-8")  # the model may answer with punctuation Command Prompt cannot print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MODEL = "gpt-oss:120b-cloud"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 def build_context(state):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     context = f"USER: {state['user']}\nFACT: {state['fact']}"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     return {"context": context}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 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12  ·  CONTEXT ENGINEERING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Code  ·  Part 2 of 2</a:t>
            </a:r>
            <a:endParaRPr lang="en-US" sz="20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8595360" y="365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example.py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0881360" cy="5166360"/>
          </a:xfrm>
          <a:prstGeom prst="roundRect">
            <a:avLst>
              <a:gd name="adj" fmla="val 1062"/>
            </a:avLst>
          </a:prstGeom>
          <a:solidFill>
            <a:srgbClr val="1E232A"/>
          </a:solidFill>
          <a:ln w="12700">
            <a:solidFill>
              <a:srgbClr val="2E3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078992"/>
            <a:ext cx="104241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 def ask_model(state):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     response = ollama.chat(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         model=MODEL,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         messages=[{"role": "user", "content": state["context"]}],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23      )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     return {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         "context": state["context"],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         "answer": response["message"]["content"],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     }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 graph_builder = StateGraph(dict)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 graph_builder.add_node("build_context", build_context)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 graph_builder.add_node("ask_model", ask_model)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  graph_builder.add_edge(START, "build_context")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  graph_builder.add_edge("build_context", "ask_model")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  graph_builder.add_edge("ask_model", END)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  graph = graph_builder.compile()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  result = graph.invoke({"user": "How do I reset my password?", "fact": "Use /reset."})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  print("Context sent to the model:\n", result["context"])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 print("\nAnswer:\n", result["answer"])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1539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Model-backed — needs Ollama running locally.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12  ·  CONTEXT ENGINEERING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Hands-On Lab  ·  ~30 min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6400800" cy="5394960"/>
          </a:xfrm>
          <a:prstGeom prst="roundRect">
            <a:avLst>
              <a:gd name="adj" fmla="val 1017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1887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to draw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5087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-&gt; build_context -&gt; ask_model -&gt; END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48840"/>
            <a:ext cx="59436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example.py and find each node.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edges from START to END.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fact value and inspect the exact context sent.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269480" y="1051560"/>
            <a:ext cx="4251960" cy="5394960"/>
          </a:xfrm>
          <a:prstGeom prst="roundRect">
            <a:avLst>
              <a:gd name="adj" fmla="val 1290"/>
            </a:avLst>
          </a:prstGeom>
          <a:solidFill>
            <a:srgbClr val="14171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 QUESTION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160020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controls which context reaches the model — nothing else decides this.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498080" y="3657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IT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40233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Day-12-Context-Engineering\example.py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489204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A9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Ollama running locally with gpt-oss:120b-cloud available.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12  ·  CONTEXT ENGINEERING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Assignment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one small change to example.py and explain how the result changes.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400800" cy="4846320"/>
          </a:xfrm>
          <a:prstGeom prst="roundRect">
            <a:avLst>
              <a:gd name="adj" fmla="val 1132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59436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sample input near the bottom of example.py.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current output without running the file.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example from the repository root.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only one input value or short sentence.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new route or output, then run again to confirm.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three sentences: what changed, what happened, why.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269480" y="1600200"/>
            <a:ext cx="4251960" cy="4846320"/>
          </a:xfrm>
          <a:prstGeom prst="roundRect">
            <a:avLst>
              <a:gd name="adj" fmla="val 1290"/>
            </a:avLst>
          </a:prstGeom>
          <a:solidFill>
            <a:srgbClr val="3E506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0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2148840"/>
            <a:ext cx="3886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example in one Python file.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LangGraph directly.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 folder or helper package.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uv commands shown — no other package manager.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MODEL = "gpt-oss:120b-cloud" unchanged.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12  ·  CONTEXT ENGINEERING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You Move 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80160"/>
            <a:ext cx="7498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runs without errors (Ollama available).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name the state, nodes, and edges.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say exactly what context was sent to the model.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made one small change, prediction first.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503920" y="1280160"/>
            <a:ext cx="3017520" cy="4572000"/>
          </a:xfrm>
          <a:prstGeom prst="roundRect">
            <a:avLst>
              <a:gd name="adj" fmla="val 1818"/>
            </a:avLst>
          </a:prstGeom>
          <a:solidFill>
            <a:srgbClr val="1E232A"/>
          </a:solidFill>
          <a:ln w="12700">
            <a:solidFill>
              <a:srgbClr val="2E3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32520" y="1463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USEFUL LINKS</a:t>
            </a:r>
            <a:endParaRPr lang="en-US" sz="1000" dirty="0"/>
          </a:p>
        </p:txBody>
      </p:sp>
      <p:sp>
        <p:nvSpPr>
          <p:cNvPr id="6" name="Text 4">
            <a:hlinkClick r:id="rId1" tooltip=""/>
          </p:cNvPr>
          <p:cNvSpPr txBox="1"/>
          <p:nvPr/>
        </p:nvSpPr>
        <p:spPr>
          <a:xfrm>
            <a:off x="8732520" y="1828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Day 12 README</a:t>
            </a:r>
            <a:endParaRPr lang="en-US" sz="1150" dirty="0"/>
          </a:p>
        </p:txBody>
      </p:sp>
      <p:sp>
        <p:nvSpPr>
          <p:cNvPr id="7" name="Text 5">
            <a:hlinkClick r:id="rId2" tooltip="" action="ppaction://hlinksldjump"/>
          </p:cNvPr>
          <p:cNvSpPr txBox="1"/>
          <p:nvPr/>
        </p:nvSpPr>
        <p:spPr>
          <a:xfrm>
            <a:off x="685800" y="6126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agenda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503920" y="5989320"/>
            <a:ext cx="3017520" cy="548640"/>
          </a:xfrm>
          <a:prstGeom prst="roundRect">
            <a:avLst>
              <a:gd name="adj" fmla="val 50000"/>
            </a:avLst>
          </a:prstGeom>
          <a:solidFill>
            <a:srgbClr val="D9932B"/>
          </a:solidFill>
          <a:ln/>
        </p:spPr>
      </p:sp>
      <p:sp>
        <p:nvSpPr>
          <p:cNvPr id="9" name="Text 7">
            <a:hlinkClick r:id="rId3" tooltip=""/>
          </p:cNvPr>
          <p:cNvSpPr txBox="1"/>
          <p:nvPr/>
        </p:nvSpPr>
        <p:spPr>
          <a:xfrm>
            <a:off x="8503920" y="5989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241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Next: Day 13  →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L2 Agent Engineering</dc:creator>
  <cp:lastModifiedBy>L2 Agent Engineering</cp:lastModifiedBy>
  <cp:revision>1</cp:revision>
  <dcterms:created xsi:type="dcterms:W3CDTF">2026-09-07T10:04:29Z</dcterms:created>
  <dcterms:modified xsi:type="dcterms:W3CDTF">2026-09-07T10:04:29Z</dcterms:modified>
</cp:coreProperties>
</file>